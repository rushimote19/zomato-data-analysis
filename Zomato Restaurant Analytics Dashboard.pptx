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4" r:id="rId7"/>
    <p:sldId id="261" r:id="rId8"/>
    <p:sldId id="275" r:id="rId9"/>
    <p:sldId id="276" r:id="rId10"/>
    <p:sldId id="277" r:id="rId11"/>
    <p:sldId id="278" r:id="rId12"/>
    <p:sldId id="262" r:id="rId13"/>
    <p:sldId id="279" r:id="rId14"/>
    <p:sldId id="280" r:id="rId15"/>
    <p:sldId id="281" r:id="rId16"/>
    <p:sldId id="282" r:id="rId17"/>
    <p:sldId id="283" r:id="rId18"/>
    <p:sldId id="284" r:id="rId19"/>
    <p:sldId id="271" r:id="rId20"/>
    <p:sldId id="274" r:id="rId21"/>
  </p:sldIdLst>
  <p:sldSz cx="18288000" cy="10287000"/>
  <p:notesSz cx="6858000" cy="9144000"/>
  <p:embeddedFontLst>
    <p:embeddedFont>
      <p:font typeface="Arial Black" panose="020B0A04020102020204" pitchFamily="34" charset="0"/>
      <p:bold r:id="rId22"/>
    </p:embeddedFont>
    <p:embeddedFont>
      <p:font typeface="Lucida Sans Unicode" panose="020B0602030504020204" pitchFamily="34" charset="0"/>
      <p:regular r:id="rId23"/>
    </p:embeddedFont>
    <p:embeddedFont>
      <p:font typeface="Poppins" panose="00000500000000000000" pitchFamily="2" charset="0"/>
      <p:regular r:id="rId24"/>
      <p:bold r:id="rId25"/>
      <p:italic r:id="rId26"/>
      <p:boldItalic r:id="rId27"/>
    </p:embeddedFont>
    <p:embeddedFont>
      <p:font typeface="Poppins Medium" panose="00000600000000000000" pitchFamily="2" charset="0"/>
      <p:regular r:id="rId28"/>
      <p:italic r:id="rId29"/>
    </p:embeddedFont>
    <p:embeddedFont>
      <p:font typeface="Poppins Semi-Bold" panose="020B0604020202020204" charset="0"/>
      <p:regular r:id="rId30"/>
    </p:embeddedFont>
    <p:embeddedFont>
      <p:font typeface="Trebuchet MS" panose="020B0603020202020204" pitchFamily="34" charset="0"/>
      <p:regular r:id="rId31"/>
      <p:bold r:id="rId32"/>
      <p:italic r:id="rId33"/>
      <p:boldItalic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5" d="100"/>
          <a:sy n="45" d="100"/>
        </p:scale>
        <p:origin x="620" y="1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font" Target="fonts/font1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5.sv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6.svg"/><Relationship Id="rId2" Type="http://schemas.openxmlformats.org/officeDocument/2006/relationships/image" Target="../media/image4.sv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1.svg"/></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6.svg"/><Relationship Id="rId7" Type="http://schemas.openxmlformats.org/officeDocument/2006/relationships/image" Target="../media/image13.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5.svg"/></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5.svg"/></Relationships>
</file>

<file path=ppt/slides/_rels/slide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5.svg"/></Relationships>
</file>

<file path=ppt/slides/_rels/slide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5.svg"/></Relationships>
</file>

<file path=ppt/slides/_rels/slide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5.svg"/></Relationships>
</file>

<file path=ppt/slides/_rels/slide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5.svg"/></Relationships>
</file>

<file path=ppt/slides/_rels/slide1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5.svg"/></Relationships>
</file>

<file path=ppt/slides/_rels/slide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5.svg"/></Relationships>
</file>

<file path=ppt/slides/_rels/slide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5.svg"/></Relationships>
</file>

<file path=ppt/slides/_rels/slide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5.svg"/></Relationships>
</file>

<file path=ppt/slides/_rels/slide19.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18" Type="http://schemas.openxmlformats.org/officeDocument/2006/relationships/image" Target="../media/image45.png"/><Relationship Id="rId26" Type="http://schemas.openxmlformats.org/officeDocument/2006/relationships/image" Target="../media/image53.png"/><Relationship Id="rId3" Type="http://schemas.openxmlformats.org/officeDocument/2006/relationships/image" Target="../media/image30.png"/><Relationship Id="rId21" Type="http://schemas.openxmlformats.org/officeDocument/2006/relationships/image" Target="../media/image48.png"/><Relationship Id="rId7" Type="http://schemas.openxmlformats.org/officeDocument/2006/relationships/image" Target="../media/image34.png"/><Relationship Id="rId12" Type="http://schemas.openxmlformats.org/officeDocument/2006/relationships/image" Target="../media/image39.png"/><Relationship Id="rId17" Type="http://schemas.openxmlformats.org/officeDocument/2006/relationships/image" Target="../media/image44.png"/><Relationship Id="rId25" Type="http://schemas.openxmlformats.org/officeDocument/2006/relationships/image" Target="../media/image52.png"/><Relationship Id="rId2" Type="http://schemas.openxmlformats.org/officeDocument/2006/relationships/image" Target="../media/image29.png"/><Relationship Id="rId16" Type="http://schemas.openxmlformats.org/officeDocument/2006/relationships/image" Target="../media/image43.png"/><Relationship Id="rId20"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38.png"/><Relationship Id="rId24" Type="http://schemas.openxmlformats.org/officeDocument/2006/relationships/image" Target="../media/image51.png"/><Relationship Id="rId5" Type="http://schemas.openxmlformats.org/officeDocument/2006/relationships/image" Target="../media/image32.png"/><Relationship Id="rId15" Type="http://schemas.openxmlformats.org/officeDocument/2006/relationships/image" Target="../media/image42.png"/><Relationship Id="rId23" Type="http://schemas.openxmlformats.org/officeDocument/2006/relationships/image" Target="../media/image50.png"/><Relationship Id="rId10" Type="http://schemas.openxmlformats.org/officeDocument/2006/relationships/image" Target="../media/image37.png"/><Relationship Id="rId19" Type="http://schemas.openxmlformats.org/officeDocument/2006/relationships/image" Target="../media/image46.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41.png"/><Relationship Id="rId22" Type="http://schemas.openxmlformats.org/officeDocument/2006/relationships/image" Target="../media/image49.png"/><Relationship Id="rId27" Type="http://schemas.openxmlformats.org/officeDocument/2006/relationships/image" Target="../media/image54.png"/></Relationships>
</file>

<file path=ppt/slides/_rels/slide20.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56.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5.png"/><Relationship Id="rId5" Type="http://schemas.openxmlformats.org/officeDocument/2006/relationships/image" Target="../media/image6.svg"/><Relationship Id="rId4" Type="http://schemas.openxmlformats.org/officeDocument/2006/relationships/image" Target="../media/image5.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flipH="1">
            <a:off x="10132584" y="27801"/>
            <a:ext cx="10259199" cy="10259199"/>
          </a:xfrm>
          <a:custGeom>
            <a:avLst/>
            <a:gdLst/>
            <a:ahLst/>
            <a:cxnLst/>
            <a:rect l="l" t="t" r="r" b="b"/>
            <a:pathLst>
              <a:path w="10259199" h="10259199">
                <a:moveTo>
                  <a:pt x="10259199" y="0"/>
                </a:moveTo>
                <a:lnTo>
                  <a:pt x="0" y="0"/>
                </a:lnTo>
                <a:lnTo>
                  <a:pt x="0" y="10259199"/>
                </a:lnTo>
                <a:lnTo>
                  <a:pt x="10259199" y="10259199"/>
                </a:lnTo>
                <a:lnTo>
                  <a:pt x="10259199"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flipV="1">
            <a:off x="-2024523" y="0"/>
            <a:ext cx="4854522" cy="4854522"/>
          </a:xfrm>
          <a:custGeom>
            <a:avLst/>
            <a:gdLst/>
            <a:ahLst/>
            <a:cxnLst/>
            <a:rect l="l" t="t" r="r" b="b"/>
            <a:pathLst>
              <a:path w="4854522" h="4854522">
                <a:moveTo>
                  <a:pt x="0" y="4854522"/>
                </a:moveTo>
                <a:lnTo>
                  <a:pt x="4854522" y="4854522"/>
                </a:lnTo>
                <a:lnTo>
                  <a:pt x="4854522" y="0"/>
                </a:lnTo>
                <a:lnTo>
                  <a:pt x="0" y="0"/>
                </a:lnTo>
                <a:lnTo>
                  <a:pt x="0" y="485452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4" name="Group 4"/>
          <p:cNvGrpSpPr/>
          <p:nvPr/>
        </p:nvGrpSpPr>
        <p:grpSpPr>
          <a:xfrm>
            <a:off x="10167626" y="1690137"/>
            <a:ext cx="8036918" cy="6906726"/>
            <a:chOff x="0" y="0"/>
            <a:chExt cx="812800" cy="698500"/>
          </a:xfrm>
        </p:grpSpPr>
        <p:sp>
          <p:nvSpPr>
            <p:cNvPr id="5" name="Freeform 5"/>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100302"/>
            </a:solidFill>
          </p:spPr>
          <p:txBody>
            <a:bodyPr/>
            <a:lstStyle/>
            <a:p>
              <a:endParaRPr lang="en-IN"/>
            </a:p>
          </p:txBody>
        </p:sp>
        <p:sp>
          <p:nvSpPr>
            <p:cNvPr id="6" name="TextBox 6"/>
            <p:cNvSpPr txBox="1"/>
            <p:nvPr/>
          </p:nvSpPr>
          <p:spPr>
            <a:xfrm>
              <a:off x="114300" y="-66675"/>
              <a:ext cx="584200" cy="765175"/>
            </a:xfrm>
            <a:prstGeom prst="rect">
              <a:avLst/>
            </a:prstGeom>
          </p:spPr>
          <p:txBody>
            <a:bodyPr lIns="50800" tIns="50800" rIns="50800" bIns="50800" rtlCol="0" anchor="ctr"/>
            <a:lstStyle/>
            <a:p>
              <a:pPr marL="0" lvl="0" indent="0" algn="ctr">
                <a:lnSpc>
                  <a:spcPts val="2800"/>
                </a:lnSpc>
              </a:pPr>
              <a:endParaRPr/>
            </a:p>
          </p:txBody>
        </p:sp>
      </p:grpSp>
      <p:grpSp>
        <p:nvGrpSpPr>
          <p:cNvPr id="7" name="Group 7"/>
          <p:cNvGrpSpPr/>
          <p:nvPr/>
        </p:nvGrpSpPr>
        <p:grpSpPr>
          <a:xfrm>
            <a:off x="10556001" y="2023897"/>
            <a:ext cx="7260167" cy="6239206"/>
            <a:chOff x="0" y="0"/>
            <a:chExt cx="812800" cy="698500"/>
          </a:xfrm>
        </p:grpSpPr>
        <p:sp>
          <p:nvSpPr>
            <p:cNvPr id="8" name="Freeform 8"/>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3"/>
              <a:stretch>
                <a:fillRect l="-36" r="-36"/>
              </a:stretch>
            </a:blipFill>
            <a:ln w="209550" cap="sq">
              <a:solidFill>
                <a:srgbClr val="C02519"/>
              </a:solidFill>
              <a:prstDash val="solid"/>
              <a:miter/>
            </a:ln>
          </p:spPr>
          <p:txBody>
            <a:bodyPr/>
            <a:lstStyle/>
            <a:p>
              <a:endParaRPr lang="en-IN"/>
            </a:p>
          </p:txBody>
        </p:sp>
      </p:grpSp>
      <p:grpSp>
        <p:nvGrpSpPr>
          <p:cNvPr id="9" name="Group 9"/>
          <p:cNvGrpSpPr/>
          <p:nvPr/>
        </p:nvGrpSpPr>
        <p:grpSpPr>
          <a:xfrm>
            <a:off x="9663660" y="5639164"/>
            <a:ext cx="4723492" cy="4059251"/>
            <a:chOff x="0" y="0"/>
            <a:chExt cx="812800" cy="698500"/>
          </a:xfrm>
        </p:grpSpPr>
        <p:sp>
          <p:nvSpPr>
            <p:cNvPr id="10" name="Freeform 10"/>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4"/>
              <a:stretch>
                <a:fillRect l="-36" r="-36"/>
              </a:stretch>
            </a:blipFill>
            <a:ln w="209550" cap="sq">
              <a:solidFill>
                <a:srgbClr val="000000"/>
              </a:solidFill>
              <a:prstDash val="solid"/>
              <a:miter/>
            </a:ln>
          </p:spPr>
          <p:txBody>
            <a:bodyPr/>
            <a:lstStyle/>
            <a:p>
              <a:endParaRPr lang="en-IN"/>
            </a:p>
          </p:txBody>
        </p:sp>
      </p:grpSp>
      <p:sp>
        <p:nvSpPr>
          <p:cNvPr id="11" name="Freeform 11"/>
          <p:cNvSpPr/>
          <p:nvPr/>
        </p:nvSpPr>
        <p:spPr>
          <a:xfrm flipH="1" flipV="1">
            <a:off x="12436502" y="-2046699"/>
            <a:ext cx="5928391" cy="6605567"/>
          </a:xfrm>
          <a:custGeom>
            <a:avLst/>
            <a:gdLst/>
            <a:ahLst/>
            <a:cxnLst/>
            <a:rect l="l" t="t" r="r" b="b"/>
            <a:pathLst>
              <a:path w="5928391" h="6605567">
                <a:moveTo>
                  <a:pt x="5928390" y="6605566"/>
                </a:moveTo>
                <a:lnTo>
                  <a:pt x="0" y="6605566"/>
                </a:lnTo>
                <a:lnTo>
                  <a:pt x="0" y="0"/>
                </a:lnTo>
                <a:lnTo>
                  <a:pt x="5928390" y="0"/>
                </a:lnTo>
                <a:lnTo>
                  <a:pt x="5928390" y="6605566"/>
                </a:lnTo>
                <a:close/>
              </a:path>
            </a:pathLst>
          </a:custGeom>
          <a:blipFill>
            <a:blip>
              <a:extLst>
                <a:ext uri="{96DAC541-7B7A-43D3-8B79-37D633B846F1}">
                  <asvg:svgBlip xmlns:asvg="http://schemas.microsoft.com/office/drawing/2016/SVG/main" r:embed="rId2"/>
                </a:ext>
              </a:extLst>
            </a:blip>
            <a:stretch>
              <a:fillRect t="-55311" r="-73052"/>
            </a:stretch>
          </a:blipFill>
        </p:spPr>
        <p:txBody>
          <a:bodyPr/>
          <a:lstStyle/>
          <a:p>
            <a:endParaRPr lang="en-IN"/>
          </a:p>
        </p:txBody>
      </p:sp>
      <p:sp>
        <p:nvSpPr>
          <p:cNvPr id="12" name="Freeform 12"/>
          <p:cNvSpPr/>
          <p:nvPr/>
        </p:nvSpPr>
        <p:spPr>
          <a:xfrm>
            <a:off x="1557173" y="1066982"/>
            <a:ext cx="622416" cy="734611"/>
          </a:xfrm>
          <a:custGeom>
            <a:avLst/>
            <a:gdLst/>
            <a:ahLst/>
            <a:cxnLst/>
            <a:rect l="l" t="t" r="r" b="b"/>
            <a:pathLst>
              <a:path w="622416" h="734611">
                <a:moveTo>
                  <a:pt x="0" y="0"/>
                </a:moveTo>
                <a:lnTo>
                  <a:pt x="622416" y="0"/>
                </a:lnTo>
                <a:lnTo>
                  <a:pt x="622416" y="734611"/>
                </a:lnTo>
                <a:lnTo>
                  <a:pt x="0" y="73461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3" name="Freeform 13"/>
          <p:cNvSpPr/>
          <p:nvPr/>
        </p:nvSpPr>
        <p:spPr>
          <a:xfrm>
            <a:off x="9663660" y="1028700"/>
            <a:ext cx="1977168" cy="1545786"/>
          </a:xfrm>
          <a:custGeom>
            <a:avLst/>
            <a:gdLst/>
            <a:ahLst/>
            <a:cxnLst/>
            <a:rect l="l" t="t" r="r" b="b"/>
            <a:pathLst>
              <a:path w="1977168" h="1545786">
                <a:moveTo>
                  <a:pt x="0" y="0"/>
                </a:moveTo>
                <a:lnTo>
                  <a:pt x="1977168" y="0"/>
                </a:lnTo>
                <a:lnTo>
                  <a:pt x="1977168" y="1545786"/>
                </a:lnTo>
                <a:lnTo>
                  <a:pt x="0" y="1545786"/>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p>
        </p:txBody>
      </p:sp>
      <p:sp>
        <p:nvSpPr>
          <p:cNvPr id="14" name="Freeform 14"/>
          <p:cNvSpPr/>
          <p:nvPr/>
        </p:nvSpPr>
        <p:spPr>
          <a:xfrm>
            <a:off x="556229" y="9698415"/>
            <a:ext cx="2001886" cy="243866"/>
          </a:xfrm>
          <a:custGeom>
            <a:avLst/>
            <a:gdLst/>
            <a:ahLst/>
            <a:cxnLst/>
            <a:rect l="l" t="t" r="r" b="b"/>
            <a:pathLst>
              <a:path w="2001886" h="243866">
                <a:moveTo>
                  <a:pt x="0" y="0"/>
                </a:moveTo>
                <a:lnTo>
                  <a:pt x="2001887" y="0"/>
                </a:lnTo>
                <a:lnTo>
                  <a:pt x="2001887" y="243866"/>
                </a:lnTo>
                <a:lnTo>
                  <a:pt x="0" y="243866"/>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IN"/>
          </a:p>
        </p:txBody>
      </p:sp>
      <p:sp>
        <p:nvSpPr>
          <p:cNvPr id="15" name="TextBox 15"/>
          <p:cNvSpPr txBox="1"/>
          <p:nvPr/>
        </p:nvSpPr>
        <p:spPr>
          <a:xfrm>
            <a:off x="1557173" y="2942812"/>
            <a:ext cx="7754548" cy="3065667"/>
          </a:xfrm>
          <a:prstGeom prst="rect">
            <a:avLst/>
          </a:prstGeom>
        </p:spPr>
        <p:txBody>
          <a:bodyPr lIns="0" tIns="0" rIns="0" bIns="0" rtlCol="0" anchor="t">
            <a:spAutoFit/>
          </a:bodyPr>
          <a:lstStyle/>
          <a:p>
            <a:pPr marL="0" lvl="0" indent="0" algn="l">
              <a:lnSpc>
                <a:spcPts val="5817"/>
              </a:lnSpc>
            </a:pPr>
            <a:r>
              <a:rPr lang="en-US" sz="6463">
                <a:solidFill>
                  <a:srgbClr val="FFFFFF"/>
                </a:solidFill>
                <a:latin typeface="Poppins"/>
                <a:ea typeface="Poppins"/>
                <a:cs typeface="Poppins"/>
                <a:sym typeface="Poppins"/>
              </a:rPr>
              <a:t>Zomato Restaurant Analytics Dashboard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10800000" flipV="1">
            <a:off x="12876469" y="1265598"/>
            <a:ext cx="9089382" cy="9089382"/>
          </a:xfrm>
          <a:custGeom>
            <a:avLst/>
            <a:gdLst/>
            <a:ahLst/>
            <a:cxnLst/>
            <a:rect l="l" t="t" r="r" b="b"/>
            <a:pathLst>
              <a:path w="9089382" h="9089382">
                <a:moveTo>
                  <a:pt x="0" y="9089383"/>
                </a:moveTo>
                <a:lnTo>
                  <a:pt x="9089382" y="9089383"/>
                </a:lnTo>
                <a:lnTo>
                  <a:pt x="9089382" y="0"/>
                </a:lnTo>
                <a:lnTo>
                  <a:pt x="0" y="0"/>
                </a:lnTo>
                <a:lnTo>
                  <a:pt x="0" y="9089383"/>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rot="-10800000" flipH="1" flipV="1">
            <a:off x="-5577747" y="1084851"/>
            <a:ext cx="9089382" cy="9089382"/>
          </a:xfrm>
          <a:custGeom>
            <a:avLst/>
            <a:gdLst/>
            <a:ahLst/>
            <a:cxnLst/>
            <a:rect l="l" t="t" r="r" b="b"/>
            <a:pathLst>
              <a:path w="9089382" h="9089382">
                <a:moveTo>
                  <a:pt x="9089382" y="9089383"/>
                </a:moveTo>
                <a:lnTo>
                  <a:pt x="0" y="9089383"/>
                </a:lnTo>
                <a:lnTo>
                  <a:pt x="0" y="0"/>
                </a:lnTo>
                <a:lnTo>
                  <a:pt x="9089382" y="0"/>
                </a:lnTo>
                <a:lnTo>
                  <a:pt x="9089382" y="9089383"/>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dirty="0"/>
          </a:p>
        </p:txBody>
      </p:sp>
      <p:sp>
        <p:nvSpPr>
          <p:cNvPr id="4" name="Freeform 4"/>
          <p:cNvSpPr/>
          <p:nvPr/>
        </p:nvSpPr>
        <p:spPr>
          <a:xfrm>
            <a:off x="1662904" y="799624"/>
            <a:ext cx="506110" cy="597340"/>
          </a:xfrm>
          <a:custGeom>
            <a:avLst/>
            <a:gdLst/>
            <a:ahLst/>
            <a:cxnLst/>
            <a:rect l="l" t="t" r="r" b="b"/>
            <a:pathLst>
              <a:path w="506110" h="597340">
                <a:moveTo>
                  <a:pt x="0" y="0"/>
                </a:moveTo>
                <a:lnTo>
                  <a:pt x="506110" y="0"/>
                </a:lnTo>
                <a:lnTo>
                  <a:pt x="506110" y="597341"/>
                </a:lnTo>
                <a:lnTo>
                  <a:pt x="0" y="59734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AutoShape 5"/>
          <p:cNvSpPr/>
          <p:nvPr/>
        </p:nvSpPr>
        <p:spPr>
          <a:xfrm>
            <a:off x="1662904" y="3200299"/>
            <a:ext cx="5736802" cy="0"/>
          </a:xfrm>
          <a:prstGeom prst="line">
            <a:avLst/>
          </a:prstGeom>
          <a:ln w="38100" cap="flat">
            <a:solidFill>
              <a:srgbClr val="C02519"/>
            </a:solidFill>
            <a:prstDash val="solid"/>
            <a:headEnd type="none" w="sm" len="sm"/>
            <a:tailEnd type="none" w="sm" len="sm"/>
          </a:ln>
        </p:spPr>
        <p:txBody>
          <a:bodyPr/>
          <a:lstStyle/>
          <a:p>
            <a:endParaRPr lang="en-IN"/>
          </a:p>
        </p:txBody>
      </p:sp>
      <p:sp>
        <p:nvSpPr>
          <p:cNvPr id="6" name="Freeform 6"/>
          <p:cNvSpPr/>
          <p:nvPr/>
        </p:nvSpPr>
        <p:spPr>
          <a:xfrm rot="-10800000">
            <a:off x="9407617" y="-2634475"/>
            <a:ext cx="9089382" cy="9089382"/>
          </a:xfrm>
          <a:custGeom>
            <a:avLst/>
            <a:gdLst/>
            <a:ahLst/>
            <a:cxnLst/>
            <a:rect l="l" t="t" r="r" b="b"/>
            <a:pathLst>
              <a:path w="9089382" h="9089382">
                <a:moveTo>
                  <a:pt x="0" y="0"/>
                </a:moveTo>
                <a:lnTo>
                  <a:pt x="9089383" y="0"/>
                </a:lnTo>
                <a:lnTo>
                  <a:pt x="9089383" y="9089382"/>
                </a:lnTo>
                <a:lnTo>
                  <a:pt x="0" y="9089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9" name="TextBox 9"/>
          <p:cNvSpPr txBox="1"/>
          <p:nvPr/>
        </p:nvSpPr>
        <p:spPr>
          <a:xfrm>
            <a:off x="2781248" y="4215373"/>
            <a:ext cx="6835061" cy="1343540"/>
          </a:xfrm>
          <a:prstGeom prst="rect">
            <a:avLst/>
          </a:prstGeom>
        </p:spPr>
        <p:txBody>
          <a:bodyPr lIns="50800" tIns="50800" rIns="50800" bIns="50800" rtlCol="0" anchor="ctr"/>
          <a:lstStyle/>
          <a:p>
            <a:pPr marL="0" lvl="0" indent="0" algn="ctr">
              <a:lnSpc>
                <a:spcPts val="2800"/>
              </a:lnSpc>
            </a:pPr>
            <a:endParaRPr/>
          </a:p>
        </p:txBody>
      </p:sp>
      <p:sp>
        <p:nvSpPr>
          <p:cNvPr id="21" name="TextBox 21"/>
          <p:cNvSpPr txBox="1"/>
          <p:nvPr/>
        </p:nvSpPr>
        <p:spPr>
          <a:xfrm>
            <a:off x="1662904" y="1887318"/>
            <a:ext cx="9871179" cy="677097"/>
          </a:xfrm>
          <a:prstGeom prst="rect">
            <a:avLst/>
          </a:prstGeom>
        </p:spPr>
        <p:txBody>
          <a:bodyPr lIns="0" tIns="0" rIns="0" bIns="0" rtlCol="0" anchor="t">
            <a:spAutoFit/>
          </a:bodyPr>
          <a:lstStyle/>
          <a:p>
            <a:pPr marL="0" lvl="0" indent="0" algn="just">
              <a:lnSpc>
                <a:spcPts val="4519"/>
              </a:lnSpc>
            </a:pPr>
            <a:r>
              <a:rPr lang="en-US" sz="5021" b="1">
                <a:solidFill>
                  <a:srgbClr val="FFFFFF"/>
                </a:solidFill>
                <a:latin typeface="Poppins Semi-Bold"/>
                <a:ea typeface="Poppins Semi-Bold"/>
                <a:cs typeface="Poppins Semi-Bold"/>
                <a:sym typeface="Poppins Semi-Bold"/>
              </a:rPr>
              <a:t>Team Members</a:t>
            </a:r>
          </a:p>
        </p:txBody>
      </p:sp>
      <p:sp>
        <p:nvSpPr>
          <p:cNvPr id="22" name="TextBox 22"/>
          <p:cNvSpPr txBox="1"/>
          <p:nvPr/>
        </p:nvSpPr>
        <p:spPr>
          <a:xfrm>
            <a:off x="2822371" y="3934860"/>
            <a:ext cx="3805659" cy="302519"/>
          </a:xfrm>
          <a:prstGeom prst="rect">
            <a:avLst/>
          </a:prstGeom>
        </p:spPr>
        <p:txBody>
          <a:bodyPr lIns="0" tIns="0" rIns="0" bIns="0" rtlCol="0" anchor="t">
            <a:spAutoFit/>
          </a:bodyPr>
          <a:lstStyle/>
          <a:p>
            <a:pPr marL="0" lvl="0" indent="0" algn="just">
              <a:lnSpc>
                <a:spcPts val="2062"/>
              </a:lnSpc>
            </a:pPr>
            <a:r>
              <a:rPr lang="en-US" sz="2800" dirty="0">
                <a:solidFill>
                  <a:srgbClr val="FFFFFF"/>
                </a:solidFill>
                <a:latin typeface="Poppins"/>
                <a:ea typeface="Poppins"/>
                <a:cs typeface="Poppins"/>
                <a:sym typeface="Poppins"/>
              </a:rPr>
              <a:t>Rushikesh Mote</a:t>
            </a:r>
          </a:p>
        </p:txBody>
      </p:sp>
      <p:sp>
        <p:nvSpPr>
          <p:cNvPr id="29" name="Freeform 29"/>
          <p:cNvSpPr/>
          <p:nvPr/>
        </p:nvSpPr>
        <p:spPr>
          <a:xfrm>
            <a:off x="8517102" y="9167040"/>
            <a:ext cx="1498304" cy="182521"/>
          </a:xfrm>
          <a:custGeom>
            <a:avLst/>
            <a:gdLst/>
            <a:ahLst/>
            <a:cxnLst/>
            <a:rect l="l" t="t" r="r" b="b"/>
            <a:pathLst>
              <a:path w="1498304" h="182521">
                <a:moveTo>
                  <a:pt x="0" y="0"/>
                </a:moveTo>
                <a:lnTo>
                  <a:pt x="1498304" y="0"/>
                </a:lnTo>
                <a:lnTo>
                  <a:pt x="1498304" y="182520"/>
                </a:lnTo>
                <a:lnTo>
                  <a:pt x="0" y="18252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30" name="Freeform 30"/>
          <p:cNvSpPr/>
          <p:nvPr/>
        </p:nvSpPr>
        <p:spPr>
          <a:xfrm>
            <a:off x="-626898" y="464704"/>
            <a:ext cx="1498304" cy="182521"/>
          </a:xfrm>
          <a:custGeom>
            <a:avLst/>
            <a:gdLst/>
            <a:ahLst/>
            <a:cxnLst/>
            <a:rect l="l" t="t" r="r" b="b"/>
            <a:pathLst>
              <a:path w="1498304" h="182521">
                <a:moveTo>
                  <a:pt x="0" y="0"/>
                </a:moveTo>
                <a:lnTo>
                  <a:pt x="1498304" y="0"/>
                </a:lnTo>
                <a:lnTo>
                  <a:pt x="1498304" y="182520"/>
                </a:lnTo>
                <a:lnTo>
                  <a:pt x="0" y="18252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31" name="Freeform 31"/>
          <p:cNvSpPr/>
          <p:nvPr/>
        </p:nvSpPr>
        <p:spPr>
          <a:xfrm>
            <a:off x="12284295" y="402630"/>
            <a:ext cx="1081704" cy="845696"/>
          </a:xfrm>
          <a:custGeom>
            <a:avLst/>
            <a:gdLst/>
            <a:ahLst/>
            <a:cxnLst/>
            <a:rect l="l" t="t" r="r" b="b"/>
            <a:pathLst>
              <a:path w="1081704" h="845696">
                <a:moveTo>
                  <a:pt x="0" y="0"/>
                </a:moveTo>
                <a:lnTo>
                  <a:pt x="1081704" y="0"/>
                </a:lnTo>
                <a:lnTo>
                  <a:pt x="1081704" y="845696"/>
                </a:lnTo>
                <a:lnTo>
                  <a:pt x="0" y="84569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dirty="0"/>
          </a:p>
        </p:txBody>
      </p:sp>
      <p:pic>
        <p:nvPicPr>
          <p:cNvPr id="33" name="Picture 32">
            <a:extLst>
              <a:ext uri="{FF2B5EF4-FFF2-40B4-BE49-F238E27FC236}">
                <a16:creationId xmlns:a16="http://schemas.microsoft.com/office/drawing/2014/main" id="{D516EA6E-4AA9-C7EA-871F-183364363CCE}"/>
              </a:ext>
            </a:extLst>
          </p:cNvPr>
          <p:cNvPicPr>
            <a:picLocks noChangeAspect="1"/>
          </p:cNvPicPr>
          <p:nvPr/>
        </p:nvPicPr>
        <p:blipFill>
          <a:blip r:embed="rId6"/>
          <a:stretch>
            <a:fillRect/>
          </a:stretch>
        </p:blipFill>
        <p:spPr>
          <a:xfrm>
            <a:off x="1915959" y="4533847"/>
            <a:ext cx="573074" cy="609653"/>
          </a:xfrm>
          <a:prstGeom prst="rect">
            <a:avLst/>
          </a:prstGeom>
        </p:spPr>
      </p:pic>
      <p:sp>
        <p:nvSpPr>
          <p:cNvPr id="34" name="Freeform 27">
            <a:extLst>
              <a:ext uri="{FF2B5EF4-FFF2-40B4-BE49-F238E27FC236}">
                <a16:creationId xmlns:a16="http://schemas.microsoft.com/office/drawing/2014/main" id="{DFB568E8-5380-71BE-1851-06CB4AB34BD1}"/>
              </a:ext>
            </a:extLst>
          </p:cNvPr>
          <p:cNvSpPr/>
          <p:nvPr/>
        </p:nvSpPr>
        <p:spPr>
          <a:xfrm>
            <a:off x="1941734" y="5528647"/>
            <a:ext cx="575874" cy="613107"/>
          </a:xfrm>
          <a:custGeom>
            <a:avLst/>
            <a:gdLst/>
            <a:ahLst/>
            <a:cxnLst/>
            <a:rect l="l" t="t" r="r" b="b"/>
            <a:pathLst>
              <a:path w="575874" h="613107">
                <a:moveTo>
                  <a:pt x="0" y="0"/>
                </a:moveTo>
                <a:lnTo>
                  <a:pt x="575875" y="0"/>
                </a:lnTo>
                <a:lnTo>
                  <a:pt x="575875" y="613108"/>
                </a:lnTo>
                <a:lnTo>
                  <a:pt x="0" y="613108"/>
                </a:lnTo>
                <a:lnTo>
                  <a:pt x="0" y="0"/>
                </a:lnTo>
                <a:close/>
              </a:path>
            </a:pathLst>
          </a:custGeom>
          <a:blipFill>
            <a:blip r:embed="rId7"/>
            <a:stretch>
              <a:fillRect/>
            </a:stretch>
          </a:blipFill>
        </p:spPr>
        <p:txBody>
          <a:bodyPr/>
          <a:lstStyle/>
          <a:p>
            <a:endParaRPr lang="en-IN"/>
          </a:p>
        </p:txBody>
      </p:sp>
      <p:sp>
        <p:nvSpPr>
          <p:cNvPr id="35" name="Freeform 27">
            <a:extLst>
              <a:ext uri="{FF2B5EF4-FFF2-40B4-BE49-F238E27FC236}">
                <a16:creationId xmlns:a16="http://schemas.microsoft.com/office/drawing/2014/main" id="{31B35CD4-1151-4FE8-BAE4-9DD77AA20069}"/>
              </a:ext>
            </a:extLst>
          </p:cNvPr>
          <p:cNvSpPr/>
          <p:nvPr/>
        </p:nvSpPr>
        <p:spPr>
          <a:xfrm>
            <a:off x="1941734" y="3635603"/>
            <a:ext cx="575874" cy="613107"/>
          </a:xfrm>
          <a:custGeom>
            <a:avLst/>
            <a:gdLst/>
            <a:ahLst/>
            <a:cxnLst/>
            <a:rect l="l" t="t" r="r" b="b"/>
            <a:pathLst>
              <a:path w="575874" h="613107">
                <a:moveTo>
                  <a:pt x="0" y="0"/>
                </a:moveTo>
                <a:lnTo>
                  <a:pt x="575875" y="0"/>
                </a:lnTo>
                <a:lnTo>
                  <a:pt x="575875" y="613108"/>
                </a:lnTo>
                <a:lnTo>
                  <a:pt x="0" y="613108"/>
                </a:lnTo>
                <a:lnTo>
                  <a:pt x="0" y="0"/>
                </a:lnTo>
                <a:close/>
              </a:path>
            </a:pathLst>
          </a:custGeom>
          <a:blipFill>
            <a:blip r:embed="rId7"/>
            <a:stretch>
              <a:fillRect/>
            </a:stretch>
          </a:blipFill>
        </p:spPr>
        <p:txBody>
          <a:bodyPr/>
          <a:lstStyle/>
          <a:p>
            <a:endParaRPr lang="en-IN"/>
          </a:p>
        </p:txBody>
      </p:sp>
      <p:sp>
        <p:nvSpPr>
          <p:cNvPr id="36" name="Freeform 27">
            <a:extLst>
              <a:ext uri="{FF2B5EF4-FFF2-40B4-BE49-F238E27FC236}">
                <a16:creationId xmlns:a16="http://schemas.microsoft.com/office/drawing/2014/main" id="{1006D0C3-E62E-53FF-CC42-27AE45C3381A}"/>
              </a:ext>
            </a:extLst>
          </p:cNvPr>
          <p:cNvSpPr/>
          <p:nvPr/>
        </p:nvSpPr>
        <p:spPr>
          <a:xfrm>
            <a:off x="1915959" y="6525030"/>
            <a:ext cx="575874" cy="613107"/>
          </a:xfrm>
          <a:custGeom>
            <a:avLst/>
            <a:gdLst/>
            <a:ahLst/>
            <a:cxnLst/>
            <a:rect l="l" t="t" r="r" b="b"/>
            <a:pathLst>
              <a:path w="575874" h="613107">
                <a:moveTo>
                  <a:pt x="0" y="0"/>
                </a:moveTo>
                <a:lnTo>
                  <a:pt x="575875" y="0"/>
                </a:lnTo>
                <a:lnTo>
                  <a:pt x="575875" y="613108"/>
                </a:lnTo>
                <a:lnTo>
                  <a:pt x="0" y="613108"/>
                </a:lnTo>
                <a:lnTo>
                  <a:pt x="0" y="0"/>
                </a:lnTo>
                <a:close/>
              </a:path>
            </a:pathLst>
          </a:custGeom>
          <a:blipFill>
            <a:blip r:embed="rId7"/>
            <a:stretch>
              <a:fillRect/>
            </a:stretch>
          </a:blipFill>
        </p:spPr>
        <p:txBody>
          <a:bodyPr/>
          <a:lstStyle/>
          <a:p>
            <a:endParaRPr lang="en-IN"/>
          </a:p>
        </p:txBody>
      </p:sp>
      <p:sp>
        <p:nvSpPr>
          <p:cNvPr id="37" name="Freeform 27">
            <a:extLst>
              <a:ext uri="{FF2B5EF4-FFF2-40B4-BE49-F238E27FC236}">
                <a16:creationId xmlns:a16="http://schemas.microsoft.com/office/drawing/2014/main" id="{8499B776-9BE0-E35F-4CA7-63E47E063AC3}"/>
              </a:ext>
            </a:extLst>
          </p:cNvPr>
          <p:cNvSpPr/>
          <p:nvPr/>
        </p:nvSpPr>
        <p:spPr>
          <a:xfrm>
            <a:off x="1941734" y="7521413"/>
            <a:ext cx="575874" cy="613107"/>
          </a:xfrm>
          <a:custGeom>
            <a:avLst/>
            <a:gdLst/>
            <a:ahLst/>
            <a:cxnLst/>
            <a:rect l="l" t="t" r="r" b="b"/>
            <a:pathLst>
              <a:path w="575874" h="613107">
                <a:moveTo>
                  <a:pt x="0" y="0"/>
                </a:moveTo>
                <a:lnTo>
                  <a:pt x="575875" y="0"/>
                </a:lnTo>
                <a:lnTo>
                  <a:pt x="575875" y="613108"/>
                </a:lnTo>
                <a:lnTo>
                  <a:pt x="0" y="613108"/>
                </a:lnTo>
                <a:lnTo>
                  <a:pt x="0" y="0"/>
                </a:lnTo>
                <a:close/>
              </a:path>
            </a:pathLst>
          </a:custGeom>
          <a:blipFill>
            <a:blip r:embed="rId7"/>
            <a:stretch>
              <a:fillRect/>
            </a:stretch>
          </a:blipFill>
        </p:spPr>
        <p:txBody>
          <a:bodyPr/>
          <a:lstStyle/>
          <a:p>
            <a:endParaRPr lang="en-IN"/>
          </a:p>
        </p:txBody>
      </p:sp>
      <p:sp>
        <p:nvSpPr>
          <p:cNvPr id="38" name="Freeform 27">
            <a:extLst>
              <a:ext uri="{FF2B5EF4-FFF2-40B4-BE49-F238E27FC236}">
                <a16:creationId xmlns:a16="http://schemas.microsoft.com/office/drawing/2014/main" id="{DEC90409-2BB1-72CC-E84B-A735BCC5514F}"/>
              </a:ext>
            </a:extLst>
          </p:cNvPr>
          <p:cNvSpPr/>
          <p:nvPr/>
        </p:nvSpPr>
        <p:spPr>
          <a:xfrm>
            <a:off x="1941734" y="8517796"/>
            <a:ext cx="575874" cy="613107"/>
          </a:xfrm>
          <a:custGeom>
            <a:avLst/>
            <a:gdLst/>
            <a:ahLst/>
            <a:cxnLst/>
            <a:rect l="l" t="t" r="r" b="b"/>
            <a:pathLst>
              <a:path w="575874" h="613107">
                <a:moveTo>
                  <a:pt x="0" y="0"/>
                </a:moveTo>
                <a:lnTo>
                  <a:pt x="575875" y="0"/>
                </a:lnTo>
                <a:lnTo>
                  <a:pt x="575875" y="613108"/>
                </a:lnTo>
                <a:lnTo>
                  <a:pt x="0" y="613108"/>
                </a:lnTo>
                <a:lnTo>
                  <a:pt x="0" y="0"/>
                </a:lnTo>
                <a:close/>
              </a:path>
            </a:pathLst>
          </a:custGeom>
          <a:blipFill>
            <a:blip r:embed="rId7"/>
            <a:stretch>
              <a:fillRect/>
            </a:stretch>
          </a:blipFill>
        </p:spPr>
        <p:txBody>
          <a:bodyPr/>
          <a:lstStyle/>
          <a:p>
            <a:endParaRPr lang="en-IN"/>
          </a:p>
        </p:txBody>
      </p:sp>
      <p:sp>
        <p:nvSpPr>
          <p:cNvPr id="42" name="TextBox 41">
            <a:extLst>
              <a:ext uri="{FF2B5EF4-FFF2-40B4-BE49-F238E27FC236}">
                <a16:creationId xmlns:a16="http://schemas.microsoft.com/office/drawing/2014/main" id="{0860143F-CF93-FF08-2B22-6D8F13C1DFCA}"/>
              </a:ext>
            </a:extLst>
          </p:cNvPr>
          <p:cNvSpPr txBox="1"/>
          <p:nvPr/>
        </p:nvSpPr>
        <p:spPr>
          <a:xfrm>
            <a:off x="2729126" y="4768578"/>
            <a:ext cx="13774366" cy="393506"/>
          </a:xfrm>
          <a:prstGeom prst="rect">
            <a:avLst/>
          </a:prstGeom>
          <a:noFill/>
        </p:spPr>
        <p:txBody>
          <a:bodyPr wrap="square">
            <a:spAutoFit/>
          </a:bodyPr>
          <a:lstStyle/>
          <a:p>
            <a:pPr lvl="0" algn="just">
              <a:lnSpc>
                <a:spcPts val="2062"/>
              </a:lnSpc>
            </a:pPr>
            <a:r>
              <a:rPr lang="en-IN" sz="2800" dirty="0">
                <a:solidFill>
                  <a:schemeClr val="bg1"/>
                </a:solidFill>
              </a:rPr>
              <a:t>Paresh </a:t>
            </a:r>
            <a:r>
              <a:rPr lang="en-IN" sz="2800" dirty="0" err="1">
                <a:solidFill>
                  <a:schemeClr val="bg1"/>
                </a:solidFill>
              </a:rPr>
              <a:t>Mhalsekar</a:t>
            </a:r>
            <a:endParaRPr lang="en-US" sz="2800" dirty="0">
              <a:solidFill>
                <a:schemeClr val="bg1"/>
              </a:solidFill>
              <a:latin typeface="Poppins"/>
              <a:ea typeface="Poppins"/>
              <a:cs typeface="Poppins"/>
              <a:sym typeface="Poppins"/>
            </a:endParaRPr>
          </a:p>
        </p:txBody>
      </p:sp>
      <p:sp>
        <p:nvSpPr>
          <p:cNvPr id="44" name="TextBox 43">
            <a:extLst>
              <a:ext uri="{FF2B5EF4-FFF2-40B4-BE49-F238E27FC236}">
                <a16:creationId xmlns:a16="http://schemas.microsoft.com/office/drawing/2014/main" id="{8D3FCDE3-4AE4-2241-9564-A5AB3C466EB2}"/>
              </a:ext>
            </a:extLst>
          </p:cNvPr>
          <p:cNvSpPr txBox="1"/>
          <p:nvPr/>
        </p:nvSpPr>
        <p:spPr>
          <a:xfrm>
            <a:off x="2729126" y="5689815"/>
            <a:ext cx="13774366" cy="393506"/>
          </a:xfrm>
          <a:prstGeom prst="rect">
            <a:avLst/>
          </a:prstGeom>
          <a:noFill/>
        </p:spPr>
        <p:txBody>
          <a:bodyPr wrap="square">
            <a:spAutoFit/>
          </a:bodyPr>
          <a:lstStyle/>
          <a:p>
            <a:pPr lvl="0" algn="just">
              <a:lnSpc>
                <a:spcPts val="2062"/>
              </a:lnSpc>
            </a:pPr>
            <a:r>
              <a:rPr lang="en-IN" sz="2800" dirty="0">
                <a:solidFill>
                  <a:schemeClr val="bg1"/>
                </a:solidFill>
              </a:rPr>
              <a:t>Snehal Lahankar</a:t>
            </a:r>
            <a:endParaRPr lang="en-US" sz="2800" dirty="0">
              <a:solidFill>
                <a:schemeClr val="bg1"/>
              </a:solidFill>
              <a:latin typeface="Poppins"/>
              <a:ea typeface="Poppins"/>
              <a:cs typeface="Poppins"/>
              <a:sym typeface="Poppins"/>
            </a:endParaRPr>
          </a:p>
        </p:txBody>
      </p:sp>
      <p:sp>
        <p:nvSpPr>
          <p:cNvPr id="46" name="TextBox 45">
            <a:extLst>
              <a:ext uri="{FF2B5EF4-FFF2-40B4-BE49-F238E27FC236}">
                <a16:creationId xmlns:a16="http://schemas.microsoft.com/office/drawing/2014/main" id="{A39F9B35-4BF5-127B-10E2-C38C994D4CDD}"/>
              </a:ext>
            </a:extLst>
          </p:cNvPr>
          <p:cNvSpPr txBox="1"/>
          <p:nvPr/>
        </p:nvSpPr>
        <p:spPr>
          <a:xfrm>
            <a:off x="2718861" y="6695940"/>
            <a:ext cx="13774366" cy="393506"/>
          </a:xfrm>
          <a:prstGeom prst="rect">
            <a:avLst/>
          </a:prstGeom>
          <a:noFill/>
        </p:spPr>
        <p:txBody>
          <a:bodyPr wrap="square">
            <a:spAutoFit/>
          </a:bodyPr>
          <a:lstStyle/>
          <a:p>
            <a:pPr lvl="0" algn="just">
              <a:lnSpc>
                <a:spcPts val="2062"/>
              </a:lnSpc>
            </a:pPr>
            <a:r>
              <a:rPr lang="en-IN" sz="2800" dirty="0">
                <a:solidFill>
                  <a:schemeClr val="bg1"/>
                </a:solidFill>
              </a:rPr>
              <a:t>R. Jamuna Rani</a:t>
            </a:r>
            <a:endParaRPr lang="en-US" sz="2800" dirty="0">
              <a:solidFill>
                <a:schemeClr val="bg1"/>
              </a:solidFill>
              <a:latin typeface="Poppins"/>
              <a:ea typeface="Poppins"/>
              <a:cs typeface="Poppins"/>
              <a:sym typeface="Poppins"/>
            </a:endParaRPr>
          </a:p>
        </p:txBody>
      </p:sp>
      <p:sp>
        <p:nvSpPr>
          <p:cNvPr id="48" name="TextBox 47">
            <a:extLst>
              <a:ext uri="{FF2B5EF4-FFF2-40B4-BE49-F238E27FC236}">
                <a16:creationId xmlns:a16="http://schemas.microsoft.com/office/drawing/2014/main" id="{449D30C0-D9AE-6281-A2FF-74C9DA525E4A}"/>
              </a:ext>
            </a:extLst>
          </p:cNvPr>
          <p:cNvSpPr txBox="1"/>
          <p:nvPr/>
        </p:nvSpPr>
        <p:spPr>
          <a:xfrm>
            <a:off x="2718861" y="7684263"/>
            <a:ext cx="13774366" cy="393506"/>
          </a:xfrm>
          <a:prstGeom prst="rect">
            <a:avLst/>
          </a:prstGeom>
          <a:noFill/>
        </p:spPr>
        <p:txBody>
          <a:bodyPr wrap="square">
            <a:spAutoFit/>
          </a:bodyPr>
          <a:lstStyle/>
          <a:p>
            <a:pPr lvl="0" algn="just">
              <a:lnSpc>
                <a:spcPts val="2062"/>
              </a:lnSpc>
            </a:pPr>
            <a:r>
              <a:rPr lang="en-IN" sz="2800" dirty="0">
                <a:solidFill>
                  <a:schemeClr val="bg1"/>
                </a:solidFill>
              </a:rPr>
              <a:t>Ved Rathore</a:t>
            </a:r>
            <a:endParaRPr lang="en-US" sz="2800" dirty="0">
              <a:solidFill>
                <a:schemeClr val="bg1"/>
              </a:solidFill>
              <a:latin typeface="Poppins"/>
              <a:ea typeface="Poppins"/>
              <a:cs typeface="Poppins"/>
              <a:sym typeface="Poppins"/>
            </a:endParaRPr>
          </a:p>
        </p:txBody>
      </p:sp>
      <p:sp>
        <p:nvSpPr>
          <p:cNvPr id="50" name="TextBox 49">
            <a:extLst>
              <a:ext uri="{FF2B5EF4-FFF2-40B4-BE49-F238E27FC236}">
                <a16:creationId xmlns:a16="http://schemas.microsoft.com/office/drawing/2014/main" id="{B6E2D049-F550-CD2C-51D2-D9A6A18DE92F}"/>
              </a:ext>
            </a:extLst>
          </p:cNvPr>
          <p:cNvSpPr txBox="1"/>
          <p:nvPr/>
        </p:nvSpPr>
        <p:spPr>
          <a:xfrm>
            <a:off x="2822371" y="8626923"/>
            <a:ext cx="13774366" cy="393506"/>
          </a:xfrm>
          <a:prstGeom prst="rect">
            <a:avLst/>
          </a:prstGeom>
          <a:noFill/>
        </p:spPr>
        <p:txBody>
          <a:bodyPr wrap="square">
            <a:spAutoFit/>
          </a:bodyPr>
          <a:lstStyle/>
          <a:p>
            <a:pPr lvl="0" algn="just">
              <a:lnSpc>
                <a:spcPts val="2062"/>
              </a:lnSpc>
            </a:pPr>
            <a:r>
              <a:rPr lang="en-IN" sz="2800" dirty="0">
                <a:solidFill>
                  <a:schemeClr val="bg1"/>
                </a:solidFill>
              </a:rPr>
              <a:t>Shaurya Gupta</a:t>
            </a:r>
            <a:endParaRPr lang="en-US" sz="2800" dirty="0">
              <a:solidFill>
                <a:schemeClr val="bg1"/>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6102878" y="799624"/>
            <a:ext cx="506110" cy="597340"/>
          </a:xfrm>
          <a:custGeom>
            <a:avLst/>
            <a:gdLst/>
            <a:ahLst/>
            <a:cxnLst/>
            <a:rect l="l" t="t" r="r" b="b"/>
            <a:pathLst>
              <a:path w="506110" h="597340">
                <a:moveTo>
                  <a:pt x="0" y="0"/>
                </a:moveTo>
                <a:lnTo>
                  <a:pt x="506110" y="0"/>
                </a:lnTo>
                <a:lnTo>
                  <a:pt x="506110" y="597341"/>
                </a:lnTo>
                <a:lnTo>
                  <a:pt x="0" y="59734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flipH="1">
            <a:off x="-939286" y="-1661523"/>
            <a:ext cx="5065129" cy="3960010"/>
          </a:xfrm>
          <a:custGeom>
            <a:avLst/>
            <a:gdLst/>
            <a:ahLst/>
            <a:cxnLst/>
            <a:rect l="l" t="t" r="r" b="b"/>
            <a:pathLst>
              <a:path w="5065129" h="3960010">
                <a:moveTo>
                  <a:pt x="5065129" y="0"/>
                </a:moveTo>
                <a:lnTo>
                  <a:pt x="0" y="0"/>
                </a:lnTo>
                <a:lnTo>
                  <a:pt x="0" y="3960010"/>
                </a:lnTo>
                <a:lnTo>
                  <a:pt x="5065129" y="3960010"/>
                </a:lnTo>
                <a:lnTo>
                  <a:pt x="5065129"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flipH="1">
            <a:off x="17002634" y="9057634"/>
            <a:ext cx="2097615" cy="1639954"/>
          </a:xfrm>
          <a:custGeom>
            <a:avLst/>
            <a:gdLst/>
            <a:ahLst/>
            <a:cxnLst/>
            <a:rect l="l" t="t" r="r" b="b"/>
            <a:pathLst>
              <a:path w="2097615" h="1639954">
                <a:moveTo>
                  <a:pt x="2097615" y="0"/>
                </a:moveTo>
                <a:lnTo>
                  <a:pt x="0" y="0"/>
                </a:lnTo>
                <a:lnTo>
                  <a:pt x="0" y="1639953"/>
                </a:lnTo>
                <a:lnTo>
                  <a:pt x="2097615" y="1639953"/>
                </a:lnTo>
                <a:lnTo>
                  <a:pt x="2097615"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rot="-10800000" flipH="1" flipV="1">
            <a:off x="-939286" y="1801593"/>
            <a:ext cx="9089382" cy="9089382"/>
          </a:xfrm>
          <a:custGeom>
            <a:avLst/>
            <a:gdLst/>
            <a:ahLst/>
            <a:cxnLst/>
            <a:rect l="l" t="t" r="r" b="b"/>
            <a:pathLst>
              <a:path w="9089382" h="9089382">
                <a:moveTo>
                  <a:pt x="9089382" y="9089382"/>
                </a:moveTo>
                <a:lnTo>
                  <a:pt x="0" y="9089382"/>
                </a:lnTo>
                <a:lnTo>
                  <a:pt x="0" y="0"/>
                </a:lnTo>
                <a:lnTo>
                  <a:pt x="9089382" y="0"/>
                </a:lnTo>
                <a:lnTo>
                  <a:pt x="9089382" y="9089382"/>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grpSp>
        <p:nvGrpSpPr>
          <p:cNvPr id="6" name="Group 6"/>
          <p:cNvGrpSpPr/>
          <p:nvPr/>
        </p:nvGrpSpPr>
        <p:grpSpPr>
          <a:xfrm>
            <a:off x="1101596" y="3044807"/>
            <a:ext cx="7230246" cy="6213493"/>
            <a:chOff x="0" y="0"/>
            <a:chExt cx="812800" cy="698500"/>
          </a:xfrm>
        </p:grpSpPr>
        <p:sp>
          <p:nvSpPr>
            <p:cNvPr id="7" name="Freeform 7"/>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5"/>
              <a:stretch>
                <a:fillRect l="-36" r="-36"/>
              </a:stretch>
            </a:blipFill>
            <a:ln w="180975" cap="sq">
              <a:solidFill>
                <a:srgbClr val="000000"/>
              </a:solidFill>
              <a:prstDash val="solid"/>
              <a:miter/>
            </a:ln>
          </p:spPr>
          <p:txBody>
            <a:bodyPr/>
            <a:lstStyle/>
            <a:p>
              <a:endParaRPr lang="en-IN"/>
            </a:p>
          </p:txBody>
        </p:sp>
      </p:grpSp>
      <p:grpSp>
        <p:nvGrpSpPr>
          <p:cNvPr id="8" name="Group 8"/>
          <p:cNvGrpSpPr/>
          <p:nvPr/>
        </p:nvGrpSpPr>
        <p:grpSpPr>
          <a:xfrm>
            <a:off x="381708" y="1028700"/>
            <a:ext cx="5009568" cy="4305098"/>
            <a:chOff x="0" y="0"/>
            <a:chExt cx="812800" cy="698500"/>
          </a:xfrm>
        </p:grpSpPr>
        <p:sp>
          <p:nvSpPr>
            <p:cNvPr id="9" name="Freeform 9"/>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6"/>
              <a:stretch>
                <a:fillRect l="-36" r="-36"/>
              </a:stretch>
            </a:blipFill>
            <a:ln w="180975" cap="sq">
              <a:solidFill>
                <a:srgbClr val="000000"/>
              </a:solidFill>
              <a:prstDash val="solid"/>
              <a:miter/>
            </a:ln>
          </p:spPr>
          <p:txBody>
            <a:bodyPr/>
            <a:lstStyle/>
            <a:p>
              <a:endParaRPr lang="en-IN"/>
            </a:p>
          </p:txBody>
        </p:sp>
      </p:grpSp>
      <p:sp>
        <p:nvSpPr>
          <p:cNvPr id="10" name="Freeform 10"/>
          <p:cNvSpPr/>
          <p:nvPr/>
        </p:nvSpPr>
        <p:spPr>
          <a:xfrm>
            <a:off x="6181667" y="930991"/>
            <a:ext cx="1841612" cy="224342"/>
          </a:xfrm>
          <a:custGeom>
            <a:avLst/>
            <a:gdLst/>
            <a:ahLst/>
            <a:cxnLst/>
            <a:rect l="l" t="t" r="r" b="b"/>
            <a:pathLst>
              <a:path w="1841612" h="224342">
                <a:moveTo>
                  <a:pt x="0" y="0"/>
                </a:moveTo>
                <a:lnTo>
                  <a:pt x="1841612" y="0"/>
                </a:lnTo>
                <a:lnTo>
                  <a:pt x="1841612" y="224342"/>
                </a:lnTo>
                <a:lnTo>
                  <a:pt x="0" y="22434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IN"/>
          </a:p>
        </p:txBody>
      </p:sp>
      <p:sp>
        <p:nvSpPr>
          <p:cNvPr id="11" name="Freeform 11"/>
          <p:cNvSpPr/>
          <p:nvPr/>
        </p:nvSpPr>
        <p:spPr>
          <a:xfrm>
            <a:off x="14227205" y="9695090"/>
            <a:ext cx="1498304" cy="182521"/>
          </a:xfrm>
          <a:custGeom>
            <a:avLst/>
            <a:gdLst/>
            <a:ahLst/>
            <a:cxnLst/>
            <a:rect l="l" t="t" r="r" b="b"/>
            <a:pathLst>
              <a:path w="1498304" h="182521">
                <a:moveTo>
                  <a:pt x="0" y="0"/>
                </a:moveTo>
                <a:lnTo>
                  <a:pt x="1498304" y="0"/>
                </a:lnTo>
                <a:lnTo>
                  <a:pt x="1498304" y="182520"/>
                </a:lnTo>
                <a:lnTo>
                  <a:pt x="0" y="182520"/>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IN"/>
          </a:p>
        </p:txBody>
      </p:sp>
      <p:sp>
        <p:nvSpPr>
          <p:cNvPr id="12" name="Freeform 12"/>
          <p:cNvSpPr/>
          <p:nvPr/>
        </p:nvSpPr>
        <p:spPr>
          <a:xfrm>
            <a:off x="4125843" y="2159263"/>
            <a:ext cx="2265347" cy="1771090"/>
          </a:xfrm>
          <a:custGeom>
            <a:avLst/>
            <a:gdLst/>
            <a:ahLst/>
            <a:cxnLst/>
            <a:rect l="l" t="t" r="r" b="b"/>
            <a:pathLst>
              <a:path w="2265347" h="1771090">
                <a:moveTo>
                  <a:pt x="0" y="0"/>
                </a:moveTo>
                <a:lnTo>
                  <a:pt x="2265347" y="0"/>
                </a:lnTo>
                <a:lnTo>
                  <a:pt x="2265347" y="1771089"/>
                </a:lnTo>
                <a:lnTo>
                  <a:pt x="0" y="17710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3" name="AutoShape 13"/>
          <p:cNvSpPr/>
          <p:nvPr/>
        </p:nvSpPr>
        <p:spPr>
          <a:xfrm>
            <a:off x="10872186" y="3200299"/>
            <a:ext cx="5736802" cy="0"/>
          </a:xfrm>
          <a:prstGeom prst="line">
            <a:avLst/>
          </a:prstGeom>
          <a:ln w="38100" cap="flat">
            <a:solidFill>
              <a:srgbClr val="C02519"/>
            </a:solidFill>
            <a:prstDash val="solid"/>
            <a:headEnd type="none" w="sm" len="sm"/>
            <a:tailEnd type="none" w="sm" len="sm"/>
          </a:ln>
        </p:spPr>
        <p:txBody>
          <a:bodyPr/>
          <a:lstStyle/>
          <a:p>
            <a:endParaRPr lang="en-IN"/>
          </a:p>
        </p:txBody>
      </p:sp>
      <p:sp>
        <p:nvSpPr>
          <p:cNvPr id="17" name="TextBox 17"/>
          <p:cNvSpPr txBox="1"/>
          <p:nvPr/>
        </p:nvSpPr>
        <p:spPr>
          <a:xfrm>
            <a:off x="6737809" y="1944468"/>
            <a:ext cx="9871179" cy="990405"/>
          </a:xfrm>
          <a:prstGeom prst="rect">
            <a:avLst/>
          </a:prstGeom>
        </p:spPr>
        <p:txBody>
          <a:bodyPr lIns="0" tIns="0" rIns="0" bIns="0" rtlCol="0" anchor="t">
            <a:spAutoFit/>
          </a:bodyPr>
          <a:lstStyle/>
          <a:p>
            <a:pPr marL="0" lvl="0" indent="0" algn="r">
              <a:lnSpc>
                <a:spcPts val="6745"/>
              </a:lnSpc>
            </a:pPr>
            <a:r>
              <a:rPr lang="en-US" sz="7494" b="1">
                <a:solidFill>
                  <a:srgbClr val="FFFFFF"/>
                </a:solidFill>
                <a:latin typeface="Poppins Semi-Bold"/>
                <a:ea typeface="Poppins Semi-Bold"/>
                <a:cs typeface="Poppins Semi-Bold"/>
                <a:sym typeface="Poppins Semi-Bold"/>
              </a:rPr>
              <a:t>Project Introduction</a:t>
            </a:r>
          </a:p>
        </p:txBody>
      </p:sp>
      <p:sp>
        <p:nvSpPr>
          <p:cNvPr id="18" name="TextBox 18"/>
          <p:cNvSpPr txBox="1"/>
          <p:nvPr/>
        </p:nvSpPr>
        <p:spPr>
          <a:xfrm>
            <a:off x="12124600" y="864316"/>
            <a:ext cx="3805659" cy="392127"/>
          </a:xfrm>
          <a:prstGeom prst="rect">
            <a:avLst/>
          </a:prstGeom>
        </p:spPr>
        <p:txBody>
          <a:bodyPr lIns="0" tIns="0" rIns="0" bIns="0" rtlCol="0" anchor="t">
            <a:spAutoFit/>
          </a:bodyPr>
          <a:lstStyle/>
          <a:p>
            <a:pPr marL="0" lvl="0" indent="0" algn="r">
              <a:lnSpc>
                <a:spcPts val="3061"/>
              </a:lnSpc>
            </a:pPr>
            <a:r>
              <a:rPr lang="en-US" sz="2186">
                <a:solidFill>
                  <a:srgbClr val="FFFFFF"/>
                </a:solidFill>
                <a:latin typeface="Poppins"/>
                <a:ea typeface="Poppins"/>
                <a:cs typeface="Poppins"/>
                <a:sym typeface="Poppins"/>
              </a:rPr>
              <a:t>Zomato Analytics</a:t>
            </a:r>
          </a:p>
        </p:txBody>
      </p:sp>
      <p:sp>
        <p:nvSpPr>
          <p:cNvPr id="19" name="TextBox 19"/>
          <p:cNvSpPr txBox="1"/>
          <p:nvPr/>
        </p:nvSpPr>
        <p:spPr>
          <a:xfrm>
            <a:off x="8046693" y="4083019"/>
            <a:ext cx="8350764" cy="5601533"/>
          </a:xfrm>
          <a:prstGeom prst="rect">
            <a:avLst/>
          </a:prstGeom>
        </p:spPr>
        <p:txBody>
          <a:bodyPr wrap="square" lIns="0" tIns="0" rIns="0" bIns="0" rtlCol="0" anchor="t">
            <a:spAutoFit/>
          </a:bodyPr>
          <a:lstStyle/>
          <a:p>
            <a:pPr marL="342900" indent="-342900">
              <a:buFont typeface="Wingdings" panose="05000000000000000000" pitchFamily="2" charset="2"/>
              <a:buChar char="Ø"/>
            </a:pPr>
            <a:r>
              <a:rPr lang="en-US" sz="2800" dirty="0">
                <a:solidFill>
                  <a:schemeClr val="bg1"/>
                </a:solidFill>
              </a:rPr>
              <a:t>The food delivery and restaurant industry has experienced rapid growth providing vast amounts of data related to services.</a:t>
            </a:r>
          </a:p>
          <a:p>
            <a:pPr marL="342900" indent="-342900">
              <a:buFont typeface="Wingdings" panose="05000000000000000000" pitchFamily="2" charset="2"/>
              <a:buChar char="Ø"/>
            </a:pPr>
            <a:r>
              <a:rPr lang="en-US" sz="2800" dirty="0">
                <a:solidFill>
                  <a:schemeClr val="bg1"/>
                </a:solidFill>
              </a:rPr>
              <a:t>This project focuses on analyzing Zomato restaurant data to understand key business aspects such as :</a:t>
            </a:r>
          </a:p>
          <a:p>
            <a:pPr marL="342900" indent="-342900">
              <a:buFont typeface="Wingdings" panose="05000000000000000000" pitchFamily="2" charset="2"/>
              <a:buChar char="Ø"/>
            </a:pPr>
            <a:r>
              <a:rPr lang="en-US" sz="2800" dirty="0">
                <a:solidFill>
                  <a:schemeClr val="bg1"/>
                </a:solidFill>
              </a:rPr>
              <a:t>Restaurant distribution across cities and countries</a:t>
            </a:r>
          </a:p>
          <a:p>
            <a:pPr marL="342900" indent="-342900">
              <a:buFont typeface="Wingdings" panose="05000000000000000000" pitchFamily="2" charset="2"/>
              <a:buChar char="Ø"/>
            </a:pPr>
            <a:r>
              <a:rPr lang="en-US" sz="2800" dirty="0">
                <a:solidFill>
                  <a:schemeClr val="bg1"/>
                </a:solidFill>
              </a:rPr>
              <a:t>Customer preferences based on ratings and cuisines</a:t>
            </a:r>
          </a:p>
          <a:p>
            <a:pPr marL="342900" indent="-342900">
              <a:buFont typeface="Wingdings" panose="05000000000000000000" pitchFamily="2" charset="2"/>
              <a:buChar char="Ø"/>
            </a:pPr>
            <a:r>
              <a:rPr lang="en-US" sz="2800" dirty="0">
                <a:solidFill>
                  <a:schemeClr val="bg1"/>
                </a:solidFill>
              </a:rPr>
              <a:t>Availability of services like online delivery and table booking.</a:t>
            </a:r>
          </a:p>
          <a:p>
            <a:pPr marL="342900" indent="-342900">
              <a:buFont typeface="Wingdings" panose="05000000000000000000" pitchFamily="2" charset="2"/>
              <a:buChar char="Ø"/>
            </a:pPr>
            <a:r>
              <a:rPr lang="en-US" sz="2800" dirty="0">
                <a:solidFill>
                  <a:schemeClr val="bg1"/>
                </a:solidFill>
              </a:rPr>
              <a:t>By using data analytics tools, the project aims to transform raw data into meaningful insights that can help businesses improve decision-making and customer experience.</a:t>
            </a:r>
          </a:p>
        </p:txBody>
      </p:sp>
      <p:sp>
        <p:nvSpPr>
          <p:cNvPr id="21" name="TextBox 21"/>
          <p:cNvSpPr txBox="1"/>
          <p:nvPr/>
        </p:nvSpPr>
        <p:spPr>
          <a:xfrm>
            <a:off x="8105059" y="3405438"/>
            <a:ext cx="7739004" cy="492443"/>
          </a:xfrm>
          <a:prstGeom prst="rect">
            <a:avLst/>
          </a:prstGeom>
        </p:spPr>
        <p:txBody>
          <a:bodyPr wrap="square" lIns="0" tIns="0" rIns="0" bIns="0" rtlCol="0" anchor="t">
            <a:spAutoFit/>
          </a:bodyPr>
          <a:lstStyle/>
          <a:p>
            <a:r>
              <a:rPr lang="en-US" sz="3200" b="1" dirty="0">
                <a:solidFill>
                  <a:schemeClr val="bg1"/>
                </a:solidFill>
              </a:rPr>
              <a:t>Domain: Food and Restaurant Analytics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10800000" flipV="1">
            <a:off x="12876469" y="1265598"/>
            <a:ext cx="9089382" cy="9089382"/>
          </a:xfrm>
          <a:custGeom>
            <a:avLst/>
            <a:gdLst/>
            <a:ahLst/>
            <a:cxnLst/>
            <a:rect l="l" t="t" r="r" b="b"/>
            <a:pathLst>
              <a:path w="9089382" h="9089382">
                <a:moveTo>
                  <a:pt x="0" y="9089383"/>
                </a:moveTo>
                <a:lnTo>
                  <a:pt x="9089382" y="9089383"/>
                </a:lnTo>
                <a:lnTo>
                  <a:pt x="9089382" y="0"/>
                </a:lnTo>
                <a:lnTo>
                  <a:pt x="0" y="0"/>
                </a:lnTo>
                <a:lnTo>
                  <a:pt x="0" y="9089383"/>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rot="-10800000" flipH="1" flipV="1">
            <a:off x="-4776038" y="1265598"/>
            <a:ext cx="9089382" cy="9089382"/>
          </a:xfrm>
          <a:custGeom>
            <a:avLst/>
            <a:gdLst/>
            <a:ahLst/>
            <a:cxnLst/>
            <a:rect l="l" t="t" r="r" b="b"/>
            <a:pathLst>
              <a:path w="9089382" h="9089382">
                <a:moveTo>
                  <a:pt x="9089382" y="9089383"/>
                </a:moveTo>
                <a:lnTo>
                  <a:pt x="0" y="9089383"/>
                </a:lnTo>
                <a:lnTo>
                  <a:pt x="0" y="0"/>
                </a:lnTo>
                <a:lnTo>
                  <a:pt x="9089382" y="0"/>
                </a:lnTo>
                <a:lnTo>
                  <a:pt x="9089382" y="9089383"/>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p:cNvSpPr/>
          <p:nvPr/>
        </p:nvSpPr>
        <p:spPr>
          <a:xfrm>
            <a:off x="1662904" y="799624"/>
            <a:ext cx="506110" cy="597340"/>
          </a:xfrm>
          <a:custGeom>
            <a:avLst/>
            <a:gdLst/>
            <a:ahLst/>
            <a:cxnLst/>
            <a:rect l="l" t="t" r="r" b="b"/>
            <a:pathLst>
              <a:path w="506110" h="597340">
                <a:moveTo>
                  <a:pt x="0" y="0"/>
                </a:moveTo>
                <a:lnTo>
                  <a:pt x="506110" y="0"/>
                </a:lnTo>
                <a:lnTo>
                  <a:pt x="506110" y="597341"/>
                </a:lnTo>
                <a:lnTo>
                  <a:pt x="0" y="59734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AutoShape 5"/>
          <p:cNvSpPr/>
          <p:nvPr/>
        </p:nvSpPr>
        <p:spPr>
          <a:xfrm>
            <a:off x="1662904" y="2713235"/>
            <a:ext cx="5736802" cy="0"/>
          </a:xfrm>
          <a:prstGeom prst="line">
            <a:avLst/>
          </a:prstGeom>
          <a:ln w="38100" cap="flat">
            <a:solidFill>
              <a:srgbClr val="C02519"/>
            </a:solidFill>
            <a:prstDash val="solid"/>
            <a:headEnd type="none" w="sm" len="sm"/>
            <a:tailEnd type="none" w="sm" len="sm"/>
          </a:ln>
        </p:spPr>
        <p:txBody>
          <a:bodyPr/>
          <a:lstStyle/>
          <a:p>
            <a:endParaRPr lang="en-IN" dirty="0"/>
          </a:p>
        </p:txBody>
      </p:sp>
      <p:sp>
        <p:nvSpPr>
          <p:cNvPr id="6" name="Freeform 6"/>
          <p:cNvSpPr/>
          <p:nvPr/>
        </p:nvSpPr>
        <p:spPr>
          <a:xfrm rot="-10800000">
            <a:off x="9407617" y="-2634475"/>
            <a:ext cx="9089382" cy="9089382"/>
          </a:xfrm>
          <a:custGeom>
            <a:avLst/>
            <a:gdLst/>
            <a:ahLst/>
            <a:cxnLst/>
            <a:rect l="l" t="t" r="r" b="b"/>
            <a:pathLst>
              <a:path w="9089382" h="9089382">
                <a:moveTo>
                  <a:pt x="0" y="0"/>
                </a:moveTo>
                <a:lnTo>
                  <a:pt x="9089383" y="0"/>
                </a:lnTo>
                <a:lnTo>
                  <a:pt x="9089383" y="9089382"/>
                </a:lnTo>
                <a:lnTo>
                  <a:pt x="0" y="9089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21" name="TextBox 21"/>
          <p:cNvSpPr txBox="1"/>
          <p:nvPr/>
        </p:nvSpPr>
        <p:spPr>
          <a:xfrm>
            <a:off x="1662904" y="1887318"/>
            <a:ext cx="9871179" cy="624082"/>
          </a:xfrm>
          <a:prstGeom prst="rect">
            <a:avLst/>
          </a:prstGeom>
        </p:spPr>
        <p:txBody>
          <a:bodyPr lIns="0" tIns="0" rIns="0" bIns="0" rtlCol="0" anchor="t">
            <a:spAutoFit/>
          </a:bodyPr>
          <a:lstStyle/>
          <a:p>
            <a:pPr lvl="0" algn="just">
              <a:lnSpc>
                <a:spcPts val="4519"/>
              </a:lnSpc>
            </a:pPr>
            <a:r>
              <a:rPr lang="en-IN" sz="5400" dirty="0">
                <a:solidFill>
                  <a:schemeClr val="bg1"/>
                </a:solidFill>
                <a:latin typeface="Arial Black" panose="020B0A04020102020204" pitchFamily="34" charset="0"/>
              </a:rPr>
              <a:t>DATA OVERVIEW</a:t>
            </a:r>
            <a:endParaRPr lang="en-US" sz="5021" b="1" dirty="0">
              <a:solidFill>
                <a:schemeClr val="bg1"/>
              </a:solidFill>
              <a:latin typeface="Poppins Semi-Bold"/>
              <a:ea typeface="Poppins Semi-Bold"/>
              <a:cs typeface="Poppins Semi-Bold"/>
              <a:sym typeface="Poppins Semi-Bold"/>
            </a:endParaRPr>
          </a:p>
        </p:txBody>
      </p:sp>
      <p:sp>
        <p:nvSpPr>
          <p:cNvPr id="27" name="TextBox 27"/>
          <p:cNvSpPr txBox="1"/>
          <p:nvPr/>
        </p:nvSpPr>
        <p:spPr>
          <a:xfrm>
            <a:off x="1167386" y="3437238"/>
            <a:ext cx="12243814" cy="4850687"/>
          </a:xfrm>
          <a:prstGeom prst="rect">
            <a:avLst/>
          </a:prstGeom>
        </p:spPr>
        <p:txBody>
          <a:bodyPr wrap="square" lIns="0" tIns="0" rIns="0" bIns="0" rtlCol="0" anchor="t">
            <a:spAutoFit/>
          </a:bodyPr>
          <a:lstStyle/>
          <a:p>
            <a:pPr marL="285750" lvl="0" indent="-285750">
              <a:lnSpc>
                <a:spcPts val="1827"/>
              </a:lnSpc>
              <a:buFont typeface="Wingdings" panose="05000000000000000000" pitchFamily="2" charset="2"/>
              <a:buChar char="Ø"/>
            </a:pPr>
            <a:r>
              <a:rPr lang="en-IN" sz="2800" b="1" dirty="0">
                <a:solidFill>
                  <a:schemeClr val="bg1"/>
                </a:solidFill>
              </a:rPr>
              <a:t>Dataset Source:</a:t>
            </a:r>
            <a:r>
              <a:rPr lang="en-IN" sz="2800" dirty="0">
                <a:solidFill>
                  <a:schemeClr val="bg1"/>
                </a:solidFill>
              </a:rPr>
              <a:t> Zomato Restaurant Dataset</a:t>
            </a:r>
          </a:p>
          <a:p>
            <a:pPr marL="285750" lvl="0" indent="-285750">
              <a:lnSpc>
                <a:spcPts val="1827"/>
              </a:lnSpc>
              <a:buFont typeface="Wingdings" panose="05000000000000000000" pitchFamily="2" charset="2"/>
              <a:buChar char="Ø"/>
            </a:pPr>
            <a:endParaRPr lang="en-IN" sz="2800" dirty="0">
              <a:solidFill>
                <a:schemeClr val="bg1"/>
              </a:solidFill>
            </a:endParaRPr>
          </a:p>
          <a:p>
            <a:pPr marL="285750" lvl="0" indent="-285750">
              <a:lnSpc>
                <a:spcPts val="1827"/>
              </a:lnSpc>
              <a:buFont typeface="Wingdings" panose="05000000000000000000" pitchFamily="2" charset="2"/>
              <a:buChar char="Ø"/>
            </a:pPr>
            <a:r>
              <a:rPr lang="en-IN" sz="2800" b="1" dirty="0">
                <a:solidFill>
                  <a:schemeClr val="bg1"/>
                </a:solidFill>
              </a:rPr>
              <a:t>Dataset Type: </a:t>
            </a:r>
            <a:r>
              <a:rPr lang="en-IN" sz="2800" dirty="0">
                <a:solidFill>
                  <a:schemeClr val="bg1"/>
                </a:solidFill>
              </a:rPr>
              <a:t>Excel</a:t>
            </a:r>
          </a:p>
          <a:p>
            <a:pPr marL="285750" lvl="0" indent="-285750">
              <a:lnSpc>
                <a:spcPts val="1827"/>
              </a:lnSpc>
              <a:buFont typeface="Wingdings" panose="05000000000000000000" pitchFamily="2" charset="2"/>
              <a:buChar char="Ø"/>
            </a:pPr>
            <a:endParaRPr lang="en-IN" sz="2800" dirty="0">
              <a:solidFill>
                <a:schemeClr val="bg1"/>
              </a:solidFill>
            </a:endParaRPr>
          </a:p>
          <a:p>
            <a:pPr marL="285750" indent="-285750">
              <a:lnSpc>
                <a:spcPts val="1827"/>
              </a:lnSpc>
              <a:buFont typeface="Wingdings" panose="05000000000000000000" pitchFamily="2" charset="2"/>
              <a:buChar char="Ø"/>
            </a:pPr>
            <a:r>
              <a:rPr lang="en-IN" sz="2800" b="1" dirty="0">
                <a:solidFill>
                  <a:schemeClr val="bg1"/>
                </a:solidFill>
              </a:rPr>
              <a:t>Total Records: </a:t>
            </a:r>
            <a:r>
              <a:rPr lang="en-IN" sz="2800" dirty="0">
                <a:solidFill>
                  <a:schemeClr val="bg1"/>
                </a:solidFill>
              </a:rPr>
              <a:t>9500 + Restaurants</a:t>
            </a:r>
          </a:p>
          <a:p>
            <a:pPr marL="285750" indent="-285750">
              <a:lnSpc>
                <a:spcPts val="1827"/>
              </a:lnSpc>
              <a:buFont typeface="Wingdings" panose="05000000000000000000" pitchFamily="2" charset="2"/>
              <a:buChar char="Ø"/>
            </a:pPr>
            <a:endParaRPr lang="en-IN" sz="2400" dirty="0">
              <a:solidFill>
                <a:schemeClr val="bg1"/>
              </a:solidFill>
            </a:endParaRPr>
          </a:p>
          <a:p>
            <a:pPr marL="285750" indent="-285750">
              <a:lnSpc>
                <a:spcPts val="1827"/>
              </a:lnSpc>
              <a:buFont typeface="Wingdings" panose="05000000000000000000" pitchFamily="2" charset="2"/>
              <a:buChar char="Ø"/>
            </a:pPr>
            <a:r>
              <a:rPr lang="en-IN" sz="2400" b="1" dirty="0">
                <a:solidFill>
                  <a:schemeClr val="bg1"/>
                </a:solidFill>
              </a:rPr>
              <a:t>Data Description:  </a:t>
            </a:r>
            <a:r>
              <a:rPr lang="en-US" sz="2400" dirty="0">
                <a:solidFill>
                  <a:schemeClr val="bg1"/>
                </a:solidFill>
              </a:rPr>
              <a:t>The dataset contains detailed information about</a:t>
            </a:r>
          </a:p>
          <a:p>
            <a:pPr>
              <a:lnSpc>
                <a:spcPts val="1827"/>
              </a:lnSpc>
            </a:pPr>
            <a:r>
              <a:rPr lang="en-US" sz="2400" dirty="0">
                <a:solidFill>
                  <a:schemeClr val="bg1"/>
                </a:solidFill>
              </a:rPr>
              <a:t>   restaurants across multiple cities and countries, including their location, ratings, pricing, cuisines, and service features</a:t>
            </a:r>
            <a:r>
              <a:rPr lang="en-US" sz="2800" dirty="0">
                <a:solidFill>
                  <a:schemeClr val="bg1"/>
                </a:solidFill>
              </a:rPr>
              <a:t>.</a:t>
            </a:r>
          </a:p>
          <a:p>
            <a:pPr marL="285750" indent="-285750">
              <a:lnSpc>
                <a:spcPts val="1827"/>
              </a:lnSpc>
              <a:buFont typeface="Wingdings" panose="05000000000000000000" pitchFamily="2" charset="2"/>
              <a:buChar char="Ø"/>
            </a:pPr>
            <a:endParaRPr lang="en-US" sz="2800" dirty="0">
              <a:solidFill>
                <a:schemeClr val="bg1"/>
              </a:solidFill>
            </a:endParaRPr>
          </a:p>
          <a:p>
            <a:pPr marL="285750" indent="-285750">
              <a:lnSpc>
                <a:spcPts val="1827"/>
              </a:lnSpc>
              <a:buFont typeface="Wingdings" panose="05000000000000000000" pitchFamily="2" charset="2"/>
              <a:buChar char="Ø"/>
            </a:pPr>
            <a:r>
              <a:rPr lang="en-US" sz="2800" b="1" dirty="0">
                <a:solidFill>
                  <a:schemeClr val="bg1"/>
                </a:solidFill>
              </a:rPr>
              <a:t>Important Columns:</a:t>
            </a:r>
          </a:p>
          <a:p>
            <a:pPr marL="400050" lvl="1" indent="0">
              <a:buNone/>
            </a:pPr>
            <a:r>
              <a:rPr lang="en-US" sz="1900" dirty="0">
                <a:solidFill>
                  <a:schemeClr val="bg1"/>
                </a:solidFill>
              </a:rPr>
              <a:t> </a:t>
            </a:r>
            <a:r>
              <a:rPr lang="en-US" sz="2400" dirty="0">
                <a:solidFill>
                  <a:schemeClr val="bg1"/>
                </a:solidFill>
              </a:rPr>
              <a:t>City &amp; Country Code – Location details </a:t>
            </a:r>
          </a:p>
          <a:p>
            <a:pPr marL="400050" lvl="1" indent="0">
              <a:buNone/>
            </a:pPr>
            <a:r>
              <a:rPr lang="en-US" sz="2400" dirty="0">
                <a:solidFill>
                  <a:schemeClr val="bg1"/>
                </a:solidFill>
              </a:rPr>
              <a:t>Cuisines – Type of food served</a:t>
            </a:r>
          </a:p>
          <a:p>
            <a:pPr marL="400050" lvl="1" indent="0">
              <a:buNone/>
            </a:pPr>
            <a:r>
              <a:rPr lang="en-US" sz="2400" dirty="0">
                <a:solidFill>
                  <a:schemeClr val="bg1"/>
                </a:solidFill>
              </a:rPr>
              <a:t>Average Cost for two – Pricing Indicator </a:t>
            </a:r>
          </a:p>
          <a:p>
            <a:pPr marL="400050" lvl="1" indent="0">
              <a:buNone/>
            </a:pPr>
            <a:r>
              <a:rPr lang="en-US" sz="2400" dirty="0">
                <a:solidFill>
                  <a:schemeClr val="bg1"/>
                </a:solidFill>
              </a:rPr>
              <a:t>Aggregate Rating – Customer rating (0-5 scale)</a:t>
            </a:r>
          </a:p>
          <a:p>
            <a:pPr marL="400050" lvl="1" indent="0">
              <a:buNone/>
            </a:pPr>
            <a:r>
              <a:rPr lang="en-US" sz="2400" dirty="0">
                <a:solidFill>
                  <a:schemeClr val="bg1"/>
                </a:solidFill>
              </a:rPr>
              <a:t>Date Key – Used for time – based analysis</a:t>
            </a:r>
            <a:endParaRPr lang="en-IN" sz="2400" b="1" dirty="0">
              <a:solidFill>
                <a:schemeClr val="bg1"/>
              </a:solidFill>
            </a:endParaRPr>
          </a:p>
          <a:p>
            <a:pPr marL="285750" indent="-285750">
              <a:lnSpc>
                <a:spcPts val="1827"/>
              </a:lnSpc>
              <a:buFont typeface="Wingdings" panose="05000000000000000000" pitchFamily="2" charset="2"/>
              <a:buChar char="Ø"/>
            </a:pPr>
            <a:endParaRPr lang="en-US" dirty="0">
              <a:solidFill>
                <a:schemeClr val="bg1"/>
              </a:solidFill>
            </a:endParaRPr>
          </a:p>
          <a:p>
            <a:pPr marL="285750" indent="-285750">
              <a:lnSpc>
                <a:spcPts val="1827"/>
              </a:lnSpc>
              <a:buFont typeface="Wingdings" panose="05000000000000000000" pitchFamily="2" charset="2"/>
              <a:buChar char="Ø"/>
            </a:pPr>
            <a:endParaRPr lang="en-IN" dirty="0">
              <a:solidFill>
                <a:schemeClr val="bg1"/>
              </a:solidFill>
            </a:endParaRPr>
          </a:p>
        </p:txBody>
      </p:sp>
      <p:sp>
        <p:nvSpPr>
          <p:cNvPr id="31" name="Freeform 31"/>
          <p:cNvSpPr/>
          <p:nvPr/>
        </p:nvSpPr>
        <p:spPr>
          <a:xfrm>
            <a:off x="8517102" y="9167040"/>
            <a:ext cx="1498304" cy="182521"/>
          </a:xfrm>
          <a:custGeom>
            <a:avLst/>
            <a:gdLst/>
            <a:ahLst/>
            <a:cxnLst/>
            <a:rect l="l" t="t" r="r" b="b"/>
            <a:pathLst>
              <a:path w="1498304" h="182521">
                <a:moveTo>
                  <a:pt x="0" y="0"/>
                </a:moveTo>
                <a:lnTo>
                  <a:pt x="1498304" y="0"/>
                </a:lnTo>
                <a:lnTo>
                  <a:pt x="1498304" y="182520"/>
                </a:lnTo>
                <a:lnTo>
                  <a:pt x="0" y="18252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32" name="Freeform 32"/>
          <p:cNvSpPr/>
          <p:nvPr/>
        </p:nvSpPr>
        <p:spPr>
          <a:xfrm>
            <a:off x="-626898" y="464704"/>
            <a:ext cx="1498304" cy="182521"/>
          </a:xfrm>
          <a:custGeom>
            <a:avLst/>
            <a:gdLst/>
            <a:ahLst/>
            <a:cxnLst/>
            <a:rect l="l" t="t" r="r" b="b"/>
            <a:pathLst>
              <a:path w="1498304" h="182521">
                <a:moveTo>
                  <a:pt x="0" y="0"/>
                </a:moveTo>
                <a:lnTo>
                  <a:pt x="1498304" y="0"/>
                </a:lnTo>
                <a:lnTo>
                  <a:pt x="1498304" y="182520"/>
                </a:lnTo>
                <a:lnTo>
                  <a:pt x="0" y="18252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33" name="Freeform 33"/>
          <p:cNvSpPr/>
          <p:nvPr/>
        </p:nvSpPr>
        <p:spPr>
          <a:xfrm>
            <a:off x="11969490" y="2202939"/>
            <a:ext cx="1081704" cy="845696"/>
          </a:xfrm>
          <a:custGeom>
            <a:avLst/>
            <a:gdLst/>
            <a:ahLst/>
            <a:cxnLst/>
            <a:rect l="l" t="t" r="r" b="b"/>
            <a:pathLst>
              <a:path w="1081704" h="845696">
                <a:moveTo>
                  <a:pt x="0" y="0"/>
                </a:moveTo>
                <a:lnTo>
                  <a:pt x="1081704" y="0"/>
                </a:lnTo>
                <a:lnTo>
                  <a:pt x="1081704" y="845696"/>
                </a:lnTo>
                <a:lnTo>
                  <a:pt x="0" y="84569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rot="-10800000" flipV="1">
            <a:off x="12876469" y="1265598"/>
            <a:ext cx="9089382" cy="9089382"/>
          </a:xfrm>
          <a:custGeom>
            <a:avLst/>
            <a:gdLst/>
            <a:ahLst/>
            <a:cxnLst/>
            <a:rect l="l" t="t" r="r" b="b"/>
            <a:pathLst>
              <a:path w="9089382" h="9089382">
                <a:moveTo>
                  <a:pt x="0" y="9089383"/>
                </a:moveTo>
                <a:lnTo>
                  <a:pt x="9089382" y="9089383"/>
                </a:lnTo>
                <a:lnTo>
                  <a:pt x="9089382" y="0"/>
                </a:lnTo>
                <a:lnTo>
                  <a:pt x="0" y="0"/>
                </a:lnTo>
                <a:lnTo>
                  <a:pt x="0" y="9089383"/>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p:cNvSpPr/>
          <p:nvPr/>
        </p:nvSpPr>
        <p:spPr>
          <a:xfrm rot="-10800000" flipH="1" flipV="1">
            <a:off x="-3677851" y="1488169"/>
            <a:ext cx="9089382" cy="9089382"/>
          </a:xfrm>
          <a:custGeom>
            <a:avLst/>
            <a:gdLst/>
            <a:ahLst/>
            <a:cxnLst/>
            <a:rect l="l" t="t" r="r" b="b"/>
            <a:pathLst>
              <a:path w="9089382" h="9089382">
                <a:moveTo>
                  <a:pt x="9089382" y="9089382"/>
                </a:moveTo>
                <a:lnTo>
                  <a:pt x="0" y="9089382"/>
                </a:lnTo>
                <a:lnTo>
                  <a:pt x="0" y="0"/>
                </a:lnTo>
                <a:lnTo>
                  <a:pt x="9089382" y="0"/>
                </a:lnTo>
                <a:lnTo>
                  <a:pt x="9089382" y="908938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5" name="AutoShape 5"/>
          <p:cNvSpPr/>
          <p:nvPr/>
        </p:nvSpPr>
        <p:spPr>
          <a:xfrm>
            <a:off x="4980199" y="3200299"/>
            <a:ext cx="8327602" cy="0"/>
          </a:xfrm>
          <a:prstGeom prst="line">
            <a:avLst/>
          </a:prstGeom>
          <a:ln w="38100" cap="flat">
            <a:solidFill>
              <a:srgbClr val="C02519"/>
            </a:solidFill>
            <a:prstDash val="solid"/>
            <a:headEnd type="none" w="sm" len="sm"/>
            <a:tailEnd type="none" w="sm" len="sm"/>
          </a:ln>
        </p:spPr>
        <p:txBody>
          <a:bodyPr/>
          <a:lstStyle/>
          <a:p>
            <a:endParaRPr lang="en-IN"/>
          </a:p>
        </p:txBody>
      </p:sp>
      <p:sp>
        <p:nvSpPr>
          <p:cNvPr id="6" name="Freeform 6"/>
          <p:cNvSpPr/>
          <p:nvPr/>
        </p:nvSpPr>
        <p:spPr>
          <a:xfrm>
            <a:off x="713667" y="846179"/>
            <a:ext cx="1498304" cy="182521"/>
          </a:xfrm>
          <a:custGeom>
            <a:avLst/>
            <a:gdLst/>
            <a:ahLst/>
            <a:cxnLst/>
            <a:rect l="l" t="t" r="r" b="b"/>
            <a:pathLst>
              <a:path w="1498304" h="182521">
                <a:moveTo>
                  <a:pt x="0" y="0"/>
                </a:moveTo>
                <a:lnTo>
                  <a:pt x="1498303" y="0"/>
                </a:lnTo>
                <a:lnTo>
                  <a:pt x="1498303" y="182521"/>
                </a:lnTo>
                <a:lnTo>
                  <a:pt x="0" y="1825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p:cNvSpPr/>
          <p:nvPr/>
        </p:nvSpPr>
        <p:spPr>
          <a:xfrm>
            <a:off x="16459593" y="588746"/>
            <a:ext cx="2681007" cy="2096060"/>
          </a:xfrm>
          <a:custGeom>
            <a:avLst/>
            <a:gdLst/>
            <a:ahLst/>
            <a:cxnLst/>
            <a:rect l="l" t="t" r="r" b="b"/>
            <a:pathLst>
              <a:path w="2681007" h="2096060">
                <a:moveTo>
                  <a:pt x="0" y="0"/>
                </a:moveTo>
                <a:lnTo>
                  <a:pt x="2681007" y="0"/>
                </a:lnTo>
                <a:lnTo>
                  <a:pt x="2681007" y="2096059"/>
                </a:lnTo>
                <a:lnTo>
                  <a:pt x="0" y="209605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9" name="Freeform 9"/>
          <p:cNvSpPr/>
          <p:nvPr/>
        </p:nvSpPr>
        <p:spPr>
          <a:xfrm>
            <a:off x="-311803" y="1636776"/>
            <a:ext cx="1340503" cy="1048030"/>
          </a:xfrm>
          <a:custGeom>
            <a:avLst/>
            <a:gdLst/>
            <a:ahLst/>
            <a:cxnLst/>
            <a:rect l="l" t="t" r="r" b="b"/>
            <a:pathLst>
              <a:path w="1340503" h="1048030">
                <a:moveTo>
                  <a:pt x="0" y="0"/>
                </a:moveTo>
                <a:lnTo>
                  <a:pt x="1340503" y="0"/>
                </a:lnTo>
                <a:lnTo>
                  <a:pt x="1340503" y="1048029"/>
                </a:lnTo>
                <a:lnTo>
                  <a:pt x="0" y="104802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grpSp>
        <p:nvGrpSpPr>
          <p:cNvPr id="10" name="Group 10"/>
          <p:cNvGrpSpPr/>
          <p:nvPr/>
        </p:nvGrpSpPr>
        <p:grpSpPr>
          <a:xfrm>
            <a:off x="8272594" y="5213943"/>
            <a:ext cx="1742812" cy="1995969"/>
            <a:chOff x="0" y="-66675"/>
            <a:chExt cx="459012" cy="525687"/>
          </a:xfrm>
        </p:grpSpPr>
        <p:sp>
          <p:nvSpPr>
            <p:cNvPr id="11" name="Freeform 11"/>
            <p:cNvSpPr/>
            <p:nvPr/>
          </p:nvSpPr>
          <p:spPr>
            <a:xfrm>
              <a:off x="0" y="0"/>
              <a:ext cx="459012" cy="459012"/>
            </a:xfrm>
            <a:custGeom>
              <a:avLst/>
              <a:gdLst/>
              <a:ahLst/>
              <a:cxnLst/>
              <a:rect l="l" t="t" r="r" b="b"/>
              <a:pathLst>
                <a:path w="459012" h="459012">
                  <a:moveTo>
                    <a:pt x="48864" y="0"/>
                  </a:moveTo>
                  <a:lnTo>
                    <a:pt x="410148" y="0"/>
                  </a:lnTo>
                  <a:cubicBezTo>
                    <a:pt x="423108" y="0"/>
                    <a:pt x="435536" y="5148"/>
                    <a:pt x="444700" y="14312"/>
                  </a:cubicBezTo>
                  <a:cubicBezTo>
                    <a:pt x="453864" y="23476"/>
                    <a:pt x="459012" y="35905"/>
                    <a:pt x="459012" y="48864"/>
                  </a:cubicBezTo>
                  <a:lnTo>
                    <a:pt x="459012" y="410148"/>
                  </a:lnTo>
                  <a:cubicBezTo>
                    <a:pt x="459012" y="437135"/>
                    <a:pt x="437135" y="459012"/>
                    <a:pt x="410148" y="459012"/>
                  </a:cubicBezTo>
                  <a:lnTo>
                    <a:pt x="48864" y="459012"/>
                  </a:lnTo>
                  <a:cubicBezTo>
                    <a:pt x="21877" y="459012"/>
                    <a:pt x="0" y="437135"/>
                    <a:pt x="0" y="410148"/>
                  </a:cubicBezTo>
                  <a:lnTo>
                    <a:pt x="0" y="48864"/>
                  </a:lnTo>
                  <a:cubicBezTo>
                    <a:pt x="0" y="21877"/>
                    <a:pt x="21877" y="0"/>
                    <a:pt x="48864" y="0"/>
                  </a:cubicBezTo>
                  <a:close/>
                </a:path>
              </a:pathLst>
            </a:custGeom>
            <a:solidFill>
              <a:srgbClr val="D73125"/>
            </a:solidFill>
          </p:spPr>
          <p:txBody>
            <a:bodyPr/>
            <a:lstStyle/>
            <a:p>
              <a:endParaRPr lang="en-IN"/>
            </a:p>
          </p:txBody>
        </p:sp>
        <p:sp>
          <p:nvSpPr>
            <p:cNvPr id="12" name="TextBox 12"/>
            <p:cNvSpPr txBox="1"/>
            <p:nvPr/>
          </p:nvSpPr>
          <p:spPr>
            <a:xfrm>
              <a:off x="0" y="-66675"/>
              <a:ext cx="459012" cy="525687"/>
            </a:xfrm>
            <a:prstGeom prst="rect">
              <a:avLst/>
            </a:prstGeom>
          </p:spPr>
          <p:txBody>
            <a:bodyPr lIns="50800" tIns="50800" rIns="50800" bIns="50800" rtlCol="0" anchor="ctr"/>
            <a:lstStyle/>
            <a:p>
              <a:pPr marL="0" lvl="0" indent="0" algn="ctr">
                <a:lnSpc>
                  <a:spcPts val="2800"/>
                </a:lnSpc>
              </a:pPr>
              <a:endParaRPr/>
            </a:p>
          </p:txBody>
        </p:sp>
      </p:grpSp>
      <p:grpSp>
        <p:nvGrpSpPr>
          <p:cNvPr id="13" name="Group 13"/>
          <p:cNvGrpSpPr/>
          <p:nvPr/>
        </p:nvGrpSpPr>
        <p:grpSpPr>
          <a:xfrm>
            <a:off x="5072020" y="5467100"/>
            <a:ext cx="1742812" cy="1742812"/>
            <a:chOff x="0" y="0"/>
            <a:chExt cx="459012" cy="459012"/>
          </a:xfrm>
        </p:grpSpPr>
        <p:sp>
          <p:nvSpPr>
            <p:cNvPr id="14" name="Freeform 14"/>
            <p:cNvSpPr/>
            <p:nvPr/>
          </p:nvSpPr>
          <p:spPr>
            <a:xfrm>
              <a:off x="0" y="0"/>
              <a:ext cx="459012" cy="459012"/>
            </a:xfrm>
            <a:custGeom>
              <a:avLst/>
              <a:gdLst/>
              <a:ahLst/>
              <a:cxnLst/>
              <a:rect l="l" t="t" r="r" b="b"/>
              <a:pathLst>
                <a:path w="459012" h="459012">
                  <a:moveTo>
                    <a:pt x="48864" y="0"/>
                  </a:moveTo>
                  <a:lnTo>
                    <a:pt x="410148" y="0"/>
                  </a:lnTo>
                  <a:cubicBezTo>
                    <a:pt x="423108" y="0"/>
                    <a:pt x="435536" y="5148"/>
                    <a:pt x="444700" y="14312"/>
                  </a:cubicBezTo>
                  <a:cubicBezTo>
                    <a:pt x="453864" y="23476"/>
                    <a:pt x="459012" y="35905"/>
                    <a:pt x="459012" y="48864"/>
                  </a:cubicBezTo>
                  <a:lnTo>
                    <a:pt x="459012" y="410148"/>
                  </a:lnTo>
                  <a:cubicBezTo>
                    <a:pt x="459012" y="437135"/>
                    <a:pt x="437135" y="459012"/>
                    <a:pt x="410148" y="459012"/>
                  </a:cubicBezTo>
                  <a:lnTo>
                    <a:pt x="48864" y="459012"/>
                  </a:lnTo>
                  <a:cubicBezTo>
                    <a:pt x="21877" y="459012"/>
                    <a:pt x="0" y="437135"/>
                    <a:pt x="0" y="410148"/>
                  </a:cubicBezTo>
                  <a:lnTo>
                    <a:pt x="0" y="48864"/>
                  </a:lnTo>
                  <a:cubicBezTo>
                    <a:pt x="0" y="21877"/>
                    <a:pt x="21877" y="0"/>
                    <a:pt x="48864" y="0"/>
                  </a:cubicBezTo>
                  <a:close/>
                </a:path>
              </a:pathLst>
            </a:custGeom>
            <a:solidFill>
              <a:srgbClr val="D73125"/>
            </a:solidFill>
          </p:spPr>
          <p:txBody>
            <a:bodyPr/>
            <a:lstStyle/>
            <a:p>
              <a:endParaRPr lang="en-IN"/>
            </a:p>
          </p:txBody>
        </p:sp>
        <p:sp>
          <p:nvSpPr>
            <p:cNvPr id="15" name="TextBox 15"/>
            <p:cNvSpPr txBox="1"/>
            <p:nvPr/>
          </p:nvSpPr>
          <p:spPr>
            <a:xfrm>
              <a:off x="0" y="-66675"/>
              <a:ext cx="459012" cy="525687"/>
            </a:xfrm>
            <a:prstGeom prst="rect">
              <a:avLst/>
            </a:prstGeom>
          </p:spPr>
          <p:txBody>
            <a:bodyPr lIns="50800" tIns="50800" rIns="50800" bIns="50800" rtlCol="0" anchor="ctr"/>
            <a:lstStyle/>
            <a:p>
              <a:pPr marL="0" lvl="0" indent="0" algn="ctr">
                <a:lnSpc>
                  <a:spcPts val="2800"/>
                </a:lnSpc>
              </a:pPr>
              <a:endParaRPr/>
            </a:p>
          </p:txBody>
        </p:sp>
      </p:grpSp>
      <p:grpSp>
        <p:nvGrpSpPr>
          <p:cNvPr id="16" name="Group 16"/>
          <p:cNvGrpSpPr/>
          <p:nvPr/>
        </p:nvGrpSpPr>
        <p:grpSpPr>
          <a:xfrm>
            <a:off x="14425655" y="5467100"/>
            <a:ext cx="1742812" cy="1742812"/>
            <a:chOff x="0" y="0"/>
            <a:chExt cx="459012" cy="459012"/>
          </a:xfrm>
        </p:grpSpPr>
        <p:sp>
          <p:nvSpPr>
            <p:cNvPr id="17" name="Freeform 17"/>
            <p:cNvSpPr/>
            <p:nvPr/>
          </p:nvSpPr>
          <p:spPr>
            <a:xfrm>
              <a:off x="0" y="0"/>
              <a:ext cx="459012" cy="459012"/>
            </a:xfrm>
            <a:custGeom>
              <a:avLst/>
              <a:gdLst/>
              <a:ahLst/>
              <a:cxnLst/>
              <a:rect l="l" t="t" r="r" b="b"/>
              <a:pathLst>
                <a:path w="459012" h="459012">
                  <a:moveTo>
                    <a:pt x="48864" y="0"/>
                  </a:moveTo>
                  <a:lnTo>
                    <a:pt x="410148" y="0"/>
                  </a:lnTo>
                  <a:cubicBezTo>
                    <a:pt x="423108" y="0"/>
                    <a:pt x="435536" y="5148"/>
                    <a:pt x="444700" y="14312"/>
                  </a:cubicBezTo>
                  <a:cubicBezTo>
                    <a:pt x="453864" y="23476"/>
                    <a:pt x="459012" y="35905"/>
                    <a:pt x="459012" y="48864"/>
                  </a:cubicBezTo>
                  <a:lnTo>
                    <a:pt x="459012" y="410148"/>
                  </a:lnTo>
                  <a:cubicBezTo>
                    <a:pt x="459012" y="437135"/>
                    <a:pt x="437135" y="459012"/>
                    <a:pt x="410148" y="459012"/>
                  </a:cubicBezTo>
                  <a:lnTo>
                    <a:pt x="48864" y="459012"/>
                  </a:lnTo>
                  <a:cubicBezTo>
                    <a:pt x="21877" y="459012"/>
                    <a:pt x="0" y="437135"/>
                    <a:pt x="0" y="410148"/>
                  </a:cubicBezTo>
                  <a:lnTo>
                    <a:pt x="0" y="48864"/>
                  </a:lnTo>
                  <a:cubicBezTo>
                    <a:pt x="0" y="21877"/>
                    <a:pt x="21877" y="0"/>
                    <a:pt x="48864" y="0"/>
                  </a:cubicBezTo>
                  <a:close/>
                </a:path>
              </a:pathLst>
            </a:custGeom>
            <a:solidFill>
              <a:srgbClr val="D73125"/>
            </a:solidFill>
          </p:spPr>
          <p:txBody>
            <a:bodyPr/>
            <a:lstStyle/>
            <a:p>
              <a:endParaRPr lang="en-IN"/>
            </a:p>
          </p:txBody>
        </p:sp>
        <p:sp>
          <p:nvSpPr>
            <p:cNvPr id="18" name="TextBox 18"/>
            <p:cNvSpPr txBox="1"/>
            <p:nvPr/>
          </p:nvSpPr>
          <p:spPr>
            <a:xfrm>
              <a:off x="0" y="-66675"/>
              <a:ext cx="459012" cy="525687"/>
            </a:xfrm>
            <a:prstGeom prst="rect">
              <a:avLst/>
            </a:prstGeom>
          </p:spPr>
          <p:txBody>
            <a:bodyPr lIns="50800" tIns="50800" rIns="50800" bIns="50800" rtlCol="0" anchor="ctr"/>
            <a:lstStyle/>
            <a:p>
              <a:pPr marL="0" lvl="0" indent="0" algn="ctr">
                <a:lnSpc>
                  <a:spcPts val="2800"/>
                </a:lnSpc>
              </a:pPr>
              <a:endParaRPr/>
            </a:p>
          </p:txBody>
        </p:sp>
      </p:grpSp>
      <p:grpSp>
        <p:nvGrpSpPr>
          <p:cNvPr id="19" name="Group 19"/>
          <p:cNvGrpSpPr/>
          <p:nvPr/>
        </p:nvGrpSpPr>
        <p:grpSpPr>
          <a:xfrm>
            <a:off x="1871447" y="5467100"/>
            <a:ext cx="1742812" cy="1742812"/>
            <a:chOff x="0" y="0"/>
            <a:chExt cx="459012" cy="459012"/>
          </a:xfrm>
        </p:grpSpPr>
        <p:sp>
          <p:nvSpPr>
            <p:cNvPr id="20" name="Freeform 20"/>
            <p:cNvSpPr/>
            <p:nvPr/>
          </p:nvSpPr>
          <p:spPr>
            <a:xfrm>
              <a:off x="0" y="0"/>
              <a:ext cx="459012" cy="459012"/>
            </a:xfrm>
            <a:custGeom>
              <a:avLst/>
              <a:gdLst/>
              <a:ahLst/>
              <a:cxnLst/>
              <a:rect l="l" t="t" r="r" b="b"/>
              <a:pathLst>
                <a:path w="459012" h="459012">
                  <a:moveTo>
                    <a:pt x="48864" y="0"/>
                  </a:moveTo>
                  <a:lnTo>
                    <a:pt x="410148" y="0"/>
                  </a:lnTo>
                  <a:cubicBezTo>
                    <a:pt x="423108" y="0"/>
                    <a:pt x="435536" y="5148"/>
                    <a:pt x="444700" y="14312"/>
                  </a:cubicBezTo>
                  <a:cubicBezTo>
                    <a:pt x="453864" y="23476"/>
                    <a:pt x="459012" y="35905"/>
                    <a:pt x="459012" y="48864"/>
                  </a:cubicBezTo>
                  <a:lnTo>
                    <a:pt x="459012" y="410148"/>
                  </a:lnTo>
                  <a:cubicBezTo>
                    <a:pt x="459012" y="437135"/>
                    <a:pt x="437135" y="459012"/>
                    <a:pt x="410148" y="459012"/>
                  </a:cubicBezTo>
                  <a:lnTo>
                    <a:pt x="48864" y="459012"/>
                  </a:lnTo>
                  <a:cubicBezTo>
                    <a:pt x="21877" y="459012"/>
                    <a:pt x="0" y="437135"/>
                    <a:pt x="0" y="410148"/>
                  </a:cubicBezTo>
                  <a:lnTo>
                    <a:pt x="0" y="48864"/>
                  </a:lnTo>
                  <a:cubicBezTo>
                    <a:pt x="0" y="21877"/>
                    <a:pt x="21877" y="0"/>
                    <a:pt x="48864" y="0"/>
                  </a:cubicBezTo>
                  <a:close/>
                </a:path>
              </a:pathLst>
            </a:custGeom>
            <a:solidFill>
              <a:srgbClr val="D73125"/>
            </a:solidFill>
          </p:spPr>
          <p:txBody>
            <a:bodyPr/>
            <a:lstStyle/>
            <a:p>
              <a:endParaRPr lang="en-IN"/>
            </a:p>
          </p:txBody>
        </p:sp>
        <p:sp>
          <p:nvSpPr>
            <p:cNvPr id="21" name="TextBox 21"/>
            <p:cNvSpPr txBox="1"/>
            <p:nvPr/>
          </p:nvSpPr>
          <p:spPr>
            <a:xfrm>
              <a:off x="0" y="-66675"/>
              <a:ext cx="459012" cy="525687"/>
            </a:xfrm>
            <a:prstGeom prst="rect">
              <a:avLst/>
            </a:prstGeom>
          </p:spPr>
          <p:txBody>
            <a:bodyPr lIns="50800" tIns="50800" rIns="50800" bIns="50800" rtlCol="0" anchor="ctr"/>
            <a:lstStyle/>
            <a:p>
              <a:pPr marL="0" lvl="0" indent="0" algn="ctr">
                <a:lnSpc>
                  <a:spcPts val="2800"/>
                </a:lnSpc>
              </a:pPr>
              <a:endParaRPr/>
            </a:p>
          </p:txBody>
        </p:sp>
      </p:grpSp>
      <p:grpSp>
        <p:nvGrpSpPr>
          <p:cNvPr id="22" name="Group 22"/>
          <p:cNvGrpSpPr/>
          <p:nvPr/>
        </p:nvGrpSpPr>
        <p:grpSpPr>
          <a:xfrm>
            <a:off x="11225081" y="5467100"/>
            <a:ext cx="1742812" cy="1742812"/>
            <a:chOff x="0" y="0"/>
            <a:chExt cx="459012" cy="459012"/>
          </a:xfrm>
        </p:grpSpPr>
        <p:sp>
          <p:nvSpPr>
            <p:cNvPr id="23" name="Freeform 23"/>
            <p:cNvSpPr/>
            <p:nvPr/>
          </p:nvSpPr>
          <p:spPr>
            <a:xfrm>
              <a:off x="0" y="0"/>
              <a:ext cx="459012" cy="459012"/>
            </a:xfrm>
            <a:custGeom>
              <a:avLst/>
              <a:gdLst/>
              <a:ahLst/>
              <a:cxnLst/>
              <a:rect l="l" t="t" r="r" b="b"/>
              <a:pathLst>
                <a:path w="459012" h="459012">
                  <a:moveTo>
                    <a:pt x="48864" y="0"/>
                  </a:moveTo>
                  <a:lnTo>
                    <a:pt x="410148" y="0"/>
                  </a:lnTo>
                  <a:cubicBezTo>
                    <a:pt x="423108" y="0"/>
                    <a:pt x="435536" y="5148"/>
                    <a:pt x="444700" y="14312"/>
                  </a:cubicBezTo>
                  <a:cubicBezTo>
                    <a:pt x="453864" y="23476"/>
                    <a:pt x="459012" y="35905"/>
                    <a:pt x="459012" y="48864"/>
                  </a:cubicBezTo>
                  <a:lnTo>
                    <a:pt x="459012" y="410148"/>
                  </a:lnTo>
                  <a:cubicBezTo>
                    <a:pt x="459012" y="437135"/>
                    <a:pt x="437135" y="459012"/>
                    <a:pt x="410148" y="459012"/>
                  </a:cubicBezTo>
                  <a:lnTo>
                    <a:pt x="48864" y="459012"/>
                  </a:lnTo>
                  <a:cubicBezTo>
                    <a:pt x="21877" y="459012"/>
                    <a:pt x="0" y="437135"/>
                    <a:pt x="0" y="410148"/>
                  </a:cubicBezTo>
                  <a:lnTo>
                    <a:pt x="0" y="48864"/>
                  </a:lnTo>
                  <a:cubicBezTo>
                    <a:pt x="0" y="21877"/>
                    <a:pt x="21877" y="0"/>
                    <a:pt x="48864" y="0"/>
                  </a:cubicBezTo>
                  <a:close/>
                </a:path>
              </a:pathLst>
            </a:custGeom>
            <a:solidFill>
              <a:srgbClr val="D73125"/>
            </a:solidFill>
          </p:spPr>
          <p:txBody>
            <a:bodyPr/>
            <a:lstStyle/>
            <a:p>
              <a:endParaRPr lang="en-IN"/>
            </a:p>
          </p:txBody>
        </p:sp>
        <p:sp>
          <p:nvSpPr>
            <p:cNvPr id="24" name="TextBox 24"/>
            <p:cNvSpPr txBox="1"/>
            <p:nvPr/>
          </p:nvSpPr>
          <p:spPr>
            <a:xfrm>
              <a:off x="0" y="-66675"/>
              <a:ext cx="459012" cy="525687"/>
            </a:xfrm>
            <a:prstGeom prst="rect">
              <a:avLst/>
            </a:prstGeom>
          </p:spPr>
          <p:txBody>
            <a:bodyPr lIns="50800" tIns="50800" rIns="50800" bIns="50800" rtlCol="0" anchor="ctr"/>
            <a:lstStyle/>
            <a:p>
              <a:pPr marL="0" lvl="0" indent="0" algn="ctr">
                <a:lnSpc>
                  <a:spcPts val="2800"/>
                </a:lnSpc>
              </a:pPr>
              <a:endParaRPr/>
            </a:p>
          </p:txBody>
        </p:sp>
      </p:grpSp>
      <p:sp>
        <p:nvSpPr>
          <p:cNvPr id="25" name="Freeform 25"/>
          <p:cNvSpPr/>
          <p:nvPr/>
        </p:nvSpPr>
        <p:spPr>
          <a:xfrm>
            <a:off x="2265397" y="5983452"/>
            <a:ext cx="954912" cy="710107"/>
          </a:xfrm>
          <a:custGeom>
            <a:avLst/>
            <a:gdLst/>
            <a:ahLst/>
            <a:cxnLst/>
            <a:rect l="l" t="t" r="r" b="b"/>
            <a:pathLst>
              <a:path w="954912" h="710107">
                <a:moveTo>
                  <a:pt x="0" y="0"/>
                </a:moveTo>
                <a:lnTo>
                  <a:pt x="954912" y="0"/>
                </a:lnTo>
                <a:lnTo>
                  <a:pt x="954912" y="710108"/>
                </a:lnTo>
                <a:lnTo>
                  <a:pt x="0" y="71010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26" name="Freeform 26"/>
          <p:cNvSpPr/>
          <p:nvPr/>
        </p:nvSpPr>
        <p:spPr>
          <a:xfrm>
            <a:off x="5330660" y="6045141"/>
            <a:ext cx="1225534" cy="648419"/>
          </a:xfrm>
          <a:custGeom>
            <a:avLst/>
            <a:gdLst/>
            <a:ahLst/>
            <a:cxnLst/>
            <a:rect l="l" t="t" r="r" b="b"/>
            <a:pathLst>
              <a:path w="1225534" h="648419">
                <a:moveTo>
                  <a:pt x="0" y="0"/>
                </a:moveTo>
                <a:lnTo>
                  <a:pt x="1225533" y="0"/>
                </a:lnTo>
                <a:lnTo>
                  <a:pt x="1225533" y="648419"/>
                </a:lnTo>
                <a:lnTo>
                  <a:pt x="0" y="64841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p>
        </p:txBody>
      </p:sp>
      <p:sp>
        <p:nvSpPr>
          <p:cNvPr id="27" name="Freeform 27"/>
          <p:cNvSpPr/>
          <p:nvPr/>
        </p:nvSpPr>
        <p:spPr>
          <a:xfrm>
            <a:off x="8611452" y="5805959"/>
            <a:ext cx="1065095" cy="1065095"/>
          </a:xfrm>
          <a:custGeom>
            <a:avLst/>
            <a:gdLst/>
            <a:ahLst/>
            <a:cxnLst/>
            <a:rect l="l" t="t" r="r" b="b"/>
            <a:pathLst>
              <a:path w="1065095" h="1065095">
                <a:moveTo>
                  <a:pt x="0" y="0"/>
                </a:moveTo>
                <a:lnTo>
                  <a:pt x="1065096" y="0"/>
                </a:lnTo>
                <a:lnTo>
                  <a:pt x="1065096" y="1065095"/>
                </a:lnTo>
                <a:lnTo>
                  <a:pt x="0" y="1065095"/>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IN"/>
          </a:p>
        </p:txBody>
      </p:sp>
      <p:sp>
        <p:nvSpPr>
          <p:cNvPr id="28" name="Freeform 28"/>
          <p:cNvSpPr/>
          <p:nvPr/>
        </p:nvSpPr>
        <p:spPr>
          <a:xfrm>
            <a:off x="11545908" y="5838792"/>
            <a:ext cx="1101158" cy="1061116"/>
          </a:xfrm>
          <a:custGeom>
            <a:avLst/>
            <a:gdLst/>
            <a:ahLst/>
            <a:cxnLst/>
            <a:rect l="l" t="t" r="r" b="b"/>
            <a:pathLst>
              <a:path w="1101158" h="1061116">
                <a:moveTo>
                  <a:pt x="0" y="0"/>
                </a:moveTo>
                <a:lnTo>
                  <a:pt x="1101159" y="0"/>
                </a:lnTo>
                <a:lnTo>
                  <a:pt x="1101159" y="1061117"/>
                </a:lnTo>
                <a:lnTo>
                  <a:pt x="0" y="1061117"/>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IN"/>
          </a:p>
        </p:txBody>
      </p:sp>
      <p:sp>
        <p:nvSpPr>
          <p:cNvPr id="29" name="Freeform 29"/>
          <p:cNvSpPr/>
          <p:nvPr/>
        </p:nvSpPr>
        <p:spPr>
          <a:xfrm>
            <a:off x="14868242" y="5750351"/>
            <a:ext cx="857637" cy="1176310"/>
          </a:xfrm>
          <a:custGeom>
            <a:avLst/>
            <a:gdLst/>
            <a:ahLst/>
            <a:cxnLst/>
            <a:rect l="l" t="t" r="r" b="b"/>
            <a:pathLst>
              <a:path w="857637" h="1176310">
                <a:moveTo>
                  <a:pt x="0" y="0"/>
                </a:moveTo>
                <a:lnTo>
                  <a:pt x="857637" y="0"/>
                </a:lnTo>
                <a:lnTo>
                  <a:pt x="857637" y="1176310"/>
                </a:lnTo>
                <a:lnTo>
                  <a:pt x="0" y="1176310"/>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IN" dirty="0"/>
          </a:p>
        </p:txBody>
      </p:sp>
      <p:sp>
        <p:nvSpPr>
          <p:cNvPr id="30" name="TextBox 30"/>
          <p:cNvSpPr txBox="1"/>
          <p:nvPr/>
        </p:nvSpPr>
        <p:spPr>
          <a:xfrm>
            <a:off x="2211970" y="2003953"/>
            <a:ext cx="13864059" cy="870714"/>
          </a:xfrm>
          <a:prstGeom prst="rect">
            <a:avLst/>
          </a:prstGeom>
        </p:spPr>
        <p:txBody>
          <a:bodyPr lIns="0" tIns="0" rIns="0" bIns="0" rtlCol="0" anchor="t">
            <a:spAutoFit/>
          </a:bodyPr>
          <a:lstStyle/>
          <a:p>
            <a:pPr marL="0" lvl="0" indent="0" algn="ctr">
              <a:lnSpc>
                <a:spcPts val="5943"/>
              </a:lnSpc>
            </a:pPr>
            <a:r>
              <a:rPr lang="en-US" sz="6603" b="1">
                <a:solidFill>
                  <a:srgbClr val="100302"/>
                </a:solidFill>
                <a:latin typeface="Poppins Semi-Bold"/>
                <a:ea typeface="Poppins Semi-Bold"/>
                <a:cs typeface="Poppins Semi-Bold"/>
                <a:sym typeface="Poppins Semi-Bold"/>
              </a:rPr>
              <a:t>Project Objectives</a:t>
            </a:r>
          </a:p>
        </p:txBody>
      </p:sp>
      <p:sp>
        <p:nvSpPr>
          <p:cNvPr id="32" name="TextBox 32"/>
          <p:cNvSpPr txBox="1"/>
          <p:nvPr/>
        </p:nvSpPr>
        <p:spPr>
          <a:xfrm>
            <a:off x="2063907" y="3529864"/>
            <a:ext cx="14012122" cy="929019"/>
          </a:xfrm>
          <a:prstGeom prst="rect">
            <a:avLst/>
          </a:prstGeom>
        </p:spPr>
        <p:txBody>
          <a:bodyPr lIns="0" tIns="0" rIns="0" bIns="0" rtlCol="0" anchor="t">
            <a:spAutoFit/>
          </a:bodyPr>
          <a:lstStyle/>
          <a:p>
            <a:pPr marL="0" lvl="0" indent="0" algn="ctr">
              <a:lnSpc>
                <a:spcPts val="2403"/>
              </a:lnSpc>
            </a:pPr>
            <a:r>
              <a:rPr lang="en-US" sz="1848" spc="27">
                <a:solidFill>
                  <a:srgbClr val="100302"/>
                </a:solidFill>
                <a:latin typeface="Poppins"/>
                <a:ea typeface="Poppins"/>
                <a:cs typeface="Poppins"/>
                <a:sym typeface="Poppins"/>
              </a:rPr>
              <a:t>The Zomato Restaurant Analytics Dashboard aims to deliver actionable insights from restaurant data, enabling data-driven decisions. The following core objectives guide the development and implementation of this analytics solution.</a:t>
            </a:r>
          </a:p>
        </p:txBody>
      </p:sp>
      <p:sp>
        <p:nvSpPr>
          <p:cNvPr id="33" name="TextBox 33"/>
          <p:cNvSpPr txBox="1"/>
          <p:nvPr/>
        </p:nvSpPr>
        <p:spPr>
          <a:xfrm>
            <a:off x="1467032" y="7413243"/>
            <a:ext cx="2551642" cy="679132"/>
          </a:xfrm>
          <a:prstGeom prst="rect">
            <a:avLst/>
          </a:prstGeom>
        </p:spPr>
        <p:txBody>
          <a:bodyPr lIns="0" tIns="0" rIns="0" bIns="0" rtlCol="0" anchor="t">
            <a:spAutoFit/>
          </a:bodyPr>
          <a:lstStyle/>
          <a:p>
            <a:pPr marL="0" lvl="0" indent="0" algn="ctr">
              <a:lnSpc>
                <a:spcPts val="2632"/>
              </a:lnSpc>
            </a:pPr>
            <a:r>
              <a:rPr lang="en-US" sz="2025" b="1" spc="30">
                <a:solidFill>
                  <a:srgbClr val="100302"/>
                </a:solidFill>
                <a:latin typeface="Poppins Medium"/>
                <a:ea typeface="Poppins Medium"/>
                <a:cs typeface="Poppins Medium"/>
                <a:sym typeface="Poppins Medium"/>
              </a:rPr>
              <a:t>Data Cleaning &amp; Preparation</a:t>
            </a:r>
          </a:p>
        </p:txBody>
      </p:sp>
      <p:sp>
        <p:nvSpPr>
          <p:cNvPr id="34" name="TextBox 34"/>
          <p:cNvSpPr txBox="1"/>
          <p:nvPr/>
        </p:nvSpPr>
        <p:spPr>
          <a:xfrm>
            <a:off x="4667605" y="7413243"/>
            <a:ext cx="2551642" cy="679132"/>
          </a:xfrm>
          <a:prstGeom prst="rect">
            <a:avLst/>
          </a:prstGeom>
        </p:spPr>
        <p:txBody>
          <a:bodyPr lIns="0" tIns="0" rIns="0" bIns="0" rtlCol="0" anchor="t">
            <a:spAutoFit/>
          </a:bodyPr>
          <a:lstStyle/>
          <a:p>
            <a:pPr marL="0" lvl="0" indent="0" algn="ctr">
              <a:lnSpc>
                <a:spcPts val="2632"/>
              </a:lnSpc>
            </a:pPr>
            <a:r>
              <a:rPr lang="en-US" sz="2025" b="1" spc="30">
                <a:solidFill>
                  <a:srgbClr val="100302"/>
                </a:solidFill>
                <a:latin typeface="Poppins Medium"/>
                <a:ea typeface="Poppins Medium"/>
                <a:cs typeface="Poppins Medium"/>
                <a:sym typeface="Poppins Medium"/>
              </a:rPr>
              <a:t>Performance Analysis</a:t>
            </a:r>
          </a:p>
        </p:txBody>
      </p:sp>
      <p:sp>
        <p:nvSpPr>
          <p:cNvPr id="35" name="TextBox 35"/>
          <p:cNvSpPr txBox="1"/>
          <p:nvPr/>
        </p:nvSpPr>
        <p:spPr>
          <a:xfrm>
            <a:off x="7639579" y="7413243"/>
            <a:ext cx="3008842" cy="679132"/>
          </a:xfrm>
          <a:prstGeom prst="rect">
            <a:avLst/>
          </a:prstGeom>
        </p:spPr>
        <p:txBody>
          <a:bodyPr lIns="0" tIns="0" rIns="0" bIns="0" rtlCol="0" anchor="t">
            <a:spAutoFit/>
          </a:bodyPr>
          <a:lstStyle/>
          <a:p>
            <a:pPr marL="0" lvl="0" indent="0" algn="ctr">
              <a:lnSpc>
                <a:spcPts val="2632"/>
              </a:lnSpc>
            </a:pPr>
            <a:r>
              <a:rPr lang="en-US" sz="2025" b="1" spc="30" dirty="0">
                <a:solidFill>
                  <a:srgbClr val="100302"/>
                </a:solidFill>
                <a:latin typeface="Poppins Medium"/>
                <a:ea typeface="Poppins Medium"/>
                <a:cs typeface="Poppins Medium"/>
                <a:sym typeface="Poppins Medium"/>
              </a:rPr>
              <a:t>Interactive Dashboard Design</a:t>
            </a:r>
          </a:p>
        </p:txBody>
      </p:sp>
      <p:sp>
        <p:nvSpPr>
          <p:cNvPr id="36" name="TextBox 36"/>
          <p:cNvSpPr txBox="1"/>
          <p:nvPr/>
        </p:nvSpPr>
        <p:spPr>
          <a:xfrm>
            <a:off x="10820666" y="7413243"/>
            <a:ext cx="2551642" cy="679132"/>
          </a:xfrm>
          <a:prstGeom prst="rect">
            <a:avLst/>
          </a:prstGeom>
        </p:spPr>
        <p:txBody>
          <a:bodyPr lIns="0" tIns="0" rIns="0" bIns="0" rtlCol="0" anchor="t">
            <a:spAutoFit/>
          </a:bodyPr>
          <a:lstStyle/>
          <a:p>
            <a:pPr marL="0" lvl="0" indent="0" algn="ctr">
              <a:lnSpc>
                <a:spcPts val="2632"/>
              </a:lnSpc>
            </a:pPr>
            <a:r>
              <a:rPr lang="en-US" sz="2025" b="1" spc="30">
                <a:solidFill>
                  <a:srgbClr val="100302"/>
                </a:solidFill>
                <a:latin typeface="Poppins Medium"/>
                <a:ea typeface="Poppins Medium"/>
                <a:cs typeface="Poppins Medium"/>
                <a:sym typeface="Poppins Medium"/>
              </a:rPr>
              <a:t>Trend &amp; Insight Discovery</a:t>
            </a:r>
          </a:p>
        </p:txBody>
      </p:sp>
      <p:sp>
        <p:nvSpPr>
          <p:cNvPr id="37" name="TextBox 37"/>
          <p:cNvSpPr txBox="1"/>
          <p:nvPr/>
        </p:nvSpPr>
        <p:spPr>
          <a:xfrm>
            <a:off x="14021240" y="7413243"/>
            <a:ext cx="2551642" cy="679132"/>
          </a:xfrm>
          <a:prstGeom prst="rect">
            <a:avLst/>
          </a:prstGeom>
        </p:spPr>
        <p:txBody>
          <a:bodyPr lIns="0" tIns="0" rIns="0" bIns="0" rtlCol="0" anchor="t">
            <a:spAutoFit/>
          </a:bodyPr>
          <a:lstStyle/>
          <a:p>
            <a:pPr marL="0" lvl="0" indent="0" algn="ctr">
              <a:lnSpc>
                <a:spcPts val="2632"/>
              </a:lnSpc>
            </a:pPr>
            <a:r>
              <a:rPr lang="en-US" sz="2025" b="1" spc="30" dirty="0">
                <a:solidFill>
                  <a:srgbClr val="100302"/>
                </a:solidFill>
                <a:latin typeface="Poppins Medium"/>
                <a:ea typeface="Poppins Medium"/>
                <a:cs typeface="Poppins Medium"/>
                <a:sym typeface="Poppins Medium"/>
              </a:rPr>
              <a:t>Actionable Recommendations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10800000" flipV="1">
            <a:off x="12876469" y="1265598"/>
            <a:ext cx="9089382" cy="9089382"/>
          </a:xfrm>
          <a:custGeom>
            <a:avLst/>
            <a:gdLst/>
            <a:ahLst/>
            <a:cxnLst/>
            <a:rect l="l" t="t" r="r" b="b"/>
            <a:pathLst>
              <a:path w="9089382" h="9089382">
                <a:moveTo>
                  <a:pt x="0" y="9089383"/>
                </a:moveTo>
                <a:lnTo>
                  <a:pt x="9089382" y="9089383"/>
                </a:lnTo>
                <a:lnTo>
                  <a:pt x="9089382" y="0"/>
                </a:lnTo>
                <a:lnTo>
                  <a:pt x="0" y="0"/>
                </a:lnTo>
                <a:lnTo>
                  <a:pt x="0" y="9089383"/>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rot="-10800000" flipH="1" flipV="1">
            <a:off x="-4776038" y="1265598"/>
            <a:ext cx="9089382" cy="9089382"/>
          </a:xfrm>
          <a:custGeom>
            <a:avLst/>
            <a:gdLst/>
            <a:ahLst/>
            <a:cxnLst/>
            <a:rect l="l" t="t" r="r" b="b"/>
            <a:pathLst>
              <a:path w="9089382" h="9089382">
                <a:moveTo>
                  <a:pt x="9089382" y="9089383"/>
                </a:moveTo>
                <a:lnTo>
                  <a:pt x="0" y="9089383"/>
                </a:lnTo>
                <a:lnTo>
                  <a:pt x="0" y="0"/>
                </a:lnTo>
                <a:lnTo>
                  <a:pt x="9089382" y="0"/>
                </a:lnTo>
                <a:lnTo>
                  <a:pt x="9089382" y="9089383"/>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p:cNvSpPr/>
          <p:nvPr/>
        </p:nvSpPr>
        <p:spPr>
          <a:xfrm>
            <a:off x="1662904" y="799624"/>
            <a:ext cx="506110" cy="597340"/>
          </a:xfrm>
          <a:custGeom>
            <a:avLst/>
            <a:gdLst/>
            <a:ahLst/>
            <a:cxnLst/>
            <a:rect l="l" t="t" r="r" b="b"/>
            <a:pathLst>
              <a:path w="506110" h="597340">
                <a:moveTo>
                  <a:pt x="0" y="0"/>
                </a:moveTo>
                <a:lnTo>
                  <a:pt x="506110" y="0"/>
                </a:lnTo>
                <a:lnTo>
                  <a:pt x="506110" y="597341"/>
                </a:lnTo>
                <a:lnTo>
                  <a:pt x="0" y="59734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AutoShape 5"/>
          <p:cNvSpPr/>
          <p:nvPr/>
        </p:nvSpPr>
        <p:spPr>
          <a:xfrm>
            <a:off x="1662904" y="3200299"/>
            <a:ext cx="5736802" cy="0"/>
          </a:xfrm>
          <a:prstGeom prst="line">
            <a:avLst/>
          </a:prstGeom>
          <a:ln w="38100" cap="flat">
            <a:solidFill>
              <a:srgbClr val="C02519"/>
            </a:solidFill>
            <a:prstDash val="solid"/>
            <a:headEnd type="none" w="sm" len="sm"/>
            <a:tailEnd type="none" w="sm" len="sm"/>
          </a:ln>
        </p:spPr>
        <p:txBody>
          <a:bodyPr/>
          <a:lstStyle/>
          <a:p>
            <a:endParaRPr lang="en-IN"/>
          </a:p>
        </p:txBody>
      </p:sp>
      <p:sp>
        <p:nvSpPr>
          <p:cNvPr id="6" name="Freeform 6"/>
          <p:cNvSpPr/>
          <p:nvPr/>
        </p:nvSpPr>
        <p:spPr>
          <a:xfrm rot="-10800000">
            <a:off x="9407617" y="-2634475"/>
            <a:ext cx="9089382" cy="9089382"/>
          </a:xfrm>
          <a:custGeom>
            <a:avLst/>
            <a:gdLst/>
            <a:ahLst/>
            <a:cxnLst/>
            <a:rect l="l" t="t" r="r" b="b"/>
            <a:pathLst>
              <a:path w="9089382" h="9089382">
                <a:moveTo>
                  <a:pt x="0" y="0"/>
                </a:moveTo>
                <a:lnTo>
                  <a:pt x="9089383" y="0"/>
                </a:lnTo>
                <a:lnTo>
                  <a:pt x="9089383" y="9089382"/>
                </a:lnTo>
                <a:lnTo>
                  <a:pt x="0" y="9089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21" name="TextBox 21"/>
          <p:cNvSpPr txBox="1"/>
          <p:nvPr/>
        </p:nvSpPr>
        <p:spPr>
          <a:xfrm>
            <a:off x="1662904" y="1925418"/>
            <a:ext cx="9871179" cy="854769"/>
          </a:xfrm>
          <a:prstGeom prst="rect">
            <a:avLst/>
          </a:prstGeom>
        </p:spPr>
        <p:txBody>
          <a:bodyPr lIns="0" tIns="0" rIns="0" bIns="0" rtlCol="0" anchor="t">
            <a:spAutoFit/>
          </a:bodyPr>
          <a:lstStyle/>
          <a:p>
            <a:pPr marL="0" lvl="0" indent="0" algn="just">
              <a:lnSpc>
                <a:spcPts val="5791"/>
              </a:lnSpc>
            </a:pPr>
            <a:r>
              <a:rPr lang="en-US" sz="6434" b="1">
                <a:solidFill>
                  <a:srgbClr val="FFFFFF"/>
                </a:solidFill>
                <a:latin typeface="Poppins Semi-Bold"/>
                <a:ea typeface="Poppins Semi-Bold"/>
                <a:cs typeface="Poppins Semi-Bold"/>
                <a:sym typeface="Poppins Semi-Bold"/>
              </a:rPr>
              <a:t>Data Collection Process</a:t>
            </a:r>
          </a:p>
        </p:txBody>
      </p:sp>
      <p:sp>
        <p:nvSpPr>
          <p:cNvPr id="22" name="TextBox 22"/>
          <p:cNvSpPr txBox="1"/>
          <p:nvPr/>
        </p:nvSpPr>
        <p:spPr>
          <a:xfrm>
            <a:off x="2410514" y="864316"/>
            <a:ext cx="3805659" cy="376002"/>
          </a:xfrm>
          <a:prstGeom prst="rect">
            <a:avLst/>
          </a:prstGeom>
        </p:spPr>
        <p:txBody>
          <a:bodyPr lIns="0" tIns="0" rIns="0" bIns="0" rtlCol="0" anchor="t">
            <a:spAutoFit/>
          </a:bodyPr>
          <a:lstStyle/>
          <a:p>
            <a:pPr marL="0" lvl="0" indent="0" algn="just">
              <a:lnSpc>
                <a:spcPts val="2900"/>
              </a:lnSpc>
            </a:pPr>
            <a:r>
              <a:rPr lang="en-US" sz="2071">
                <a:solidFill>
                  <a:srgbClr val="FFFFFF"/>
                </a:solidFill>
                <a:latin typeface="Poppins"/>
                <a:ea typeface="Poppins"/>
                <a:cs typeface="Poppins"/>
                <a:sym typeface="Poppins"/>
              </a:rPr>
              <a:t>Zomato Restaurant Analytics</a:t>
            </a:r>
          </a:p>
        </p:txBody>
      </p:sp>
      <p:sp>
        <p:nvSpPr>
          <p:cNvPr id="27" name="TextBox 27"/>
          <p:cNvSpPr txBox="1"/>
          <p:nvPr/>
        </p:nvSpPr>
        <p:spPr>
          <a:xfrm>
            <a:off x="1662904" y="3794245"/>
            <a:ext cx="7352426" cy="1911292"/>
          </a:xfrm>
          <a:prstGeom prst="rect">
            <a:avLst/>
          </a:prstGeom>
        </p:spPr>
        <p:txBody>
          <a:bodyPr lIns="0" tIns="0" rIns="0" bIns="0" rtlCol="0" anchor="t">
            <a:spAutoFit/>
          </a:bodyPr>
          <a:lstStyle/>
          <a:p>
            <a:pPr marL="0" lvl="0" indent="0" algn="l">
              <a:lnSpc>
                <a:spcPts val="2456"/>
              </a:lnSpc>
            </a:pPr>
            <a:r>
              <a:rPr lang="en-US" sz="1889" spc="28" dirty="0">
                <a:solidFill>
                  <a:srgbClr val="FFFFFF"/>
                </a:solidFill>
                <a:latin typeface="Poppins"/>
                <a:ea typeface="Poppins"/>
                <a:cs typeface="Poppins"/>
                <a:sym typeface="Poppins"/>
              </a:rPr>
              <a:t>The Zomato dataset was containing over 9,500 restaurant records across multiple cities. The raw CSV files include attributes such as restaurant name, location, cuisine type, average cost, ratings, votes, and online delivery status. Data was downloaded and validated for completeness before being staged for further processing.</a:t>
            </a:r>
          </a:p>
        </p:txBody>
      </p:sp>
      <p:sp>
        <p:nvSpPr>
          <p:cNvPr id="28" name="TextBox 28"/>
          <p:cNvSpPr txBox="1"/>
          <p:nvPr/>
        </p:nvSpPr>
        <p:spPr>
          <a:xfrm>
            <a:off x="1662904" y="6831868"/>
            <a:ext cx="7352426" cy="1538101"/>
          </a:xfrm>
          <a:prstGeom prst="rect">
            <a:avLst/>
          </a:prstGeom>
        </p:spPr>
        <p:txBody>
          <a:bodyPr lIns="0" tIns="0" rIns="0" bIns="0" rtlCol="0" anchor="t">
            <a:spAutoFit/>
          </a:bodyPr>
          <a:lstStyle/>
          <a:p>
            <a:pPr marL="0" lvl="0" indent="0" algn="l">
              <a:lnSpc>
                <a:spcPts val="2456"/>
              </a:lnSpc>
            </a:pPr>
            <a:r>
              <a:rPr lang="en-US" sz="1889" spc="28">
                <a:solidFill>
                  <a:srgbClr val="FFFFFF"/>
                </a:solidFill>
                <a:latin typeface="Poppins"/>
                <a:ea typeface="Poppins"/>
                <a:cs typeface="Poppins"/>
                <a:sym typeface="Poppins"/>
              </a:rPr>
              <a:t>Cleaned data was imported into SQL Server for structured querying and transformation. Excel was used for preliminary exploration and formatting. Final datasets were connected to Power BI and Tableau via direct file imports and SQL queries to build interactive analytics dashboards.</a:t>
            </a:r>
          </a:p>
        </p:txBody>
      </p:sp>
      <p:sp>
        <p:nvSpPr>
          <p:cNvPr id="31" name="Freeform 31"/>
          <p:cNvSpPr/>
          <p:nvPr/>
        </p:nvSpPr>
        <p:spPr>
          <a:xfrm>
            <a:off x="8517102" y="9167040"/>
            <a:ext cx="1498304" cy="182521"/>
          </a:xfrm>
          <a:custGeom>
            <a:avLst/>
            <a:gdLst/>
            <a:ahLst/>
            <a:cxnLst/>
            <a:rect l="l" t="t" r="r" b="b"/>
            <a:pathLst>
              <a:path w="1498304" h="182521">
                <a:moveTo>
                  <a:pt x="0" y="0"/>
                </a:moveTo>
                <a:lnTo>
                  <a:pt x="1498304" y="0"/>
                </a:lnTo>
                <a:lnTo>
                  <a:pt x="1498304" y="182520"/>
                </a:lnTo>
                <a:lnTo>
                  <a:pt x="0" y="18252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32" name="Freeform 32"/>
          <p:cNvSpPr/>
          <p:nvPr/>
        </p:nvSpPr>
        <p:spPr>
          <a:xfrm>
            <a:off x="-626898" y="464704"/>
            <a:ext cx="1498304" cy="182521"/>
          </a:xfrm>
          <a:custGeom>
            <a:avLst/>
            <a:gdLst/>
            <a:ahLst/>
            <a:cxnLst/>
            <a:rect l="l" t="t" r="r" b="b"/>
            <a:pathLst>
              <a:path w="1498304" h="182521">
                <a:moveTo>
                  <a:pt x="0" y="0"/>
                </a:moveTo>
                <a:lnTo>
                  <a:pt x="1498304" y="0"/>
                </a:lnTo>
                <a:lnTo>
                  <a:pt x="1498304" y="182520"/>
                </a:lnTo>
                <a:lnTo>
                  <a:pt x="0" y="18252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33" name="Freeform 33"/>
          <p:cNvSpPr/>
          <p:nvPr/>
        </p:nvSpPr>
        <p:spPr>
          <a:xfrm>
            <a:off x="11969490" y="2202939"/>
            <a:ext cx="1081704" cy="845696"/>
          </a:xfrm>
          <a:custGeom>
            <a:avLst/>
            <a:gdLst/>
            <a:ahLst/>
            <a:cxnLst/>
            <a:rect l="l" t="t" r="r" b="b"/>
            <a:pathLst>
              <a:path w="1081704" h="845696">
                <a:moveTo>
                  <a:pt x="0" y="0"/>
                </a:moveTo>
                <a:lnTo>
                  <a:pt x="1081704" y="0"/>
                </a:lnTo>
                <a:lnTo>
                  <a:pt x="1081704" y="845696"/>
                </a:lnTo>
                <a:lnTo>
                  <a:pt x="0" y="84569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rot="-10800000" flipV="1">
            <a:off x="12876469" y="1265598"/>
            <a:ext cx="9089382" cy="9089382"/>
          </a:xfrm>
          <a:custGeom>
            <a:avLst/>
            <a:gdLst/>
            <a:ahLst/>
            <a:cxnLst/>
            <a:rect l="l" t="t" r="r" b="b"/>
            <a:pathLst>
              <a:path w="9089382" h="9089382">
                <a:moveTo>
                  <a:pt x="0" y="9089383"/>
                </a:moveTo>
                <a:lnTo>
                  <a:pt x="9089382" y="9089383"/>
                </a:lnTo>
                <a:lnTo>
                  <a:pt x="9089382" y="0"/>
                </a:lnTo>
                <a:lnTo>
                  <a:pt x="0" y="0"/>
                </a:lnTo>
                <a:lnTo>
                  <a:pt x="0" y="9089383"/>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p:cNvSpPr/>
          <p:nvPr/>
        </p:nvSpPr>
        <p:spPr>
          <a:xfrm rot="-10800000" flipH="1" flipV="1">
            <a:off x="-4062512" y="1560569"/>
            <a:ext cx="9089382" cy="9089382"/>
          </a:xfrm>
          <a:custGeom>
            <a:avLst/>
            <a:gdLst/>
            <a:ahLst/>
            <a:cxnLst/>
            <a:rect l="l" t="t" r="r" b="b"/>
            <a:pathLst>
              <a:path w="9089382" h="9089382">
                <a:moveTo>
                  <a:pt x="9089382" y="9089382"/>
                </a:moveTo>
                <a:lnTo>
                  <a:pt x="0" y="9089382"/>
                </a:lnTo>
                <a:lnTo>
                  <a:pt x="0" y="0"/>
                </a:lnTo>
                <a:lnTo>
                  <a:pt x="9089382" y="0"/>
                </a:lnTo>
                <a:lnTo>
                  <a:pt x="9089382" y="908938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5" name="AutoShape 5"/>
          <p:cNvSpPr/>
          <p:nvPr/>
        </p:nvSpPr>
        <p:spPr>
          <a:xfrm>
            <a:off x="4980199" y="3200299"/>
            <a:ext cx="8327602" cy="0"/>
          </a:xfrm>
          <a:prstGeom prst="line">
            <a:avLst/>
          </a:prstGeom>
          <a:ln w="38100" cap="flat">
            <a:solidFill>
              <a:srgbClr val="C02519"/>
            </a:solidFill>
            <a:prstDash val="solid"/>
            <a:headEnd type="none" w="sm" len="sm"/>
            <a:tailEnd type="none" w="sm" len="sm"/>
          </a:ln>
        </p:spPr>
        <p:txBody>
          <a:bodyPr/>
          <a:lstStyle/>
          <a:p>
            <a:endParaRPr lang="en-IN"/>
          </a:p>
        </p:txBody>
      </p:sp>
      <p:sp>
        <p:nvSpPr>
          <p:cNvPr id="6" name="Freeform 6"/>
          <p:cNvSpPr/>
          <p:nvPr/>
        </p:nvSpPr>
        <p:spPr>
          <a:xfrm>
            <a:off x="713667" y="846179"/>
            <a:ext cx="1498304" cy="182521"/>
          </a:xfrm>
          <a:custGeom>
            <a:avLst/>
            <a:gdLst/>
            <a:ahLst/>
            <a:cxnLst/>
            <a:rect l="l" t="t" r="r" b="b"/>
            <a:pathLst>
              <a:path w="1498304" h="182521">
                <a:moveTo>
                  <a:pt x="0" y="0"/>
                </a:moveTo>
                <a:lnTo>
                  <a:pt x="1498303" y="0"/>
                </a:lnTo>
                <a:lnTo>
                  <a:pt x="1498303" y="182521"/>
                </a:lnTo>
                <a:lnTo>
                  <a:pt x="0" y="1825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p:cNvSpPr/>
          <p:nvPr/>
        </p:nvSpPr>
        <p:spPr>
          <a:xfrm>
            <a:off x="16540193" y="546646"/>
            <a:ext cx="1603617" cy="1253737"/>
          </a:xfrm>
          <a:custGeom>
            <a:avLst/>
            <a:gdLst/>
            <a:ahLst/>
            <a:cxnLst/>
            <a:rect l="l" t="t" r="r" b="b"/>
            <a:pathLst>
              <a:path w="1603617" h="1253737">
                <a:moveTo>
                  <a:pt x="0" y="0"/>
                </a:moveTo>
                <a:lnTo>
                  <a:pt x="1603616" y="0"/>
                </a:lnTo>
                <a:lnTo>
                  <a:pt x="1603616" y="1253737"/>
                </a:lnTo>
                <a:lnTo>
                  <a:pt x="0" y="125373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0" name="TextBox 10"/>
          <p:cNvSpPr txBox="1"/>
          <p:nvPr/>
        </p:nvSpPr>
        <p:spPr>
          <a:xfrm>
            <a:off x="2197683" y="1593907"/>
            <a:ext cx="13575717" cy="1481688"/>
          </a:xfrm>
          <a:prstGeom prst="rect">
            <a:avLst/>
          </a:prstGeom>
        </p:spPr>
        <p:txBody>
          <a:bodyPr wrap="square" lIns="0" tIns="0" rIns="0" bIns="0" rtlCol="0" anchor="t">
            <a:spAutoFit/>
          </a:bodyPr>
          <a:lstStyle/>
          <a:p>
            <a:pPr lvl="0" algn="ctr">
              <a:lnSpc>
                <a:spcPts val="6003"/>
              </a:lnSpc>
            </a:pPr>
            <a:r>
              <a:rPr lang="en-US" sz="7200" dirty="0">
                <a:latin typeface="Arial Black" panose="020B0A04020102020204" pitchFamily="34" charset="0"/>
              </a:rPr>
              <a:t> </a:t>
            </a:r>
            <a:r>
              <a:rPr lang="en-US" sz="4800" dirty="0">
                <a:latin typeface="Arial Black" panose="020B0A04020102020204" pitchFamily="34" charset="0"/>
              </a:rPr>
              <a:t>Analysis 1 – </a:t>
            </a:r>
            <a:r>
              <a:rPr lang="en-US" sz="4000" dirty="0">
                <a:latin typeface="Arial Black" panose="020B0A04020102020204" pitchFamily="34" charset="0"/>
              </a:rPr>
              <a:t>Number Of Restaurants In Countries</a:t>
            </a:r>
          </a:p>
        </p:txBody>
      </p:sp>
      <p:sp>
        <p:nvSpPr>
          <p:cNvPr id="18" name="TextBox 18"/>
          <p:cNvSpPr txBox="1"/>
          <p:nvPr/>
        </p:nvSpPr>
        <p:spPr>
          <a:xfrm>
            <a:off x="1837394" y="3972175"/>
            <a:ext cx="6475412" cy="352425"/>
          </a:xfrm>
          <a:prstGeom prst="rect">
            <a:avLst/>
          </a:prstGeom>
        </p:spPr>
        <p:txBody>
          <a:bodyPr lIns="0" tIns="0" rIns="0" bIns="0" rtlCol="0" anchor="t">
            <a:spAutoFit/>
          </a:bodyPr>
          <a:lstStyle/>
          <a:p>
            <a:pPr marL="0" lvl="0" indent="0" algn="ctr">
              <a:lnSpc>
                <a:spcPts val="2668"/>
              </a:lnSpc>
            </a:pPr>
            <a:r>
              <a:rPr lang="en-US" sz="2223" b="1" spc="33">
                <a:solidFill>
                  <a:srgbClr val="FFFFFF"/>
                </a:solidFill>
                <a:latin typeface="Poppins Medium"/>
                <a:ea typeface="Poppins Medium"/>
                <a:cs typeface="Poppins Medium"/>
                <a:sym typeface="Poppins Medium"/>
              </a:rPr>
              <a:t>What's Included</a:t>
            </a:r>
          </a:p>
        </p:txBody>
      </p:sp>
      <p:pic>
        <p:nvPicPr>
          <p:cNvPr id="28" name="Picture 27">
            <a:extLst>
              <a:ext uri="{FF2B5EF4-FFF2-40B4-BE49-F238E27FC236}">
                <a16:creationId xmlns:a16="http://schemas.microsoft.com/office/drawing/2014/main" id="{61612E71-FD79-6519-F6B7-95AFC2BB59C5}"/>
              </a:ext>
            </a:extLst>
          </p:cNvPr>
          <p:cNvPicPr>
            <a:picLocks noChangeAspect="1"/>
          </p:cNvPicPr>
          <p:nvPr/>
        </p:nvPicPr>
        <p:blipFill>
          <a:blip r:embed="rId5"/>
          <a:srcRect l="1588" t="5502" r="1706" b="4725"/>
          <a:stretch>
            <a:fillRect/>
          </a:stretch>
        </p:blipFill>
        <p:spPr>
          <a:xfrm>
            <a:off x="1676399" y="3816844"/>
            <a:ext cx="5968335" cy="3269855"/>
          </a:xfrm>
          <a:prstGeom prst="rect">
            <a:avLst/>
          </a:prstGeom>
        </p:spPr>
      </p:pic>
      <p:sp>
        <p:nvSpPr>
          <p:cNvPr id="30" name="TextBox 29">
            <a:extLst>
              <a:ext uri="{FF2B5EF4-FFF2-40B4-BE49-F238E27FC236}">
                <a16:creationId xmlns:a16="http://schemas.microsoft.com/office/drawing/2014/main" id="{B2AAAB56-60C7-318C-0EC0-2E8F03E1D286}"/>
              </a:ext>
            </a:extLst>
          </p:cNvPr>
          <p:cNvSpPr txBox="1"/>
          <p:nvPr/>
        </p:nvSpPr>
        <p:spPr>
          <a:xfrm>
            <a:off x="9590534" y="3695705"/>
            <a:ext cx="4430266" cy="4401205"/>
          </a:xfrm>
          <a:prstGeom prst="rect">
            <a:avLst/>
          </a:prstGeom>
          <a:noFill/>
        </p:spPr>
        <p:txBody>
          <a:bodyPr wrap="square">
            <a:spAutoFit/>
          </a:bodyPr>
          <a:lstStyle/>
          <a:p>
            <a:pPr marL="285750" indent="-285750">
              <a:buFont typeface="Wingdings" panose="05000000000000000000" pitchFamily="2" charset="2"/>
              <a:buChar char="Ø"/>
            </a:pPr>
            <a:r>
              <a:rPr lang="en-IN" sz="2000" dirty="0"/>
              <a:t>India has the highest number of restaurants (</a:t>
            </a:r>
            <a:r>
              <a:rPr lang="en-IN" sz="2000" b="1" dirty="0"/>
              <a:t>8,652</a:t>
            </a:r>
            <a:r>
              <a:rPr lang="en-IN" sz="2000" dirty="0"/>
              <a:t>), dominating the dataset.</a:t>
            </a:r>
          </a:p>
          <a:p>
            <a:pPr marL="285750" indent="-285750">
              <a:buFont typeface="Wingdings" panose="05000000000000000000" pitchFamily="2" charset="2"/>
              <a:buChar char="Ø"/>
            </a:pPr>
            <a:r>
              <a:rPr lang="en-IN" sz="2000" dirty="0"/>
              <a:t> The United States is second with </a:t>
            </a:r>
            <a:r>
              <a:rPr lang="en-IN" sz="2000" b="1" dirty="0"/>
              <a:t>434</a:t>
            </a:r>
            <a:r>
              <a:rPr lang="en-IN" sz="2000" dirty="0"/>
              <a:t> restaurants.</a:t>
            </a:r>
          </a:p>
          <a:p>
            <a:pPr marL="285750" indent="-285750">
              <a:buFont typeface="Wingdings" panose="05000000000000000000" pitchFamily="2" charset="2"/>
              <a:buChar char="Ø"/>
            </a:pPr>
            <a:r>
              <a:rPr lang="en-IN" sz="2000" dirty="0"/>
              <a:t> The United Kingdom has </a:t>
            </a:r>
            <a:r>
              <a:rPr lang="en-IN" sz="2000" b="1" dirty="0"/>
              <a:t>80</a:t>
            </a:r>
            <a:r>
              <a:rPr lang="en-IN" sz="2000" dirty="0"/>
              <a:t> restaurants.</a:t>
            </a:r>
          </a:p>
          <a:p>
            <a:pPr marL="285750" indent="-285750">
              <a:buFont typeface="Wingdings" panose="05000000000000000000" pitchFamily="2" charset="2"/>
              <a:buChar char="Ø"/>
            </a:pPr>
            <a:r>
              <a:rPr lang="en-IN" sz="2000" dirty="0"/>
              <a:t> Most other countries have </a:t>
            </a:r>
            <a:r>
              <a:rPr lang="en-IN" sz="2000" b="1" dirty="0"/>
              <a:t>less than 100</a:t>
            </a:r>
            <a:r>
              <a:rPr lang="en-IN" sz="2000" dirty="0"/>
              <a:t> restaurants each.</a:t>
            </a:r>
          </a:p>
          <a:p>
            <a:pPr marL="285750" indent="-285750">
              <a:buFont typeface="Wingdings" panose="05000000000000000000" pitchFamily="2" charset="2"/>
              <a:buChar char="Ø"/>
            </a:pPr>
            <a:r>
              <a:rPr lang="en-IN" sz="2000" dirty="0"/>
              <a:t> Canada has the lowest number of restaurants (</a:t>
            </a:r>
            <a:r>
              <a:rPr lang="en-IN" sz="2000" b="1" dirty="0"/>
              <a:t>4</a:t>
            </a:r>
            <a:r>
              <a:rPr lang="en-IN" sz="2000" dirty="0"/>
              <a:t>).</a:t>
            </a:r>
          </a:p>
          <a:p>
            <a:pPr marL="285750" indent="-285750">
              <a:buFont typeface="Wingdings" panose="05000000000000000000" pitchFamily="2" charset="2"/>
              <a:buChar char="Ø"/>
            </a:pPr>
            <a:r>
              <a:rPr lang="en-IN" sz="2000" dirty="0"/>
              <a:t> The dataset is highly concentrated in </a:t>
            </a:r>
            <a:r>
              <a:rPr lang="en-IN" sz="2000" b="1" dirty="0"/>
              <a:t>India</a:t>
            </a:r>
            <a:r>
              <a:rPr lang="en-IN" sz="2000" dirty="0"/>
              <a:t>, showing Zomato's strongest presence there.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5B94F-20B7-6984-81C0-1547E823217C}"/>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07813880-FA6B-4498-D9C6-2E06E86B8833}"/>
              </a:ext>
            </a:extLst>
          </p:cNvPr>
          <p:cNvSpPr/>
          <p:nvPr/>
        </p:nvSpPr>
        <p:spPr>
          <a:xfrm rot="-10800000" flipV="1">
            <a:off x="12876469" y="1265598"/>
            <a:ext cx="9089382" cy="9089382"/>
          </a:xfrm>
          <a:custGeom>
            <a:avLst/>
            <a:gdLst/>
            <a:ahLst/>
            <a:cxnLst/>
            <a:rect l="l" t="t" r="r" b="b"/>
            <a:pathLst>
              <a:path w="9089382" h="9089382">
                <a:moveTo>
                  <a:pt x="0" y="9089383"/>
                </a:moveTo>
                <a:lnTo>
                  <a:pt x="9089382" y="9089383"/>
                </a:lnTo>
                <a:lnTo>
                  <a:pt x="9089382" y="0"/>
                </a:lnTo>
                <a:lnTo>
                  <a:pt x="0" y="0"/>
                </a:lnTo>
                <a:lnTo>
                  <a:pt x="0" y="9089383"/>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a:extLst>
              <a:ext uri="{FF2B5EF4-FFF2-40B4-BE49-F238E27FC236}">
                <a16:creationId xmlns:a16="http://schemas.microsoft.com/office/drawing/2014/main" id="{0271CD03-BE32-B524-252D-8575F181C4F4}"/>
              </a:ext>
            </a:extLst>
          </p:cNvPr>
          <p:cNvSpPr/>
          <p:nvPr/>
        </p:nvSpPr>
        <p:spPr>
          <a:xfrm rot="-10800000" flipH="1" flipV="1">
            <a:off x="-4062512" y="1560569"/>
            <a:ext cx="9089382" cy="9089382"/>
          </a:xfrm>
          <a:custGeom>
            <a:avLst/>
            <a:gdLst/>
            <a:ahLst/>
            <a:cxnLst/>
            <a:rect l="l" t="t" r="r" b="b"/>
            <a:pathLst>
              <a:path w="9089382" h="9089382">
                <a:moveTo>
                  <a:pt x="9089382" y="9089382"/>
                </a:moveTo>
                <a:lnTo>
                  <a:pt x="0" y="9089382"/>
                </a:lnTo>
                <a:lnTo>
                  <a:pt x="0" y="0"/>
                </a:lnTo>
                <a:lnTo>
                  <a:pt x="9089382" y="0"/>
                </a:lnTo>
                <a:lnTo>
                  <a:pt x="9089382" y="908938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5" name="AutoShape 5">
            <a:extLst>
              <a:ext uri="{FF2B5EF4-FFF2-40B4-BE49-F238E27FC236}">
                <a16:creationId xmlns:a16="http://schemas.microsoft.com/office/drawing/2014/main" id="{7A87230D-828D-409A-321F-BCD6406BC361}"/>
              </a:ext>
            </a:extLst>
          </p:cNvPr>
          <p:cNvSpPr/>
          <p:nvPr/>
        </p:nvSpPr>
        <p:spPr>
          <a:xfrm>
            <a:off x="4980199" y="3200299"/>
            <a:ext cx="8327602" cy="0"/>
          </a:xfrm>
          <a:prstGeom prst="line">
            <a:avLst/>
          </a:prstGeom>
          <a:ln w="38100" cap="flat">
            <a:solidFill>
              <a:srgbClr val="C02519"/>
            </a:solidFill>
            <a:prstDash val="solid"/>
            <a:headEnd type="none" w="sm" len="sm"/>
            <a:tailEnd type="none" w="sm" len="sm"/>
          </a:ln>
        </p:spPr>
        <p:txBody>
          <a:bodyPr/>
          <a:lstStyle/>
          <a:p>
            <a:endParaRPr lang="en-IN"/>
          </a:p>
        </p:txBody>
      </p:sp>
      <p:sp>
        <p:nvSpPr>
          <p:cNvPr id="6" name="Freeform 6">
            <a:extLst>
              <a:ext uri="{FF2B5EF4-FFF2-40B4-BE49-F238E27FC236}">
                <a16:creationId xmlns:a16="http://schemas.microsoft.com/office/drawing/2014/main" id="{7D435BFC-3672-92C1-B080-BC30BB12D54C}"/>
              </a:ext>
            </a:extLst>
          </p:cNvPr>
          <p:cNvSpPr/>
          <p:nvPr/>
        </p:nvSpPr>
        <p:spPr>
          <a:xfrm>
            <a:off x="713667" y="846179"/>
            <a:ext cx="1498304" cy="182521"/>
          </a:xfrm>
          <a:custGeom>
            <a:avLst/>
            <a:gdLst/>
            <a:ahLst/>
            <a:cxnLst/>
            <a:rect l="l" t="t" r="r" b="b"/>
            <a:pathLst>
              <a:path w="1498304" h="182521">
                <a:moveTo>
                  <a:pt x="0" y="0"/>
                </a:moveTo>
                <a:lnTo>
                  <a:pt x="1498303" y="0"/>
                </a:lnTo>
                <a:lnTo>
                  <a:pt x="1498303" y="182521"/>
                </a:lnTo>
                <a:lnTo>
                  <a:pt x="0" y="1825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a:extLst>
              <a:ext uri="{FF2B5EF4-FFF2-40B4-BE49-F238E27FC236}">
                <a16:creationId xmlns:a16="http://schemas.microsoft.com/office/drawing/2014/main" id="{0A8381EA-A797-0F29-8E63-352D578FA9BD}"/>
              </a:ext>
            </a:extLst>
          </p:cNvPr>
          <p:cNvSpPr/>
          <p:nvPr/>
        </p:nvSpPr>
        <p:spPr>
          <a:xfrm>
            <a:off x="16540193" y="546646"/>
            <a:ext cx="1603617" cy="1253737"/>
          </a:xfrm>
          <a:custGeom>
            <a:avLst/>
            <a:gdLst/>
            <a:ahLst/>
            <a:cxnLst/>
            <a:rect l="l" t="t" r="r" b="b"/>
            <a:pathLst>
              <a:path w="1603617" h="1253737">
                <a:moveTo>
                  <a:pt x="0" y="0"/>
                </a:moveTo>
                <a:lnTo>
                  <a:pt x="1603616" y="0"/>
                </a:lnTo>
                <a:lnTo>
                  <a:pt x="1603616" y="1253737"/>
                </a:lnTo>
                <a:lnTo>
                  <a:pt x="0" y="125373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0" name="TextBox 10">
            <a:extLst>
              <a:ext uri="{FF2B5EF4-FFF2-40B4-BE49-F238E27FC236}">
                <a16:creationId xmlns:a16="http://schemas.microsoft.com/office/drawing/2014/main" id="{BB9B9F82-4C53-A2FC-6AF7-CEB6CF275CF1}"/>
              </a:ext>
            </a:extLst>
          </p:cNvPr>
          <p:cNvSpPr txBox="1"/>
          <p:nvPr/>
        </p:nvSpPr>
        <p:spPr>
          <a:xfrm>
            <a:off x="2197683" y="1593907"/>
            <a:ext cx="13575717" cy="1508683"/>
          </a:xfrm>
          <a:prstGeom prst="rect">
            <a:avLst/>
          </a:prstGeom>
        </p:spPr>
        <p:txBody>
          <a:bodyPr wrap="square" lIns="0" tIns="0" rIns="0" bIns="0" rtlCol="0" anchor="t">
            <a:spAutoFit/>
          </a:bodyPr>
          <a:lstStyle/>
          <a:p>
            <a:pPr lvl="0" algn="ctr">
              <a:lnSpc>
                <a:spcPts val="6003"/>
              </a:lnSpc>
            </a:pPr>
            <a:r>
              <a:rPr lang="en-US" sz="4800" dirty="0">
                <a:latin typeface="Arial Black" panose="020B0A04020102020204" pitchFamily="34" charset="0"/>
              </a:rPr>
              <a:t>Analysis 2 – Restaurants by Year, Quarter &amp; Month</a:t>
            </a:r>
          </a:p>
        </p:txBody>
      </p:sp>
      <p:sp>
        <p:nvSpPr>
          <p:cNvPr id="18" name="TextBox 18">
            <a:extLst>
              <a:ext uri="{FF2B5EF4-FFF2-40B4-BE49-F238E27FC236}">
                <a16:creationId xmlns:a16="http://schemas.microsoft.com/office/drawing/2014/main" id="{D36039BA-8B74-3783-D46E-E13971EEC7F8}"/>
              </a:ext>
            </a:extLst>
          </p:cNvPr>
          <p:cNvSpPr txBox="1"/>
          <p:nvPr/>
        </p:nvSpPr>
        <p:spPr>
          <a:xfrm>
            <a:off x="1837394" y="3972175"/>
            <a:ext cx="6475412" cy="352425"/>
          </a:xfrm>
          <a:prstGeom prst="rect">
            <a:avLst/>
          </a:prstGeom>
        </p:spPr>
        <p:txBody>
          <a:bodyPr lIns="0" tIns="0" rIns="0" bIns="0" rtlCol="0" anchor="t">
            <a:spAutoFit/>
          </a:bodyPr>
          <a:lstStyle/>
          <a:p>
            <a:pPr marL="0" lvl="0" indent="0" algn="ctr">
              <a:lnSpc>
                <a:spcPts val="2668"/>
              </a:lnSpc>
            </a:pPr>
            <a:r>
              <a:rPr lang="en-US" sz="2223" b="1" spc="33">
                <a:solidFill>
                  <a:srgbClr val="FFFFFF"/>
                </a:solidFill>
                <a:latin typeface="Poppins Medium"/>
                <a:ea typeface="Poppins Medium"/>
                <a:cs typeface="Poppins Medium"/>
                <a:sym typeface="Poppins Medium"/>
              </a:rPr>
              <a:t>What's Included</a:t>
            </a:r>
          </a:p>
        </p:txBody>
      </p:sp>
      <p:sp>
        <p:nvSpPr>
          <p:cNvPr id="30" name="TextBox 29">
            <a:extLst>
              <a:ext uri="{FF2B5EF4-FFF2-40B4-BE49-F238E27FC236}">
                <a16:creationId xmlns:a16="http://schemas.microsoft.com/office/drawing/2014/main" id="{3F127F1D-D36D-AC30-9DC9-35CA78D7072B}"/>
              </a:ext>
            </a:extLst>
          </p:cNvPr>
          <p:cNvSpPr txBox="1"/>
          <p:nvPr/>
        </p:nvSpPr>
        <p:spPr>
          <a:xfrm>
            <a:off x="9590534" y="3695705"/>
            <a:ext cx="5039866" cy="4524315"/>
          </a:xfrm>
          <a:prstGeom prst="rect">
            <a:avLst/>
          </a:prstGeom>
          <a:noFill/>
        </p:spPr>
        <p:txBody>
          <a:bodyPr wrap="square">
            <a:spAutoFit/>
          </a:bodyPr>
          <a:lstStyle/>
          <a:p>
            <a:pPr marL="342900" indent="-342900">
              <a:buFont typeface="Wingdings" panose="05000000000000000000" pitchFamily="2" charset="2"/>
              <a:buChar char="Ø"/>
            </a:pPr>
            <a:r>
              <a:rPr lang="en-US" sz="2400" dirty="0"/>
              <a:t>The gradual increase of restaurants over years, indicates growth in food industry.</a:t>
            </a:r>
          </a:p>
          <a:p>
            <a:pPr marL="342900" indent="-342900">
              <a:buFont typeface="Wingdings" panose="05000000000000000000" pitchFamily="2" charset="2"/>
              <a:buChar char="Ø"/>
            </a:pPr>
            <a:r>
              <a:rPr lang="en-US" sz="2400" dirty="0"/>
              <a:t>Quarterly analysis shows higher restaurant openings during mid &amp; end of the year.</a:t>
            </a:r>
          </a:p>
          <a:p>
            <a:pPr marL="342900" indent="-342900">
              <a:buFont typeface="Wingdings" panose="05000000000000000000" pitchFamily="2" charset="2"/>
              <a:buChar char="Ø"/>
            </a:pPr>
            <a:r>
              <a:rPr lang="en-US" sz="2400" dirty="0"/>
              <a:t>Monthly trends reveal fluctuations and peaks due to seasonal demand.</a:t>
            </a:r>
          </a:p>
          <a:p>
            <a:r>
              <a:rPr lang="en-US" sz="2400" dirty="0"/>
              <a:t>Overall, the data highlights a growing trend with periodic variations influenced by market conditions and demand</a:t>
            </a:r>
            <a:r>
              <a:rPr lang="en-US" sz="2000" dirty="0"/>
              <a:t>. </a:t>
            </a:r>
          </a:p>
        </p:txBody>
      </p:sp>
      <p:pic>
        <p:nvPicPr>
          <p:cNvPr id="2" name="Content Placeholder 6">
            <a:extLst>
              <a:ext uri="{FF2B5EF4-FFF2-40B4-BE49-F238E27FC236}">
                <a16:creationId xmlns:a16="http://schemas.microsoft.com/office/drawing/2014/main" id="{CEFAE82F-8346-60FC-DC32-6E203F82E4E7}"/>
              </a:ext>
            </a:extLst>
          </p:cNvPr>
          <p:cNvPicPr>
            <a:picLocks noChangeAspect="1"/>
          </p:cNvPicPr>
          <p:nvPr/>
        </p:nvPicPr>
        <p:blipFill>
          <a:blip r:embed="rId5"/>
          <a:stretch>
            <a:fillRect/>
          </a:stretch>
        </p:blipFill>
        <p:spPr>
          <a:xfrm>
            <a:off x="1875956" y="3924555"/>
            <a:ext cx="6475413" cy="3705245"/>
          </a:xfrm>
          <a:prstGeom prst="rect">
            <a:avLst/>
          </a:prstGeom>
        </p:spPr>
      </p:pic>
    </p:spTree>
    <p:extLst>
      <p:ext uri="{BB962C8B-B14F-4D97-AF65-F5344CB8AC3E}">
        <p14:creationId xmlns:p14="http://schemas.microsoft.com/office/powerpoint/2010/main" val="34523332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4DBC5-B1B1-C11B-99BB-70B3E778A6DD}"/>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56C59334-3689-31B0-2C55-02317A15A007}"/>
              </a:ext>
            </a:extLst>
          </p:cNvPr>
          <p:cNvSpPr/>
          <p:nvPr/>
        </p:nvSpPr>
        <p:spPr>
          <a:xfrm rot="-10800000" flipV="1">
            <a:off x="12876469" y="1265598"/>
            <a:ext cx="9089382" cy="9089382"/>
          </a:xfrm>
          <a:custGeom>
            <a:avLst/>
            <a:gdLst/>
            <a:ahLst/>
            <a:cxnLst/>
            <a:rect l="l" t="t" r="r" b="b"/>
            <a:pathLst>
              <a:path w="9089382" h="9089382">
                <a:moveTo>
                  <a:pt x="0" y="9089383"/>
                </a:moveTo>
                <a:lnTo>
                  <a:pt x="9089382" y="9089383"/>
                </a:lnTo>
                <a:lnTo>
                  <a:pt x="9089382" y="0"/>
                </a:lnTo>
                <a:lnTo>
                  <a:pt x="0" y="0"/>
                </a:lnTo>
                <a:lnTo>
                  <a:pt x="0" y="9089383"/>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a:extLst>
              <a:ext uri="{FF2B5EF4-FFF2-40B4-BE49-F238E27FC236}">
                <a16:creationId xmlns:a16="http://schemas.microsoft.com/office/drawing/2014/main" id="{D6B304B6-E6A9-A816-EE8D-231B7F7B691E}"/>
              </a:ext>
            </a:extLst>
          </p:cNvPr>
          <p:cNvSpPr/>
          <p:nvPr/>
        </p:nvSpPr>
        <p:spPr>
          <a:xfrm rot="-10800000" flipH="1" flipV="1">
            <a:off x="-4062512" y="1560569"/>
            <a:ext cx="9089382" cy="9089382"/>
          </a:xfrm>
          <a:custGeom>
            <a:avLst/>
            <a:gdLst/>
            <a:ahLst/>
            <a:cxnLst/>
            <a:rect l="l" t="t" r="r" b="b"/>
            <a:pathLst>
              <a:path w="9089382" h="9089382">
                <a:moveTo>
                  <a:pt x="9089382" y="9089382"/>
                </a:moveTo>
                <a:lnTo>
                  <a:pt x="0" y="9089382"/>
                </a:lnTo>
                <a:lnTo>
                  <a:pt x="0" y="0"/>
                </a:lnTo>
                <a:lnTo>
                  <a:pt x="9089382" y="0"/>
                </a:lnTo>
                <a:lnTo>
                  <a:pt x="9089382" y="908938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5" name="AutoShape 5">
            <a:extLst>
              <a:ext uri="{FF2B5EF4-FFF2-40B4-BE49-F238E27FC236}">
                <a16:creationId xmlns:a16="http://schemas.microsoft.com/office/drawing/2014/main" id="{48BC5249-53C8-B8AE-7F53-FFF5B804295F}"/>
              </a:ext>
            </a:extLst>
          </p:cNvPr>
          <p:cNvSpPr/>
          <p:nvPr/>
        </p:nvSpPr>
        <p:spPr>
          <a:xfrm>
            <a:off x="4980199" y="2628900"/>
            <a:ext cx="8327602" cy="0"/>
          </a:xfrm>
          <a:prstGeom prst="line">
            <a:avLst/>
          </a:prstGeom>
          <a:ln w="38100" cap="flat">
            <a:solidFill>
              <a:srgbClr val="C02519"/>
            </a:solidFill>
            <a:prstDash val="solid"/>
            <a:headEnd type="none" w="sm" len="sm"/>
            <a:tailEnd type="none" w="sm" len="sm"/>
          </a:ln>
        </p:spPr>
        <p:txBody>
          <a:bodyPr/>
          <a:lstStyle/>
          <a:p>
            <a:endParaRPr lang="en-IN"/>
          </a:p>
        </p:txBody>
      </p:sp>
      <p:sp>
        <p:nvSpPr>
          <p:cNvPr id="6" name="Freeform 6">
            <a:extLst>
              <a:ext uri="{FF2B5EF4-FFF2-40B4-BE49-F238E27FC236}">
                <a16:creationId xmlns:a16="http://schemas.microsoft.com/office/drawing/2014/main" id="{EB2EEEF2-C11F-6890-FCC0-D023BCCBBD5A}"/>
              </a:ext>
            </a:extLst>
          </p:cNvPr>
          <p:cNvSpPr/>
          <p:nvPr/>
        </p:nvSpPr>
        <p:spPr>
          <a:xfrm>
            <a:off x="713667" y="846179"/>
            <a:ext cx="1498304" cy="182521"/>
          </a:xfrm>
          <a:custGeom>
            <a:avLst/>
            <a:gdLst/>
            <a:ahLst/>
            <a:cxnLst/>
            <a:rect l="l" t="t" r="r" b="b"/>
            <a:pathLst>
              <a:path w="1498304" h="182521">
                <a:moveTo>
                  <a:pt x="0" y="0"/>
                </a:moveTo>
                <a:lnTo>
                  <a:pt x="1498303" y="0"/>
                </a:lnTo>
                <a:lnTo>
                  <a:pt x="1498303" y="182521"/>
                </a:lnTo>
                <a:lnTo>
                  <a:pt x="0" y="1825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a:extLst>
              <a:ext uri="{FF2B5EF4-FFF2-40B4-BE49-F238E27FC236}">
                <a16:creationId xmlns:a16="http://schemas.microsoft.com/office/drawing/2014/main" id="{6204F84C-0B02-8810-2B46-084FB6A53998}"/>
              </a:ext>
            </a:extLst>
          </p:cNvPr>
          <p:cNvSpPr/>
          <p:nvPr/>
        </p:nvSpPr>
        <p:spPr>
          <a:xfrm>
            <a:off x="16540193" y="546646"/>
            <a:ext cx="1603617" cy="1253737"/>
          </a:xfrm>
          <a:custGeom>
            <a:avLst/>
            <a:gdLst/>
            <a:ahLst/>
            <a:cxnLst/>
            <a:rect l="l" t="t" r="r" b="b"/>
            <a:pathLst>
              <a:path w="1603617" h="1253737">
                <a:moveTo>
                  <a:pt x="0" y="0"/>
                </a:moveTo>
                <a:lnTo>
                  <a:pt x="1603616" y="0"/>
                </a:lnTo>
                <a:lnTo>
                  <a:pt x="1603616" y="1253737"/>
                </a:lnTo>
                <a:lnTo>
                  <a:pt x="0" y="125373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0" name="TextBox 10">
            <a:extLst>
              <a:ext uri="{FF2B5EF4-FFF2-40B4-BE49-F238E27FC236}">
                <a16:creationId xmlns:a16="http://schemas.microsoft.com/office/drawing/2014/main" id="{11F2EEF5-A89C-808E-8ED9-2F1FC079DAEF}"/>
              </a:ext>
            </a:extLst>
          </p:cNvPr>
          <p:cNvSpPr txBox="1"/>
          <p:nvPr/>
        </p:nvSpPr>
        <p:spPr>
          <a:xfrm>
            <a:off x="2197683" y="1593907"/>
            <a:ext cx="13575717" cy="739241"/>
          </a:xfrm>
          <a:prstGeom prst="rect">
            <a:avLst/>
          </a:prstGeom>
        </p:spPr>
        <p:txBody>
          <a:bodyPr wrap="square" lIns="0" tIns="0" rIns="0" bIns="0" rtlCol="0" anchor="t">
            <a:spAutoFit/>
          </a:bodyPr>
          <a:lstStyle/>
          <a:p>
            <a:pPr lvl="0" algn="ctr">
              <a:lnSpc>
                <a:spcPts val="6003"/>
              </a:lnSpc>
            </a:pPr>
            <a:r>
              <a:rPr lang="en-US" sz="4800" dirty="0">
                <a:latin typeface="Arial Black" panose="020B0A04020102020204" pitchFamily="34" charset="0"/>
              </a:rPr>
              <a:t>Analysis 3 – Restaurants by Rating</a:t>
            </a:r>
          </a:p>
        </p:txBody>
      </p:sp>
      <p:sp>
        <p:nvSpPr>
          <p:cNvPr id="18" name="TextBox 18">
            <a:extLst>
              <a:ext uri="{FF2B5EF4-FFF2-40B4-BE49-F238E27FC236}">
                <a16:creationId xmlns:a16="http://schemas.microsoft.com/office/drawing/2014/main" id="{C5376D46-951F-3A38-6B96-25F66EA3CEBC}"/>
              </a:ext>
            </a:extLst>
          </p:cNvPr>
          <p:cNvSpPr txBox="1"/>
          <p:nvPr/>
        </p:nvSpPr>
        <p:spPr>
          <a:xfrm>
            <a:off x="1837394" y="3972175"/>
            <a:ext cx="6475412" cy="352425"/>
          </a:xfrm>
          <a:prstGeom prst="rect">
            <a:avLst/>
          </a:prstGeom>
        </p:spPr>
        <p:txBody>
          <a:bodyPr lIns="0" tIns="0" rIns="0" bIns="0" rtlCol="0" anchor="t">
            <a:spAutoFit/>
          </a:bodyPr>
          <a:lstStyle/>
          <a:p>
            <a:pPr marL="0" lvl="0" indent="0" algn="ctr">
              <a:lnSpc>
                <a:spcPts val="2668"/>
              </a:lnSpc>
            </a:pPr>
            <a:r>
              <a:rPr lang="en-US" sz="2223" b="1" spc="33">
                <a:solidFill>
                  <a:srgbClr val="FFFFFF"/>
                </a:solidFill>
                <a:latin typeface="Poppins Medium"/>
                <a:ea typeface="Poppins Medium"/>
                <a:cs typeface="Poppins Medium"/>
                <a:sym typeface="Poppins Medium"/>
              </a:rPr>
              <a:t>What's Included</a:t>
            </a:r>
          </a:p>
        </p:txBody>
      </p:sp>
      <p:sp>
        <p:nvSpPr>
          <p:cNvPr id="30" name="TextBox 29">
            <a:extLst>
              <a:ext uri="{FF2B5EF4-FFF2-40B4-BE49-F238E27FC236}">
                <a16:creationId xmlns:a16="http://schemas.microsoft.com/office/drawing/2014/main" id="{6FEB276B-654A-AD3B-7978-E326B78686AC}"/>
              </a:ext>
            </a:extLst>
          </p:cNvPr>
          <p:cNvSpPr txBox="1"/>
          <p:nvPr/>
        </p:nvSpPr>
        <p:spPr>
          <a:xfrm>
            <a:off x="9365548" y="3695705"/>
            <a:ext cx="6026852" cy="3847207"/>
          </a:xfrm>
          <a:prstGeom prst="rect">
            <a:avLst/>
          </a:prstGeom>
          <a:noFill/>
        </p:spPr>
        <p:txBody>
          <a:bodyPr wrap="square">
            <a:spAutoFit/>
          </a:bodyPr>
          <a:lstStyle/>
          <a:p>
            <a:pPr marL="342900" indent="-342900">
              <a:buFont typeface="Wingdings" panose="05000000000000000000" pitchFamily="2" charset="2"/>
              <a:buChar char="Ø"/>
            </a:pPr>
            <a:r>
              <a:rPr lang="en-US" sz="2800" dirty="0"/>
              <a:t>The majority of restaurants fall within 3.5 to 4.5 rating range </a:t>
            </a:r>
          </a:p>
          <a:p>
            <a:pPr marL="342900" indent="-342900">
              <a:buFont typeface="Wingdings" panose="05000000000000000000" pitchFamily="2" charset="2"/>
              <a:buChar char="Ø"/>
            </a:pPr>
            <a:r>
              <a:rPr lang="en-US" sz="2800" dirty="0"/>
              <a:t>Very few restaurants have extremely (&lt;2.5) low or perfect (5.0) ratings, showing a balanced distribution.</a:t>
            </a:r>
          </a:p>
          <a:p>
            <a:pPr marL="342900" indent="-342900">
              <a:buFont typeface="Wingdings" panose="05000000000000000000" pitchFamily="2" charset="2"/>
              <a:buChar char="Ø"/>
            </a:pPr>
            <a:r>
              <a:rPr lang="en-US" sz="2800" dirty="0"/>
              <a:t>Higher distribution helps identify top- performing restaurants and areas needing improvement</a:t>
            </a:r>
          </a:p>
          <a:p>
            <a:r>
              <a:rPr lang="en-US" sz="2000" dirty="0"/>
              <a:t>. </a:t>
            </a:r>
          </a:p>
        </p:txBody>
      </p:sp>
      <p:pic>
        <p:nvPicPr>
          <p:cNvPr id="9" name="Picture 8">
            <a:extLst>
              <a:ext uri="{FF2B5EF4-FFF2-40B4-BE49-F238E27FC236}">
                <a16:creationId xmlns:a16="http://schemas.microsoft.com/office/drawing/2014/main" id="{2B43AAAD-49FB-EDB2-D745-A7803CCE3F14}"/>
              </a:ext>
            </a:extLst>
          </p:cNvPr>
          <p:cNvPicPr>
            <a:picLocks noChangeAspect="1"/>
          </p:cNvPicPr>
          <p:nvPr/>
        </p:nvPicPr>
        <p:blipFill>
          <a:blip r:embed="rId5"/>
          <a:srcRect l="-1804" t="2237" r="-3043" b="2498"/>
          <a:stretch>
            <a:fillRect/>
          </a:stretch>
        </p:blipFill>
        <p:spPr>
          <a:xfrm>
            <a:off x="2174174" y="3695706"/>
            <a:ext cx="6026852" cy="3733794"/>
          </a:xfrm>
          <a:prstGeom prst="rect">
            <a:avLst/>
          </a:prstGeom>
        </p:spPr>
      </p:pic>
    </p:spTree>
    <p:extLst>
      <p:ext uri="{BB962C8B-B14F-4D97-AF65-F5344CB8AC3E}">
        <p14:creationId xmlns:p14="http://schemas.microsoft.com/office/powerpoint/2010/main" val="3552393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69F44-7B6C-DBCC-1F65-3F2C10F4D750}"/>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BF5FF5F5-404F-5DA5-DFE9-1429FE2F44A8}"/>
              </a:ext>
            </a:extLst>
          </p:cNvPr>
          <p:cNvSpPr/>
          <p:nvPr/>
        </p:nvSpPr>
        <p:spPr>
          <a:xfrm rot="-10800000" flipV="1">
            <a:off x="12876469" y="1265598"/>
            <a:ext cx="9089382" cy="9089382"/>
          </a:xfrm>
          <a:custGeom>
            <a:avLst/>
            <a:gdLst/>
            <a:ahLst/>
            <a:cxnLst/>
            <a:rect l="l" t="t" r="r" b="b"/>
            <a:pathLst>
              <a:path w="9089382" h="9089382">
                <a:moveTo>
                  <a:pt x="0" y="9089383"/>
                </a:moveTo>
                <a:lnTo>
                  <a:pt x="9089382" y="9089383"/>
                </a:lnTo>
                <a:lnTo>
                  <a:pt x="9089382" y="0"/>
                </a:lnTo>
                <a:lnTo>
                  <a:pt x="0" y="0"/>
                </a:lnTo>
                <a:lnTo>
                  <a:pt x="0" y="9089383"/>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a:extLst>
              <a:ext uri="{FF2B5EF4-FFF2-40B4-BE49-F238E27FC236}">
                <a16:creationId xmlns:a16="http://schemas.microsoft.com/office/drawing/2014/main" id="{800CB357-02F1-3AC3-8DE8-4396E1E6ED8B}"/>
              </a:ext>
            </a:extLst>
          </p:cNvPr>
          <p:cNvSpPr/>
          <p:nvPr/>
        </p:nvSpPr>
        <p:spPr>
          <a:xfrm rot="-10800000" flipH="1" flipV="1">
            <a:off x="-4062512" y="1560569"/>
            <a:ext cx="9089382" cy="9089382"/>
          </a:xfrm>
          <a:custGeom>
            <a:avLst/>
            <a:gdLst/>
            <a:ahLst/>
            <a:cxnLst/>
            <a:rect l="l" t="t" r="r" b="b"/>
            <a:pathLst>
              <a:path w="9089382" h="9089382">
                <a:moveTo>
                  <a:pt x="9089382" y="9089382"/>
                </a:moveTo>
                <a:lnTo>
                  <a:pt x="0" y="9089382"/>
                </a:lnTo>
                <a:lnTo>
                  <a:pt x="0" y="0"/>
                </a:lnTo>
                <a:lnTo>
                  <a:pt x="9089382" y="0"/>
                </a:lnTo>
                <a:lnTo>
                  <a:pt x="9089382" y="908938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5" name="AutoShape 5">
            <a:extLst>
              <a:ext uri="{FF2B5EF4-FFF2-40B4-BE49-F238E27FC236}">
                <a16:creationId xmlns:a16="http://schemas.microsoft.com/office/drawing/2014/main" id="{024B6D27-1510-845F-59E4-B06ACE1820DC}"/>
              </a:ext>
            </a:extLst>
          </p:cNvPr>
          <p:cNvSpPr/>
          <p:nvPr/>
        </p:nvSpPr>
        <p:spPr>
          <a:xfrm>
            <a:off x="4980199" y="2628900"/>
            <a:ext cx="8327602" cy="0"/>
          </a:xfrm>
          <a:prstGeom prst="line">
            <a:avLst/>
          </a:prstGeom>
          <a:ln w="38100" cap="flat">
            <a:solidFill>
              <a:srgbClr val="C02519"/>
            </a:solidFill>
            <a:prstDash val="solid"/>
            <a:headEnd type="none" w="sm" len="sm"/>
            <a:tailEnd type="none" w="sm" len="sm"/>
          </a:ln>
        </p:spPr>
        <p:txBody>
          <a:bodyPr/>
          <a:lstStyle/>
          <a:p>
            <a:endParaRPr lang="en-IN"/>
          </a:p>
        </p:txBody>
      </p:sp>
      <p:sp>
        <p:nvSpPr>
          <p:cNvPr id="6" name="Freeform 6">
            <a:extLst>
              <a:ext uri="{FF2B5EF4-FFF2-40B4-BE49-F238E27FC236}">
                <a16:creationId xmlns:a16="http://schemas.microsoft.com/office/drawing/2014/main" id="{3A578073-698A-6DF7-2928-E39E93754C57}"/>
              </a:ext>
            </a:extLst>
          </p:cNvPr>
          <p:cNvSpPr/>
          <p:nvPr/>
        </p:nvSpPr>
        <p:spPr>
          <a:xfrm>
            <a:off x="713667" y="846179"/>
            <a:ext cx="1498304" cy="182521"/>
          </a:xfrm>
          <a:custGeom>
            <a:avLst/>
            <a:gdLst/>
            <a:ahLst/>
            <a:cxnLst/>
            <a:rect l="l" t="t" r="r" b="b"/>
            <a:pathLst>
              <a:path w="1498304" h="182521">
                <a:moveTo>
                  <a:pt x="0" y="0"/>
                </a:moveTo>
                <a:lnTo>
                  <a:pt x="1498303" y="0"/>
                </a:lnTo>
                <a:lnTo>
                  <a:pt x="1498303" y="182521"/>
                </a:lnTo>
                <a:lnTo>
                  <a:pt x="0" y="1825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a:extLst>
              <a:ext uri="{FF2B5EF4-FFF2-40B4-BE49-F238E27FC236}">
                <a16:creationId xmlns:a16="http://schemas.microsoft.com/office/drawing/2014/main" id="{3FCFBF7A-6261-6BAE-3152-C04A61F0556C}"/>
              </a:ext>
            </a:extLst>
          </p:cNvPr>
          <p:cNvSpPr/>
          <p:nvPr/>
        </p:nvSpPr>
        <p:spPr>
          <a:xfrm>
            <a:off x="16540193" y="546646"/>
            <a:ext cx="1603617" cy="1253737"/>
          </a:xfrm>
          <a:custGeom>
            <a:avLst/>
            <a:gdLst/>
            <a:ahLst/>
            <a:cxnLst/>
            <a:rect l="l" t="t" r="r" b="b"/>
            <a:pathLst>
              <a:path w="1603617" h="1253737">
                <a:moveTo>
                  <a:pt x="0" y="0"/>
                </a:moveTo>
                <a:lnTo>
                  <a:pt x="1603616" y="0"/>
                </a:lnTo>
                <a:lnTo>
                  <a:pt x="1603616" y="1253737"/>
                </a:lnTo>
                <a:lnTo>
                  <a:pt x="0" y="125373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0" name="TextBox 10">
            <a:extLst>
              <a:ext uri="{FF2B5EF4-FFF2-40B4-BE49-F238E27FC236}">
                <a16:creationId xmlns:a16="http://schemas.microsoft.com/office/drawing/2014/main" id="{19E53C30-B063-884B-F067-F79F86D84110}"/>
              </a:ext>
            </a:extLst>
          </p:cNvPr>
          <p:cNvSpPr txBox="1"/>
          <p:nvPr/>
        </p:nvSpPr>
        <p:spPr>
          <a:xfrm>
            <a:off x="2197683" y="1593907"/>
            <a:ext cx="13575717" cy="739241"/>
          </a:xfrm>
          <a:prstGeom prst="rect">
            <a:avLst/>
          </a:prstGeom>
        </p:spPr>
        <p:txBody>
          <a:bodyPr wrap="square" lIns="0" tIns="0" rIns="0" bIns="0" rtlCol="0" anchor="t">
            <a:spAutoFit/>
          </a:bodyPr>
          <a:lstStyle/>
          <a:p>
            <a:pPr lvl="0" algn="ctr">
              <a:lnSpc>
                <a:spcPts val="6003"/>
              </a:lnSpc>
            </a:pPr>
            <a:r>
              <a:rPr lang="en-US" sz="4800" dirty="0">
                <a:latin typeface="Arial Black" panose="020B0A04020102020204" pitchFamily="34" charset="0"/>
              </a:rPr>
              <a:t>Analysis 4 – Restaurants by Price Range</a:t>
            </a:r>
          </a:p>
        </p:txBody>
      </p:sp>
      <p:sp>
        <p:nvSpPr>
          <p:cNvPr id="18" name="TextBox 18">
            <a:extLst>
              <a:ext uri="{FF2B5EF4-FFF2-40B4-BE49-F238E27FC236}">
                <a16:creationId xmlns:a16="http://schemas.microsoft.com/office/drawing/2014/main" id="{6A172FDD-9AC7-6C95-BCAA-0CEDC9220E07}"/>
              </a:ext>
            </a:extLst>
          </p:cNvPr>
          <p:cNvSpPr txBox="1"/>
          <p:nvPr/>
        </p:nvSpPr>
        <p:spPr>
          <a:xfrm>
            <a:off x="1837394" y="3972175"/>
            <a:ext cx="6475412" cy="352425"/>
          </a:xfrm>
          <a:prstGeom prst="rect">
            <a:avLst/>
          </a:prstGeom>
        </p:spPr>
        <p:txBody>
          <a:bodyPr lIns="0" tIns="0" rIns="0" bIns="0" rtlCol="0" anchor="t">
            <a:spAutoFit/>
          </a:bodyPr>
          <a:lstStyle/>
          <a:p>
            <a:pPr marL="0" lvl="0" indent="0" algn="ctr">
              <a:lnSpc>
                <a:spcPts val="2668"/>
              </a:lnSpc>
            </a:pPr>
            <a:r>
              <a:rPr lang="en-US" sz="2223" b="1" spc="33">
                <a:solidFill>
                  <a:srgbClr val="FFFFFF"/>
                </a:solidFill>
                <a:latin typeface="Poppins Medium"/>
                <a:ea typeface="Poppins Medium"/>
                <a:cs typeface="Poppins Medium"/>
                <a:sym typeface="Poppins Medium"/>
              </a:rPr>
              <a:t>What's Included</a:t>
            </a:r>
          </a:p>
        </p:txBody>
      </p:sp>
      <p:sp>
        <p:nvSpPr>
          <p:cNvPr id="30" name="TextBox 29">
            <a:extLst>
              <a:ext uri="{FF2B5EF4-FFF2-40B4-BE49-F238E27FC236}">
                <a16:creationId xmlns:a16="http://schemas.microsoft.com/office/drawing/2014/main" id="{1289B460-4B7E-46CF-31DA-CBFB9BDDC3B9}"/>
              </a:ext>
            </a:extLst>
          </p:cNvPr>
          <p:cNvSpPr txBox="1"/>
          <p:nvPr/>
        </p:nvSpPr>
        <p:spPr>
          <a:xfrm>
            <a:off x="9365548" y="3695705"/>
            <a:ext cx="6026852" cy="4708981"/>
          </a:xfrm>
          <a:prstGeom prst="rect">
            <a:avLst/>
          </a:prstGeom>
          <a:noFill/>
        </p:spPr>
        <p:txBody>
          <a:bodyPr wrap="square">
            <a:spAutoFit/>
          </a:bodyPr>
          <a:lstStyle/>
          <a:p>
            <a:pPr marL="457200" indent="-457200">
              <a:buFont typeface="Wingdings" panose="05000000000000000000" pitchFamily="2" charset="2"/>
              <a:buChar char="Ø"/>
            </a:pPr>
            <a:r>
              <a:rPr lang="en-US" sz="2800" dirty="0"/>
              <a:t>Most restaurants fall within the low to mid- price range, indicating affordability is a key factor in the market. </a:t>
            </a:r>
          </a:p>
          <a:p>
            <a:pPr marL="457200" indent="-457200">
              <a:buFont typeface="Wingdings" panose="05000000000000000000" pitchFamily="2" charset="2"/>
              <a:buChar char="Ø"/>
            </a:pPr>
            <a:r>
              <a:rPr lang="en-US" sz="2800" dirty="0"/>
              <a:t>A smaller proportion of restaurants belong to the high-price segment, targeting premium customers.</a:t>
            </a:r>
          </a:p>
          <a:p>
            <a:pPr marL="457200" indent="-457200">
              <a:buFont typeface="Wingdings" panose="05000000000000000000" pitchFamily="2" charset="2"/>
              <a:buChar char="Ø"/>
            </a:pPr>
            <a:r>
              <a:rPr lang="en-US" sz="2800" dirty="0"/>
              <a:t>Price range analysis helps businesses understand customer spending behavior and market positioning.</a:t>
            </a:r>
          </a:p>
          <a:p>
            <a:r>
              <a:rPr lang="en-US" sz="2000" dirty="0"/>
              <a:t>. </a:t>
            </a:r>
          </a:p>
        </p:txBody>
      </p:sp>
      <p:pic>
        <p:nvPicPr>
          <p:cNvPr id="7" name="Picture 6">
            <a:extLst>
              <a:ext uri="{FF2B5EF4-FFF2-40B4-BE49-F238E27FC236}">
                <a16:creationId xmlns:a16="http://schemas.microsoft.com/office/drawing/2014/main" id="{021B74BA-6EEA-746D-2CC2-3624B361CB86}"/>
              </a:ext>
            </a:extLst>
          </p:cNvPr>
          <p:cNvPicPr>
            <a:picLocks noChangeAspect="1"/>
          </p:cNvPicPr>
          <p:nvPr/>
        </p:nvPicPr>
        <p:blipFill>
          <a:blip r:embed="rId5"/>
          <a:stretch>
            <a:fillRect/>
          </a:stretch>
        </p:blipFill>
        <p:spPr>
          <a:xfrm>
            <a:off x="2156421" y="3667131"/>
            <a:ext cx="6535308" cy="3990967"/>
          </a:xfrm>
          <a:prstGeom prst="rect">
            <a:avLst/>
          </a:prstGeom>
        </p:spPr>
      </p:pic>
    </p:spTree>
    <p:extLst>
      <p:ext uri="{BB962C8B-B14F-4D97-AF65-F5344CB8AC3E}">
        <p14:creationId xmlns:p14="http://schemas.microsoft.com/office/powerpoint/2010/main" val="2442793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312D0-9A62-5D20-CD40-9E98A8B93138}"/>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04EF4A9C-1BDD-60A7-AD11-24DF2797A773}"/>
              </a:ext>
            </a:extLst>
          </p:cNvPr>
          <p:cNvSpPr/>
          <p:nvPr/>
        </p:nvSpPr>
        <p:spPr>
          <a:xfrm rot="-10800000" flipV="1">
            <a:off x="12876469" y="1265598"/>
            <a:ext cx="9089382" cy="9089382"/>
          </a:xfrm>
          <a:custGeom>
            <a:avLst/>
            <a:gdLst/>
            <a:ahLst/>
            <a:cxnLst/>
            <a:rect l="l" t="t" r="r" b="b"/>
            <a:pathLst>
              <a:path w="9089382" h="9089382">
                <a:moveTo>
                  <a:pt x="0" y="9089383"/>
                </a:moveTo>
                <a:lnTo>
                  <a:pt x="9089382" y="9089383"/>
                </a:lnTo>
                <a:lnTo>
                  <a:pt x="9089382" y="0"/>
                </a:lnTo>
                <a:lnTo>
                  <a:pt x="0" y="0"/>
                </a:lnTo>
                <a:lnTo>
                  <a:pt x="0" y="9089383"/>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a:extLst>
              <a:ext uri="{FF2B5EF4-FFF2-40B4-BE49-F238E27FC236}">
                <a16:creationId xmlns:a16="http://schemas.microsoft.com/office/drawing/2014/main" id="{CD6221CB-E952-D212-94AA-AF228EBEBE64}"/>
              </a:ext>
            </a:extLst>
          </p:cNvPr>
          <p:cNvSpPr/>
          <p:nvPr/>
        </p:nvSpPr>
        <p:spPr>
          <a:xfrm rot="-10800000" flipH="1" flipV="1">
            <a:off x="-4062512" y="1560569"/>
            <a:ext cx="9089382" cy="9089382"/>
          </a:xfrm>
          <a:custGeom>
            <a:avLst/>
            <a:gdLst/>
            <a:ahLst/>
            <a:cxnLst/>
            <a:rect l="l" t="t" r="r" b="b"/>
            <a:pathLst>
              <a:path w="9089382" h="9089382">
                <a:moveTo>
                  <a:pt x="9089382" y="9089382"/>
                </a:moveTo>
                <a:lnTo>
                  <a:pt x="0" y="9089382"/>
                </a:lnTo>
                <a:lnTo>
                  <a:pt x="0" y="0"/>
                </a:lnTo>
                <a:lnTo>
                  <a:pt x="9089382" y="0"/>
                </a:lnTo>
                <a:lnTo>
                  <a:pt x="9089382" y="908938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5" name="AutoShape 5">
            <a:extLst>
              <a:ext uri="{FF2B5EF4-FFF2-40B4-BE49-F238E27FC236}">
                <a16:creationId xmlns:a16="http://schemas.microsoft.com/office/drawing/2014/main" id="{D82FE155-0039-795C-50E0-0D30A477A6BE}"/>
              </a:ext>
            </a:extLst>
          </p:cNvPr>
          <p:cNvSpPr/>
          <p:nvPr/>
        </p:nvSpPr>
        <p:spPr>
          <a:xfrm>
            <a:off x="5026871" y="3162300"/>
            <a:ext cx="8327602" cy="0"/>
          </a:xfrm>
          <a:prstGeom prst="line">
            <a:avLst/>
          </a:prstGeom>
          <a:ln w="38100" cap="flat">
            <a:solidFill>
              <a:srgbClr val="C02519"/>
            </a:solidFill>
            <a:prstDash val="solid"/>
            <a:headEnd type="none" w="sm" len="sm"/>
            <a:tailEnd type="none" w="sm" len="sm"/>
          </a:ln>
        </p:spPr>
        <p:txBody>
          <a:bodyPr/>
          <a:lstStyle/>
          <a:p>
            <a:endParaRPr lang="en-IN"/>
          </a:p>
        </p:txBody>
      </p:sp>
      <p:sp>
        <p:nvSpPr>
          <p:cNvPr id="6" name="Freeform 6">
            <a:extLst>
              <a:ext uri="{FF2B5EF4-FFF2-40B4-BE49-F238E27FC236}">
                <a16:creationId xmlns:a16="http://schemas.microsoft.com/office/drawing/2014/main" id="{F6145B27-C348-B8BA-A9AB-6941DAC1FDF4}"/>
              </a:ext>
            </a:extLst>
          </p:cNvPr>
          <p:cNvSpPr/>
          <p:nvPr/>
        </p:nvSpPr>
        <p:spPr>
          <a:xfrm>
            <a:off x="713667" y="846179"/>
            <a:ext cx="1498304" cy="182521"/>
          </a:xfrm>
          <a:custGeom>
            <a:avLst/>
            <a:gdLst/>
            <a:ahLst/>
            <a:cxnLst/>
            <a:rect l="l" t="t" r="r" b="b"/>
            <a:pathLst>
              <a:path w="1498304" h="182521">
                <a:moveTo>
                  <a:pt x="0" y="0"/>
                </a:moveTo>
                <a:lnTo>
                  <a:pt x="1498303" y="0"/>
                </a:lnTo>
                <a:lnTo>
                  <a:pt x="1498303" y="182521"/>
                </a:lnTo>
                <a:lnTo>
                  <a:pt x="0" y="1825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a:extLst>
              <a:ext uri="{FF2B5EF4-FFF2-40B4-BE49-F238E27FC236}">
                <a16:creationId xmlns:a16="http://schemas.microsoft.com/office/drawing/2014/main" id="{1506C157-71A0-7444-E472-7AE71444EDBE}"/>
              </a:ext>
            </a:extLst>
          </p:cNvPr>
          <p:cNvSpPr/>
          <p:nvPr/>
        </p:nvSpPr>
        <p:spPr>
          <a:xfrm>
            <a:off x="16540193" y="546646"/>
            <a:ext cx="1603617" cy="1253737"/>
          </a:xfrm>
          <a:custGeom>
            <a:avLst/>
            <a:gdLst/>
            <a:ahLst/>
            <a:cxnLst/>
            <a:rect l="l" t="t" r="r" b="b"/>
            <a:pathLst>
              <a:path w="1603617" h="1253737">
                <a:moveTo>
                  <a:pt x="0" y="0"/>
                </a:moveTo>
                <a:lnTo>
                  <a:pt x="1603616" y="0"/>
                </a:lnTo>
                <a:lnTo>
                  <a:pt x="1603616" y="1253737"/>
                </a:lnTo>
                <a:lnTo>
                  <a:pt x="0" y="125373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0" name="TextBox 10">
            <a:extLst>
              <a:ext uri="{FF2B5EF4-FFF2-40B4-BE49-F238E27FC236}">
                <a16:creationId xmlns:a16="http://schemas.microsoft.com/office/drawing/2014/main" id="{68347D40-15D0-D27F-EBC4-65E6D9E8AC64}"/>
              </a:ext>
            </a:extLst>
          </p:cNvPr>
          <p:cNvSpPr txBox="1"/>
          <p:nvPr/>
        </p:nvSpPr>
        <p:spPr>
          <a:xfrm>
            <a:off x="2425289" y="1443272"/>
            <a:ext cx="13880517" cy="1541355"/>
          </a:xfrm>
          <a:prstGeom prst="rect">
            <a:avLst/>
          </a:prstGeom>
        </p:spPr>
        <p:txBody>
          <a:bodyPr wrap="square" lIns="0" tIns="0" rIns="0" bIns="0" rtlCol="0" anchor="t">
            <a:spAutoFit/>
          </a:bodyPr>
          <a:lstStyle/>
          <a:p>
            <a:pPr lvl="0" algn="ctr">
              <a:lnSpc>
                <a:spcPts val="6003"/>
              </a:lnSpc>
            </a:pPr>
            <a:r>
              <a:rPr lang="en-US" sz="4800" dirty="0">
                <a:latin typeface="Arial Black" panose="020B0A04020102020204" pitchFamily="34" charset="0"/>
              </a:rPr>
              <a:t>Analysis 5 – %  Table Booking and Online Delivery</a:t>
            </a:r>
          </a:p>
        </p:txBody>
      </p:sp>
      <p:sp>
        <p:nvSpPr>
          <p:cNvPr id="18" name="TextBox 18">
            <a:extLst>
              <a:ext uri="{FF2B5EF4-FFF2-40B4-BE49-F238E27FC236}">
                <a16:creationId xmlns:a16="http://schemas.microsoft.com/office/drawing/2014/main" id="{7E39087A-B2BA-CF46-7DCE-1CB03385F06D}"/>
              </a:ext>
            </a:extLst>
          </p:cNvPr>
          <p:cNvSpPr txBox="1"/>
          <p:nvPr/>
        </p:nvSpPr>
        <p:spPr>
          <a:xfrm>
            <a:off x="1837394" y="3972175"/>
            <a:ext cx="6475412" cy="352425"/>
          </a:xfrm>
          <a:prstGeom prst="rect">
            <a:avLst/>
          </a:prstGeom>
        </p:spPr>
        <p:txBody>
          <a:bodyPr lIns="0" tIns="0" rIns="0" bIns="0" rtlCol="0" anchor="t">
            <a:spAutoFit/>
          </a:bodyPr>
          <a:lstStyle/>
          <a:p>
            <a:pPr marL="0" lvl="0" indent="0" algn="ctr">
              <a:lnSpc>
                <a:spcPts val="2668"/>
              </a:lnSpc>
            </a:pPr>
            <a:r>
              <a:rPr lang="en-US" sz="2223" b="1" spc="33">
                <a:solidFill>
                  <a:srgbClr val="FFFFFF"/>
                </a:solidFill>
                <a:latin typeface="Poppins Medium"/>
                <a:ea typeface="Poppins Medium"/>
                <a:cs typeface="Poppins Medium"/>
                <a:sym typeface="Poppins Medium"/>
              </a:rPr>
              <a:t>What's Included</a:t>
            </a:r>
          </a:p>
        </p:txBody>
      </p:sp>
      <p:sp>
        <p:nvSpPr>
          <p:cNvPr id="30" name="TextBox 29">
            <a:extLst>
              <a:ext uri="{FF2B5EF4-FFF2-40B4-BE49-F238E27FC236}">
                <a16:creationId xmlns:a16="http://schemas.microsoft.com/office/drawing/2014/main" id="{C4BAD9AE-08B5-7933-90DF-95A1F35DD22B}"/>
              </a:ext>
            </a:extLst>
          </p:cNvPr>
          <p:cNvSpPr txBox="1"/>
          <p:nvPr/>
        </p:nvSpPr>
        <p:spPr>
          <a:xfrm>
            <a:off x="9365548" y="3695705"/>
            <a:ext cx="6026852" cy="5262979"/>
          </a:xfrm>
          <a:prstGeom prst="rect">
            <a:avLst/>
          </a:prstGeom>
          <a:noFill/>
        </p:spPr>
        <p:txBody>
          <a:bodyPr wrap="square">
            <a:spAutoFit/>
          </a:bodyPr>
          <a:lstStyle/>
          <a:p>
            <a:pPr marL="457200" indent="-457200">
              <a:buFont typeface="Wingdings" panose="05000000000000000000" pitchFamily="2" charset="2"/>
              <a:buChar char="Ø"/>
            </a:pPr>
            <a:r>
              <a:rPr lang="en-US" sz="2800" dirty="0"/>
              <a:t>A higher percentage of restaurants offer online delivery, indicating strong demand for convenience and home dining.</a:t>
            </a:r>
          </a:p>
          <a:p>
            <a:pPr marL="457200" indent="-457200">
              <a:buFont typeface="Wingdings" panose="05000000000000000000" pitchFamily="2" charset="2"/>
              <a:buChar char="Ø"/>
            </a:pPr>
            <a:r>
              <a:rPr lang="en-US" sz="2800" dirty="0"/>
              <a:t>A comparatively lower percentage provide table booking, suggesting dine-in reservations are less prioritized.</a:t>
            </a:r>
          </a:p>
          <a:p>
            <a:pPr marL="457200" indent="-457200">
              <a:buFont typeface="Wingdings" panose="05000000000000000000" pitchFamily="2" charset="2"/>
              <a:buChar char="Ø"/>
            </a:pPr>
            <a:r>
              <a:rPr lang="en-US" sz="2800" dirty="0"/>
              <a:t>This trend highlights a shift towards digital ordering and delivery focused business models in the restaurant industry</a:t>
            </a:r>
            <a:endParaRPr lang="en-US" sz="2000" dirty="0"/>
          </a:p>
        </p:txBody>
      </p:sp>
      <p:pic>
        <p:nvPicPr>
          <p:cNvPr id="9" name="Picture 8">
            <a:extLst>
              <a:ext uri="{FF2B5EF4-FFF2-40B4-BE49-F238E27FC236}">
                <a16:creationId xmlns:a16="http://schemas.microsoft.com/office/drawing/2014/main" id="{AD6CD9A1-EE79-3F3E-3C66-2A2C30640C24}"/>
              </a:ext>
            </a:extLst>
          </p:cNvPr>
          <p:cNvPicPr>
            <a:picLocks noChangeAspect="1"/>
          </p:cNvPicPr>
          <p:nvPr/>
        </p:nvPicPr>
        <p:blipFill>
          <a:blip r:embed="rId5"/>
          <a:stretch>
            <a:fillRect/>
          </a:stretch>
        </p:blipFill>
        <p:spPr>
          <a:xfrm>
            <a:off x="1320869" y="4588232"/>
            <a:ext cx="3149462" cy="2923925"/>
          </a:xfrm>
          <a:prstGeom prst="rect">
            <a:avLst/>
          </a:prstGeom>
        </p:spPr>
      </p:pic>
      <p:pic>
        <p:nvPicPr>
          <p:cNvPr id="12" name="Picture 11">
            <a:extLst>
              <a:ext uri="{FF2B5EF4-FFF2-40B4-BE49-F238E27FC236}">
                <a16:creationId xmlns:a16="http://schemas.microsoft.com/office/drawing/2014/main" id="{08584F27-CE96-C1D3-CC99-97B60CBB2D39}"/>
              </a:ext>
            </a:extLst>
          </p:cNvPr>
          <p:cNvPicPr>
            <a:picLocks noChangeAspect="1"/>
          </p:cNvPicPr>
          <p:nvPr/>
        </p:nvPicPr>
        <p:blipFill>
          <a:blip r:embed="rId6"/>
          <a:stretch>
            <a:fillRect/>
          </a:stretch>
        </p:blipFill>
        <p:spPr>
          <a:xfrm>
            <a:off x="5227855" y="4563350"/>
            <a:ext cx="3276599" cy="2923925"/>
          </a:xfrm>
          <a:prstGeom prst="rect">
            <a:avLst/>
          </a:prstGeom>
        </p:spPr>
      </p:pic>
    </p:spTree>
    <p:extLst>
      <p:ext uri="{BB962C8B-B14F-4D97-AF65-F5344CB8AC3E}">
        <p14:creationId xmlns:p14="http://schemas.microsoft.com/office/powerpoint/2010/main" val="1788472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11226555" y="-1856007"/>
            <a:ext cx="9089382" cy="9089382"/>
          </a:xfrm>
          <a:custGeom>
            <a:avLst/>
            <a:gdLst/>
            <a:ahLst/>
            <a:cxnLst/>
            <a:rect l="l" t="t" r="r" b="b"/>
            <a:pathLst>
              <a:path w="9089382" h="9089382">
                <a:moveTo>
                  <a:pt x="0" y="0"/>
                </a:moveTo>
                <a:lnTo>
                  <a:pt x="9089382" y="0"/>
                </a:lnTo>
                <a:lnTo>
                  <a:pt x="9089382" y="9089382"/>
                </a:lnTo>
                <a:lnTo>
                  <a:pt x="0" y="9089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rot="-10800000" flipH="1">
            <a:off x="-2027937" y="-1633436"/>
            <a:ext cx="9089382" cy="9089382"/>
          </a:xfrm>
          <a:custGeom>
            <a:avLst/>
            <a:gdLst/>
            <a:ahLst/>
            <a:cxnLst/>
            <a:rect l="l" t="t" r="r" b="b"/>
            <a:pathLst>
              <a:path w="9089382" h="9089382">
                <a:moveTo>
                  <a:pt x="9089382" y="0"/>
                </a:moveTo>
                <a:lnTo>
                  <a:pt x="0" y="0"/>
                </a:lnTo>
                <a:lnTo>
                  <a:pt x="0" y="9089382"/>
                </a:lnTo>
                <a:lnTo>
                  <a:pt x="9089382" y="9089382"/>
                </a:lnTo>
                <a:lnTo>
                  <a:pt x="9089382"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TextBox 4"/>
          <p:cNvSpPr txBox="1"/>
          <p:nvPr/>
        </p:nvSpPr>
        <p:spPr>
          <a:xfrm>
            <a:off x="1754770" y="2013478"/>
            <a:ext cx="14778459" cy="927754"/>
          </a:xfrm>
          <a:prstGeom prst="rect">
            <a:avLst/>
          </a:prstGeom>
        </p:spPr>
        <p:txBody>
          <a:bodyPr lIns="0" tIns="0" rIns="0" bIns="0" rtlCol="0" anchor="t">
            <a:spAutoFit/>
          </a:bodyPr>
          <a:lstStyle/>
          <a:p>
            <a:pPr lvl="0" algn="ctr">
              <a:lnSpc>
                <a:spcPts val="6745"/>
              </a:lnSpc>
            </a:pPr>
            <a:r>
              <a:rPr lang="en-IN" sz="8000" dirty="0">
                <a:latin typeface="Arial Black" panose="020B0A04020102020204" pitchFamily="34" charset="0"/>
              </a:rPr>
              <a:t>CONCLUSION</a:t>
            </a:r>
            <a:endParaRPr lang="en-US" sz="7494" b="1" dirty="0">
              <a:solidFill>
                <a:srgbClr val="100302"/>
              </a:solidFill>
              <a:latin typeface="Poppins Semi-Bold"/>
              <a:ea typeface="Poppins Semi-Bold"/>
              <a:cs typeface="Poppins Semi-Bold"/>
              <a:sym typeface="Poppins Semi-Bold"/>
            </a:endParaRPr>
          </a:p>
        </p:txBody>
      </p:sp>
      <p:sp>
        <p:nvSpPr>
          <p:cNvPr id="7" name="AutoShape 7"/>
          <p:cNvSpPr/>
          <p:nvPr/>
        </p:nvSpPr>
        <p:spPr>
          <a:xfrm>
            <a:off x="4980199" y="3055431"/>
            <a:ext cx="8327602" cy="0"/>
          </a:xfrm>
          <a:prstGeom prst="line">
            <a:avLst/>
          </a:prstGeom>
          <a:ln w="38100" cap="flat">
            <a:solidFill>
              <a:srgbClr val="C02519"/>
            </a:solidFill>
            <a:prstDash val="solid"/>
            <a:headEnd type="none" w="sm" len="sm"/>
            <a:tailEnd type="none" w="sm" len="sm"/>
          </a:ln>
        </p:spPr>
        <p:txBody>
          <a:bodyPr/>
          <a:lstStyle/>
          <a:p>
            <a:endParaRPr lang="en-IN" dirty="0"/>
          </a:p>
        </p:txBody>
      </p:sp>
      <p:sp>
        <p:nvSpPr>
          <p:cNvPr id="12" name="TextBox 12"/>
          <p:cNvSpPr txBox="1"/>
          <p:nvPr/>
        </p:nvSpPr>
        <p:spPr>
          <a:xfrm>
            <a:off x="8186281" y="4203332"/>
            <a:ext cx="8179539" cy="352425"/>
          </a:xfrm>
          <a:prstGeom prst="rect">
            <a:avLst/>
          </a:prstGeom>
        </p:spPr>
        <p:txBody>
          <a:bodyPr lIns="0" tIns="0" rIns="0" bIns="0" rtlCol="0" anchor="t">
            <a:spAutoFit/>
          </a:bodyPr>
          <a:lstStyle/>
          <a:p>
            <a:pPr marL="0" lvl="0" indent="0" algn="ctr">
              <a:lnSpc>
                <a:spcPts val="2697"/>
              </a:lnSpc>
            </a:pPr>
            <a:r>
              <a:rPr lang="en-US" sz="2247" b="1" spc="33">
                <a:solidFill>
                  <a:srgbClr val="FFFFFF"/>
                </a:solidFill>
                <a:latin typeface="Poppins Medium"/>
                <a:ea typeface="Poppins Medium"/>
                <a:cs typeface="Poppins Medium"/>
                <a:sym typeface="Poppins Medium"/>
              </a:rPr>
              <a:t>Zomato Dataset — Source, Records &amp; Column Overview</a:t>
            </a:r>
          </a:p>
        </p:txBody>
      </p:sp>
      <p:sp>
        <p:nvSpPr>
          <p:cNvPr id="14" name="TextBox 14"/>
          <p:cNvSpPr txBox="1"/>
          <p:nvPr/>
        </p:nvSpPr>
        <p:spPr>
          <a:xfrm>
            <a:off x="3429000" y="4000500"/>
            <a:ext cx="11963400" cy="3447098"/>
          </a:xfrm>
          <a:prstGeom prst="rect">
            <a:avLst/>
          </a:prstGeom>
        </p:spPr>
        <p:txBody>
          <a:bodyPr wrap="square" lIns="0" tIns="0" rIns="0" bIns="0" rtlCol="0" anchor="t">
            <a:spAutoFit/>
          </a:bodyPr>
          <a:lstStyle/>
          <a:p>
            <a:pPr marL="285750" indent="-285750">
              <a:buFont typeface="Wingdings" panose="05000000000000000000" pitchFamily="2" charset="2"/>
              <a:buChar char="Ø"/>
            </a:pPr>
            <a:r>
              <a:rPr lang="en-US" sz="2800" dirty="0"/>
              <a:t>The analysis provided valuable insights into restaurant distribution, pricing, and customer preferences. </a:t>
            </a:r>
          </a:p>
          <a:p>
            <a:pPr marL="285750" indent="-285750">
              <a:buFont typeface="Wingdings" panose="05000000000000000000" pitchFamily="2" charset="2"/>
              <a:buChar char="Ø"/>
            </a:pPr>
            <a:r>
              <a:rPr lang="en-US" sz="2800" dirty="0"/>
              <a:t>Most restaurants fall in the mid-price and mid-rating range, showing a competitive market. </a:t>
            </a:r>
          </a:p>
          <a:p>
            <a:pPr marL="285750" indent="-285750">
              <a:buFont typeface="Wingdings" panose="05000000000000000000" pitchFamily="2" charset="2"/>
              <a:buChar char="Ø"/>
            </a:pPr>
            <a:r>
              <a:rPr lang="en-US" sz="2800" dirty="0"/>
              <a:t>Online delivery plays a major role, reflecting changing customer behavior towards convenience. </a:t>
            </a:r>
          </a:p>
          <a:p>
            <a:pPr marL="285750" indent="-285750">
              <a:buFont typeface="Wingdings" panose="05000000000000000000" pitchFamily="2" charset="2"/>
              <a:buChar char="Ø"/>
            </a:pPr>
            <a:r>
              <a:rPr lang="en-US" sz="2800" dirty="0"/>
              <a:t>Data-driven insights can help businesses improve service quality, optimize pricing, and expand strategically</a:t>
            </a:r>
            <a:r>
              <a:rPr lang="en-US" sz="1600" dirty="0"/>
              <a:t>.</a:t>
            </a:r>
            <a:endParaRPr lang="en-US" sz="1438" spc="21" dirty="0">
              <a:solidFill>
                <a:srgbClr val="100302"/>
              </a:solidFill>
              <a:latin typeface="Poppins"/>
              <a:ea typeface="Poppins"/>
              <a:cs typeface="Poppins"/>
              <a:sym typeface="Poppins"/>
            </a:endParaRPr>
          </a:p>
        </p:txBody>
      </p:sp>
      <p:sp>
        <p:nvSpPr>
          <p:cNvPr id="15" name="Freeform 15"/>
          <p:cNvSpPr/>
          <p:nvPr/>
        </p:nvSpPr>
        <p:spPr>
          <a:xfrm>
            <a:off x="15248285" y="9410364"/>
            <a:ext cx="1498304" cy="182521"/>
          </a:xfrm>
          <a:custGeom>
            <a:avLst/>
            <a:gdLst/>
            <a:ahLst/>
            <a:cxnLst/>
            <a:rect l="l" t="t" r="r" b="b"/>
            <a:pathLst>
              <a:path w="1498304" h="182521">
                <a:moveTo>
                  <a:pt x="0" y="0"/>
                </a:moveTo>
                <a:lnTo>
                  <a:pt x="1498304" y="0"/>
                </a:lnTo>
                <a:lnTo>
                  <a:pt x="1498304" y="182521"/>
                </a:lnTo>
                <a:lnTo>
                  <a:pt x="0" y="1825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6" name="Freeform 16"/>
          <p:cNvSpPr/>
          <p:nvPr/>
        </p:nvSpPr>
        <p:spPr>
          <a:xfrm>
            <a:off x="451274" y="8900815"/>
            <a:ext cx="1303497" cy="1019098"/>
          </a:xfrm>
          <a:custGeom>
            <a:avLst/>
            <a:gdLst/>
            <a:ahLst/>
            <a:cxnLst/>
            <a:rect l="l" t="t" r="r" b="b"/>
            <a:pathLst>
              <a:path w="1303497" h="1019098">
                <a:moveTo>
                  <a:pt x="0" y="0"/>
                </a:moveTo>
                <a:lnTo>
                  <a:pt x="1303496" y="0"/>
                </a:lnTo>
                <a:lnTo>
                  <a:pt x="1303496" y="1019098"/>
                </a:lnTo>
                <a:lnTo>
                  <a:pt x="0" y="101909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1F058-5E54-121B-FB59-6649CEC78BB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DAF420C-7A56-F922-447C-F42D6F57E112}"/>
              </a:ext>
            </a:extLst>
          </p:cNvPr>
          <p:cNvSpPr/>
          <p:nvPr/>
        </p:nvSpPr>
        <p:spPr>
          <a:xfrm rot="-10800000">
            <a:off x="11226555" y="-1856007"/>
            <a:ext cx="9089382" cy="9089382"/>
          </a:xfrm>
          <a:custGeom>
            <a:avLst/>
            <a:gdLst/>
            <a:ahLst/>
            <a:cxnLst/>
            <a:rect l="l" t="t" r="r" b="b"/>
            <a:pathLst>
              <a:path w="9089382" h="9089382">
                <a:moveTo>
                  <a:pt x="0" y="0"/>
                </a:moveTo>
                <a:lnTo>
                  <a:pt x="9089382" y="0"/>
                </a:lnTo>
                <a:lnTo>
                  <a:pt x="9089382" y="9089382"/>
                </a:lnTo>
                <a:lnTo>
                  <a:pt x="0" y="9089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a:extLst>
              <a:ext uri="{FF2B5EF4-FFF2-40B4-BE49-F238E27FC236}">
                <a16:creationId xmlns:a16="http://schemas.microsoft.com/office/drawing/2014/main" id="{D9F4659C-444A-7236-BF19-794D9320216F}"/>
              </a:ext>
            </a:extLst>
          </p:cNvPr>
          <p:cNvSpPr/>
          <p:nvPr/>
        </p:nvSpPr>
        <p:spPr>
          <a:xfrm rot="-10800000" flipH="1">
            <a:off x="-2027937" y="-1633436"/>
            <a:ext cx="9089382" cy="9089382"/>
          </a:xfrm>
          <a:custGeom>
            <a:avLst/>
            <a:gdLst/>
            <a:ahLst/>
            <a:cxnLst/>
            <a:rect l="l" t="t" r="r" b="b"/>
            <a:pathLst>
              <a:path w="9089382" h="9089382">
                <a:moveTo>
                  <a:pt x="9089382" y="0"/>
                </a:moveTo>
                <a:lnTo>
                  <a:pt x="0" y="0"/>
                </a:lnTo>
                <a:lnTo>
                  <a:pt x="0" y="9089382"/>
                </a:lnTo>
                <a:lnTo>
                  <a:pt x="9089382" y="9089382"/>
                </a:lnTo>
                <a:lnTo>
                  <a:pt x="9089382"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TextBox 4">
            <a:extLst>
              <a:ext uri="{FF2B5EF4-FFF2-40B4-BE49-F238E27FC236}">
                <a16:creationId xmlns:a16="http://schemas.microsoft.com/office/drawing/2014/main" id="{717CCE5E-6359-24A3-B38C-3E62C4769474}"/>
              </a:ext>
            </a:extLst>
          </p:cNvPr>
          <p:cNvSpPr txBox="1"/>
          <p:nvPr/>
        </p:nvSpPr>
        <p:spPr>
          <a:xfrm>
            <a:off x="1754770" y="2013478"/>
            <a:ext cx="14778459" cy="859210"/>
          </a:xfrm>
          <a:prstGeom prst="rect">
            <a:avLst/>
          </a:prstGeom>
        </p:spPr>
        <p:txBody>
          <a:bodyPr lIns="0" tIns="0" rIns="0" bIns="0" rtlCol="0" anchor="t">
            <a:spAutoFit/>
          </a:bodyPr>
          <a:lstStyle/>
          <a:p>
            <a:pPr lvl="0" algn="ctr">
              <a:lnSpc>
                <a:spcPts val="6745"/>
              </a:lnSpc>
            </a:pPr>
            <a:r>
              <a:rPr lang="en-US" sz="6000" dirty="0">
                <a:latin typeface="Arial Black" panose="020B0A04020102020204" pitchFamily="34" charset="0"/>
              </a:rPr>
              <a:t>Challenges &amp; Learnings</a:t>
            </a:r>
            <a:endParaRPr lang="en-US" sz="6000" b="1" dirty="0">
              <a:solidFill>
                <a:srgbClr val="100302"/>
              </a:solidFill>
              <a:latin typeface="Poppins Semi-Bold"/>
              <a:ea typeface="Poppins Semi-Bold"/>
              <a:cs typeface="Poppins Semi-Bold"/>
              <a:sym typeface="Poppins Semi-Bold"/>
            </a:endParaRPr>
          </a:p>
        </p:txBody>
      </p:sp>
      <p:sp>
        <p:nvSpPr>
          <p:cNvPr id="7" name="AutoShape 7">
            <a:extLst>
              <a:ext uri="{FF2B5EF4-FFF2-40B4-BE49-F238E27FC236}">
                <a16:creationId xmlns:a16="http://schemas.microsoft.com/office/drawing/2014/main" id="{CF9AE220-22F1-9188-A6D6-1147B67936C7}"/>
              </a:ext>
            </a:extLst>
          </p:cNvPr>
          <p:cNvSpPr/>
          <p:nvPr/>
        </p:nvSpPr>
        <p:spPr>
          <a:xfrm>
            <a:off x="4980199" y="3055431"/>
            <a:ext cx="8327602" cy="0"/>
          </a:xfrm>
          <a:prstGeom prst="line">
            <a:avLst/>
          </a:prstGeom>
          <a:ln w="38100" cap="flat">
            <a:solidFill>
              <a:srgbClr val="C02519"/>
            </a:solidFill>
            <a:prstDash val="solid"/>
            <a:headEnd type="none" w="sm" len="sm"/>
            <a:tailEnd type="none" w="sm" len="sm"/>
          </a:ln>
        </p:spPr>
        <p:txBody>
          <a:bodyPr/>
          <a:lstStyle/>
          <a:p>
            <a:endParaRPr lang="en-IN" dirty="0"/>
          </a:p>
        </p:txBody>
      </p:sp>
      <p:sp>
        <p:nvSpPr>
          <p:cNvPr id="12" name="TextBox 12">
            <a:extLst>
              <a:ext uri="{FF2B5EF4-FFF2-40B4-BE49-F238E27FC236}">
                <a16:creationId xmlns:a16="http://schemas.microsoft.com/office/drawing/2014/main" id="{AA48836E-24C6-A8DE-56FD-B8DF72597E09}"/>
              </a:ext>
            </a:extLst>
          </p:cNvPr>
          <p:cNvSpPr txBox="1"/>
          <p:nvPr/>
        </p:nvSpPr>
        <p:spPr>
          <a:xfrm>
            <a:off x="8186281" y="4203332"/>
            <a:ext cx="8179539" cy="352425"/>
          </a:xfrm>
          <a:prstGeom prst="rect">
            <a:avLst/>
          </a:prstGeom>
        </p:spPr>
        <p:txBody>
          <a:bodyPr lIns="0" tIns="0" rIns="0" bIns="0" rtlCol="0" anchor="t">
            <a:spAutoFit/>
          </a:bodyPr>
          <a:lstStyle/>
          <a:p>
            <a:pPr marL="0" lvl="0" indent="0" algn="ctr">
              <a:lnSpc>
                <a:spcPts val="2697"/>
              </a:lnSpc>
            </a:pPr>
            <a:r>
              <a:rPr lang="en-US" sz="2247" b="1" spc="33">
                <a:solidFill>
                  <a:srgbClr val="FFFFFF"/>
                </a:solidFill>
                <a:latin typeface="Poppins Medium"/>
                <a:ea typeface="Poppins Medium"/>
                <a:cs typeface="Poppins Medium"/>
                <a:sym typeface="Poppins Medium"/>
              </a:rPr>
              <a:t>Zomato Dataset — Source, Records &amp; Column Overview</a:t>
            </a:r>
          </a:p>
        </p:txBody>
      </p:sp>
      <p:sp>
        <p:nvSpPr>
          <p:cNvPr id="14" name="TextBox 14">
            <a:extLst>
              <a:ext uri="{FF2B5EF4-FFF2-40B4-BE49-F238E27FC236}">
                <a16:creationId xmlns:a16="http://schemas.microsoft.com/office/drawing/2014/main" id="{7A93F9C2-80D6-79D8-46C4-B9056835080C}"/>
              </a:ext>
            </a:extLst>
          </p:cNvPr>
          <p:cNvSpPr txBox="1"/>
          <p:nvPr/>
        </p:nvSpPr>
        <p:spPr>
          <a:xfrm>
            <a:off x="2547481" y="3238175"/>
            <a:ext cx="11277600" cy="6684587"/>
          </a:xfrm>
          <a:prstGeom prst="rect">
            <a:avLst/>
          </a:prstGeom>
        </p:spPr>
        <p:txBody>
          <a:bodyPr wrap="square" lIns="0" tIns="0" rIns="0" bIns="0" rtlCol="0" anchor="t">
            <a:spAutoFit/>
          </a:bodyPr>
          <a:lstStyle/>
          <a:p>
            <a:r>
              <a:rPr lang="en-US" sz="2800" b="1" dirty="0"/>
              <a:t>Challenges:</a:t>
            </a:r>
          </a:p>
          <a:p>
            <a:pPr marL="457200" indent="-457200">
              <a:buFont typeface="Wingdings" panose="05000000000000000000" pitchFamily="2" charset="2"/>
              <a:buChar char="Ø"/>
            </a:pPr>
            <a:r>
              <a:rPr lang="en-US" sz="2800" dirty="0"/>
              <a:t>Handling missing and inconsistent data (cost, cuisines, ratings) required careful cleaning </a:t>
            </a:r>
          </a:p>
          <a:p>
            <a:pPr marL="457200" indent="-457200">
              <a:buFont typeface="Wingdings" panose="05000000000000000000" pitchFamily="2" charset="2"/>
              <a:buChar char="Ø"/>
            </a:pPr>
            <a:r>
              <a:rPr lang="en-US" sz="2800" dirty="0"/>
              <a:t>Managing multi-value columns like cuisines and converting them into usable format </a:t>
            </a:r>
          </a:p>
          <a:p>
            <a:pPr marL="457200" indent="-457200">
              <a:buFont typeface="Wingdings" panose="05000000000000000000" pitchFamily="2" charset="2"/>
              <a:buChar char="Ø"/>
            </a:pPr>
            <a:r>
              <a:rPr lang="en-US" sz="2800" dirty="0"/>
              <a:t>Creating accurate date formats and calendar table for time-based analysis </a:t>
            </a:r>
          </a:p>
          <a:p>
            <a:pPr marL="457200" indent="-457200">
              <a:buFont typeface="Wingdings" panose="05000000000000000000" pitchFamily="2" charset="2"/>
              <a:buChar char="Ø"/>
            </a:pPr>
            <a:r>
              <a:rPr lang="en-US" sz="2800" dirty="0"/>
              <a:t>Writing efficient SQL queries and joins for large dataset analysis </a:t>
            </a:r>
          </a:p>
          <a:p>
            <a:pPr marL="457200" indent="-457200">
              <a:buFont typeface="Wingdings" panose="05000000000000000000" pitchFamily="2" charset="2"/>
              <a:buChar char="Ø"/>
            </a:pPr>
            <a:endParaRPr lang="en-US" sz="2800" dirty="0"/>
          </a:p>
          <a:p>
            <a:r>
              <a:rPr lang="en-US" sz="2800" b="1" dirty="0"/>
              <a:t>Learnings:</a:t>
            </a:r>
            <a:endParaRPr lang="en-US" sz="2800" dirty="0"/>
          </a:p>
          <a:p>
            <a:pPr marL="457200" indent="-457200">
              <a:buFont typeface="Wingdings" panose="05000000000000000000" pitchFamily="2" charset="2"/>
              <a:buChar char="Ø"/>
            </a:pPr>
            <a:r>
              <a:rPr lang="en-US" sz="2800" dirty="0"/>
              <a:t>Understood the importance of data cleaning as the foundation of analysis</a:t>
            </a:r>
          </a:p>
          <a:p>
            <a:pPr marL="457200" indent="-457200">
              <a:buFont typeface="Wingdings" panose="05000000000000000000" pitchFamily="2" charset="2"/>
              <a:buChar char="Ø"/>
            </a:pPr>
            <a:r>
              <a:rPr lang="en-US" sz="2800" dirty="0"/>
              <a:t>Gained hands-on experience in SQL, Excel, Power BI, and Tableau</a:t>
            </a:r>
          </a:p>
          <a:p>
            <a:pPr marL="457200" indent="-457200">
              <a:buFont typeface="Wingdings" panose="05000000000000000000" pitchFamily="2" charset="2"/>
              <a:buChar char="Ø"/>
            </a:pPr>
            <a:r>
              <a:rPr lang="en-US" sz="2800" dirty="0"/>
              <a:t>Learned how to convert raw data into meaningful business insights</a:t>
            </a:r>
          </a:p>
          <a:p>
            <a:pPr marL="457200" indent="-457200">
              <a:buFont typeface="Wingdings" panose="05000000000000000000" pitchFamily="2" charset="2"/>
              <a:buChar char="Ø"/>
            </a:pPr>
            <a:r>
              <a:rPr lang="en-US" sz="2800" dirty="0"/>
              <a:t>Improved skills in data visualization and storytelling for decision-making</a:t>
            </a:r>
            <a:endParaRPr lang="en-IN" sz="2800" dirty="0"/>
          </a:p>
          <a:p>
            <a:endParaRPr lang="en-US" sz="2800" dirty="0"/>
          </a:p>
          <a:p>
            <a:endParaRPr lang="en-US" sz="2800" b="1" dirty="0"/>
          </a:p>
          <a:p>
            <a:pPr marL="285750" indent="-285750">
              <a:buFont typeface="Wingdings" panose="05000000000000000000" pitchFamily="2" charset="2"/>
              <a:buChar char="Ø"/>
            </a:pPr>
            <a:endParaRPr lang="en-US" sz="1438" spc="21" dirty="0">
              <a:solidFill>
                <a:srgbClr val="100302"/>
              </a:solidFill>
              <a:latin typeface="Poppins"/>
              <a:ea typeface="Poppins"/>
              <a:cs typeface="Poppins"/>
              <a:sym typeface="Poppins"/>
            </a:endParaRPr>
          </a:p>
        </p:txBody>
      </p:sp>
      <p:sp>
        <p:nvSpPr>
          <p:cNvPr id="15" name="Freeform 15">
            <a:extLst>
              <a:ext uri="{FF2B5EF4-FFF2-40B4-BE49-F238E27FC236}">
                <a16:creationId xmlns:a16="http://schemas.microsoft.com/office/drawing/2014/main" id="{FD13C6D8-60F0-19F2-05C0-5B095C0295AE}"/>
              </a:ext>
            </a:extLst>
          </p:cNvPr>
          <p:cNvSpPr/>
          <p:nvPr/>
        </p:nvSpPr>
        <p:spPr>
          <a:xfrm>
            <a:off x="15248285" y="9410364"/>
            <a:ext cx="1498304" cy="182521"/>
          </a:xfrm>
          <a:custGeom>
            <a:avLst/>
            <a:gdLst/>
            <a:ahLst/>
            <a:cxnLst/>
            <a:rect l="l" t="t" r="r" b="b"/>
            <a:pathLst>
              <a:path w="1498304" h="182521">
                <a:moveTo>
                  <a:pt x="0" y="0"/>
                </a:moveTo>
                <a:lnTo>
                  <a:pt x="1498304" y="0"/>
                </a:lnTo>
                <a:lnTo>
                  <a:pt x="1498304" y="182521"/>
                </a:lnTo>
                <a:lnTo>
                  <a:pt x="0" y="1825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6" name="Freeform 16">
            <a:extLst>
              <a:ext uri="{FF2B5EF4-FFF2-40B4-BE49-F238E27FC236}">
                <a16:creationId xmlns:a16="http://schemas.microsoft.com/office/drawing/2014/main" id="{F76F68EF-074E-C893-E8E4-24B087CA54B8}"/>
              </a:ext>
            </a:extLst>
          </p:cNvPr>
          <p:cNvSpPr/>
          <p:nvPr/>
        </p:nvSpPr>
        <p:spPr>
          <a:xfrm>
            <a:off x="451274" y="8900815"/>
            <a:ext cx="1303497" cy="1019098"/>
          </a:xfrm>
          <a:custGeom>
            <a:avLst/>
            <a:gdLst/>
            <a:ahLst/>
            <a:cxnLst/>
            <a:rect l="l" t="t" r="r" b="b"/>
            <a:pathLst>
              <a:path w="1303497" h="1019098">
                <a:moveTo>
                  <a:pt x="0" y="0"/>
                </a:moveTo>
                <a:lnTo>
                  <a:pt x="1303496" y="0"/>
                </a:lnTo>
                <a:lnTo>
                  <a:pt x="1303496" y="1019098"/>
                </a:lnTo>
                <a:lnTo>
                  <a:pt x="0" y="101909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Tree>
    <p:extLst>
      <p:ext uri="{BB962C8B-B14F-4D97-AF65-F5344CB8AC3E}">
        <p14:creationId xmlns:p14="http://schemas.microsoft.com/office/powerpoint/2010/main" val="35812314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A7FD0-88AC-7900-0DC1-15EB9227467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8CB4E11-F257-EF73-4493-6FBD6CC5382E}"/>
              </a:ext>
            </a:extLst>
          </p:cNvPr>
          <p:cNvSpPr/>
          <p:nvPr/>
        </p:nvSpPr>
        <p:spPr>
          <a:xfrm rot="-10800000">
            <a:off x="11226555" y="-1856007"/>
            <a:ext cx="9089382" cy="9089382"/>
          </a:xfrm>
          <a:custGeom>
            <a:avLst/>
            <a:gdLst/>
            <a:ahLst/>
            <a:cxnLst/>
            <a:rect l="l" t="t" r="r" b="b"/>
            <a:pathLst>
              <a:path w="9089382" h="9089382">
                <a:moveTo>
                  <a:pt x="0" y="0"/>
                </a:moveTo>
                <a:lnTo>
                  <a:pt x="9089382" y="0"/>
                </a:lnTo>
                <a:lnTo>
                  <a:pt x="9089382" y="9089382"/>
                </a:lnTo>
                <a:lnTo>
                  <a:pt x="0" y="9089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a:extLst>
              <a:ext uri="{FF2B5EF4-FFF2-40B4-BE49-F238E27FC236}">
                <a16:creationId xmlns:a16="http://schemas.microsoft.com/office/drawing/2014/main" id="{ABEDCC8F-DDBA-6DFF-ACF4-67572F25E5F6}"/>
              </a:ext>
            </a:extLst>
          </p:cNvPr>
          <p:cNvSpPr/>
          <p:nvPr/>
        </p:nvSpPr>
        <p:spPr>
          <a:xfrm rot="-10800000" flipH="1">
            <a:off x="-2027937" y="-1633436"/>
            <a:ext cx="9089382" cy="9089382"/>
          </a:xfrm>
          <a:custGeom>
            <a:avLst/>
            <a:gdLst/>
            <a:ahLst/>
            <a:cxnLst/>
            <a:rect l="l" t="t" r="r" b="b"/>
            <a:pathLst>
              <a:path w="9089382" h="9089382">
                <a:moveTo>
                  <a:pt x="9089382" y="0"/>
                </a:moveTo>
                <a:lnTo>
                  <a:pt x="0" y="0"/>
                </a:lnTo>
                <a:lnTo>
                  <a:pt x="0" y="9089382"/>
                </a:lnTo>
                <a:lnTo>
                  <a:pt x="9089382" y="9089382"/>
                </a:lnTo>
                <a:lnTo>
                  <a:pt x="9089382"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TextBox 4">
            <a:extLst>
              <a:ext uri="{FF2B5EF4-FFF2-40B4-BE49-F238E27FC236}">
                <a16:creationId xmlns:a16="http://schemas.microsoft.com/office/drawing/2014/main" id="{34C290C5-3D65-ABFC-3988-04301FF496D1}"/>
              </a:ext>
            </a:extLst>
          </p:cNvPr>
          <p:cNvSpPr txBox="1"/>
          <p:nvPr/>
        </p:nvSpPr>
        <p:spPr>
          <a:xfrm>
            <a:off x="1772581" y="868917"/>
            <a:ext cx="14778459" cy="859210"/>
          </a:xfrm>
          <a:prstGeom prst="rect">
            <a:avLst/>
          </a:prstGeom>
        </p:spPr>
        <p:txBody>
          <a:bodyPr lIns="0" tIns="0" rIns="0" bIns="0" rtlCol="0" anchor="t">
            <a:spAutoFit/>
          </a:bodyPr>
          <a:lstStyle/>
          <a:p>
            <a:pPr lvl="0" algn="ctr">
              <a:lnSpc>
                <a:spcPts val="6745"/>
              </a:lnSpc>
            </a:pPr>
            <a:r>
              <a:rPr lang="en-US" sz="6000" dirty="0">
                <a:latin typeface="Arial Black" panose="020B0A04020102020204" pitchFamily="34" charset="0"/>
              </a:rPr>
              <a:t>EXCEL DASHBOARD</a:t>
            </a:r>
          </a:p>
        </p:txBody>
      </p:sp>
      <p:sp>
        <p:nvSpPr>
          <p:cNvPr id="7" name="AutoShape 7">
            <a:extLst>
              <a:ext uri="{FF2B5EF4-FFF2-40B4-BE49-F238E27FC236}">
                <a16:creationId xmlns:a16="http://schemas.microsoft.com/office/drawing/2014/main" id="{F14904D2-3945-FD04-BE4A-8AF3824A609C}"/>
              </a:ext>
            </a:extLst>
          </p:cNvPr>
          <p:cNvSpPr/>
          <p:nvPr/>
        </p:nvSpPr>
        <p:spPr>
          <a:xfrm>
            <a:off x="4980199" y="1943100"/>
            <a:ext cx="8327602" cy="0"/>
          </a:xfrm>
          <a:prstGeom prst="line">
            <a:avLst/>
          </a:prstGeom>
          <a:ln w="38100" cap="flat">
            <a:solidFill>
              <a:srgbClr val="C02519"/>
            </a:solidFill>
            <a:prstDash val="solid"/>
            <a:headEnd type="none" w="sm" len="sm"/>
            <a:tailEnd type="none" w="sm" len="sm"/>
          </a:ln>
        </p:spPr>
        <p:txBody>
          <a:bodyPr/>
          <a:lstStyle/>
          <a:p>
            <a:endParaRPr lang="en-IN" dirty="0"/>
          </a:p>
        </p:txBody>
      </p:sp>
      <p:sp>
        <p:nvSpPr>
          <p:cNvPr id="12" name="TextBox 12">
            <a:extLst>
              <a:ext uri="{FF2B5EF4-FFF2-40B4-BE49-F238E27FC236}">
                <a16:creationId xmlns:a16="http://schemas.microsoft.com/office/drawing/2014/main" id="{16565303-882F-2DA0-9163-DF58BA62E4C5}"/>
              </a:ext>
            </a:extLst>
          </p:cNvPr>
          <p:cNvSpPr txBox="1"/>
          <p:nvPr/>
        </p:nvSpPr>
        <p:spPr>
          <a:xfrm>
            <a:off x="8186281" y="4203332"/>
            <a:ext cx="8179539" cy="352425"/>
          </a:xfrm>
          <a:prstGeom prst="rect">
            <a:avLst/>
          </a:prstGeom>
        </p:spPr>
        <p:txBody>
          <a:bodyPr lIns="0" tIns="0" rIns="0" bIns="0" rtlCol="0" anchor="t">
            <a:spAutoFit/>
          </a:bodyPr>
          <a:lstStyle/>
          <a:p>
            <a:pPr marL="0" lvl="0" indent="0" algn="ctr">
              <a:lnSpc>
                <a:spcPts val="2697"/>
              </a:lnSpc>
            </a:pPr>
            <a:r>
              <a:rPr lang="en-US" sz="2247" b="1" spc="33">
                <a:solidFill>
                  <a:srgbClr val="FFFFFF"/>
                </a:solidFill>
                <a:latin typeface="Poppins Medium"/>
                <a:ea typeface="Poppins Medium"/>
                <a:cs typeface="Poppins Medium"/>
                <a:sym typeface="Poppins Medium"/>
              </a:rPr>
              <a:t>Zomato Dataset — Source, Records &amp; Column Overview</a:t>
            </a:r>
          </a:p>
        </p:txBody>
      </p:sp>
      <p:sp>
        <p:nvSpPr>
          <p:cNvPr id="15" name="Freeform 15">
            <a:extLst>
              <a:ext uri="{FF2B5EF4-FFF2-40B4-BE49-F238E27FC236}">
                <a16:creationId xmlns:a16="http://schemas.microsoft.com/office/drawing/2014/main" id="{7F51DF64-5387-D2EC-642B-4FDF0B64DEE0}"/>
              </a:ext>
            </a:extLst>
          </p:cNvPr>
          <p:cNvSpPr/>
          <p:nvPr/>
        </p:nvSpPr>
        <p:spPr>
          <a:xfrm>
            <a:off x="15248285" y="9410364"/>
            <a:ext cx="1498304" cy="182521"/>
          </a:xfrm>
          <a:custGeom>
            <a:avLst/>
            <a:gdLst/>
            <a:ahLst/>
            <a:cxnLst/>
            <a:rect l="l" t="t" r="r" b="b"/>
            <a:pathLst>
              <a:path w="1498304" h="182521">
                <a:moveTo>
                  <a:pt x="0" y="0"/>
                </a:moveTo>
                <a:lnTo>
                  <a:pt x="1498304" y="0"/>
                </a:lnTo>
                <a:lnTo>
                  <a:pt x="1498304" y="182521"/>
                </a:lnTo>
                <a:lnTo>
                  <a:pt x="0" y="1825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6" name="Freeform 16">
            <a:extLst>
              <a:ext uri="{FF2B5EF4-FFF2-40B4-BE49-F238E27FC236}">
                <a16:creationId xmlns:a16="http://schemas.microsoft.com/office/drawing/2014/main" id="{E7A331D3-174B-A5E5-4FC6-856736E18EC1}"/>
              </a:ext>
            </a:extLst>
          </p:cNvPr>
          <p:cNvSpPr/>
          <p:nvPr/>
        </p:nvSpPr>
        <p:spPr>
          <a:xfrm>
            <a:off x="451274" y="8900815"/>
            <a:ext cx="1303497" cy="1019098"/>
          </a:xfrm>
          <a:custGeom>
            <a:avLst/>
            <a:gdLst/>
            <a:ahLst/>
            <a:cxnLst/>
            <a:rect l="l" t="t" r="r" b="b"/>
            <a:pathLst>
              <a:path w="1303497" h="1019098">
                <a:moveTo>
                  <a:pt x="0" y="0"/>
                </a:moveTo>
                <a:lnTo>
                  <a:pt x="1303496" y="0"/>
                </a:lnTo>
                <a:lnTo>
                  <a:pt x="1303496" y="1019098"/>
                </a:lnTo>
                <a:lnTo>
                  <a:pt x="0" y="101909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pic>
        <p:nvPicPr>
          <p:cNvPr id="6" name="Picture 5">
            <a:extLst>
              <a:ext uri="{FF2B5EF4-FFF2-40B4-BE49-F238E27FC236}">
                <a16:creationId xmlns:a16="http://schemas.microsoft.com/office/drawing/2014/main" id="{111EF548-2816-7D0B-6C44-D219D43EFF5C}"/>
              </a:ext>
            </a:extLst>
          </p:cNvPr>
          <p:cNvPicPr>
            <a:picLocks noChangeAspect="1"/>
          </p:cNvPicPr>
          <p:nvPr/>
        </p:nvPicPr>
        <p:blipFill>
          <a:blip r:embed="rId5"/>
          <a:stretch>
            <a:fillRect/>
          </a:stretch>
        </p:blipFill>
        <p:spPr>
          <a:xfrm>
            <a:off x="2286000" y="2400301"/>
            <a:ext cx="14460589" cy="6248397"/>
          </a:xfrm>
          <a:prstGeom prst="rect">
            <a:avLst/>
          </a:prstGeom>
        </p:spPr>
      </p:pic>
    </p:spTree>
    <p:extLst>
      <p:ext uri="{BB962C8B-B14F-4D97-AF65-F5344CB8AC3E}">
        <p14:creationId xmlns:p14="http://schemas.microsoft.com/office/powerpoint/2010/main" val="36388462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EC722-A5D7-C65D-F51F-C202E524303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F360CD0-0F06-DA3D-FBE9-27A13CD983A8}"/>
              </a:ext>
            </a:extLst>
          </p:cNvPr>
          <p:cNvSpPr/>
          <p:nvPr/>
        </p:nvSpPr>
        <p:spPr>
          <a:xfrm rot="-10800000">
            <a:off x="11226555" y="-1856007"/>
            <a:ext cx="9089382" cy="9089382"/>
          </a:xfrm>
          <a:custGeom>
            <a:avLst/>
            <a:gdLst/>
            <a:ahLst/>
            <a:cxnLst/>
            <a:rect l="l" t="t" r="r" b="b"/>
            <a:pathLst>
              <a:path w="9089382" h="9089382">
                <a:moveTo>
                  <a:pt x="0" y="0"/>
                </a:moveTo>
                <a:lnTo>
                  <a:pt x="9089382" y="0"/>
                </a:lnTo>
                <a:lnTo>
                  <a:pt x="9089382" y="9089382"/>
                </a:lnTo>
                <a:lnTo>
                  <a:pt x="0" y="9089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a:extLst>
              <a:ext uri="{FF2B5EF4-FFF2-40B4-BE49-F238E27FC236}">
                <a16:creationId xmlns:a16="http://schemas.microsoft.com/office/drawing/2014/main" id="{04DDD0CC-0FC9-775B-2988-B6E369539AFC}"/>
              </a:ext>
            </a:extLst>
          </p:cNvPr>
          <p:cNvSpPr/>
          <p:nvPr/>
        </p:nvSpPr>
        <p:spPr>
          <a:xfrm rot="-10800000" flipH="1">
            <a:off x="-2027937" y="-1633436"/>
            <a:ext cx="9089382" cy="9089382"/>
          </a:xfrm>
          <a:custGeom>
            <a:avLst/>
            <a:gdLst/>
            <a:ahLst/>
            <a:cxnLst/>
            <a:rect l="l" t="t" r="r" b="b"/>
            <a:pathLst>
              <a:path w="9089382" h="9089382">
                <a:moveTo>
                  <a:pt x="9089382" y="0"/>
                </a:moveTo>
                <a:lnTo>
                  <a:pt x="0" y="0"/>
                </a:lnTo>
                <a:lnTo>
                  <a:pt x="0" y="9089382"/>
                </a:lnTo>
                <a:lnTo>
                  <a:pt x="9089382" y="9089382"/>
                </a:lnTo>
                <a:lnTo>
                  <a:pt x="9089382"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TextBox 4">
            <a:extLst>
              <a:ext uri="{FF2B5EF4-FFF2-40B4-BE49-F238E27FC236}">
                <a16:creationId xmlns:a16="http://schemas.microsoft.com/office/drawing/2014/main" id="{7AA263D4-752C-34D3-7447-5D4A64A1BA97}"/>
              </a:ext>
            </a:extLst>
          </p:cNvPr>
          <p:cNvSpPr txBox="1"/>
          <p:nvPr/>
        </p:nvSpPr>
        <p:spPr>
          <a:xfrm>
            <a:off x="1772581" y="868917"/>
            <a:ext cx="14778459" cy="859210"/>
          </a:xfrm>
          <a:prstGeom prst="rect">
            <a:avLst/>
          </a:prstGeom>
        </p:spPr>
        <p:txBody>
          <a:bodyPr lIns="0" tIns="0" rIns="0" bIns="0" rtlCol="0" anchor="t">
            <a:spAutoFit/>
          </a:bodyPr>
          <a:lstStyle/>
          <a:p>
            <a:pPr lvl="0" algn="ctr">
              <a:lnSpc>
                <a:spcPts val="6745"/>
              </a:lnSpc>
            </a:pPr>
            <a:r>
              <a:rPr lang="en-US" sz="6000" dirty="0">
                <a:latin typeface="Arial Black" panose="020B0A04020102020204" pitchFamily="34" charset="0"/>
              </a:rPr>
              <a:t>POWER BI DASHBOARD</a:t>
            </a:r>
          </a:p>
        </p:txBody>
      </p:sp>
      <p:sp>
        <p:nvSpPr>
          <p:cNvPr id="7" name="AutoShape 7">
            <a:extLst>
              <a:ext uri="{FF2B5EF4-FFF2-40B4-BE49-F238E27FC236}">
                <a16:creationId xmlns:a16="http://schemas.microsoft.com/office/drawing/2014/main" id="{3C50E62E-3806-5E73-9FC3-6D287259226B}"/>
              </a:ext>
            </a:extLst>
          </p:cNvPr>
          <p:cNvSpPr/>
          <p:nvPr/>
        </p:nvSpPr>
        <p:spPr>
          <a:xfrm>
            <a:off x="4980199" y="1943100"/>
            <a:ext cx="8327602" cy="0"/>
          </a:xfrm>
          <a:prstGeom prst="line">
            <a:avLst/>
          </a:prstGeom>
          <a:ln w="38100" cap="flat">
            <a:solidFill>
              <a:srgbClr val="C02519"/>
            </a:solidFill>
            <a:prstDash val="solid"/>
            <a:headEnd type="none" w="sm" len="sm"/>
            <a:tailEnd type="none" w="sm" len="sm"/>
          </a:ln>
        </p:spPr>
        <p:txBody>
          <a:bodyPr/>
          <a:lstStyle/>
          <a:p>
            <a:endParaRPr lang="en-IN" dirty="0"/>
          </a:p>
        </p:txBody>
      </p:sp>
      <p:sp>
        <p:nvSpPr>
          <p:cNvPr id="12" name="TextBox 12">
            <a:extLst>
              <a:ext uri="{FF2B5EF4-FFF2-40B4-BE49-F238E27FC236}">
                <a16:creationId xmlns:a16="http://schemas.microsoft.com/office/drawing/2014/main" id="{7D31BC55-38A9-3AD9-1C17-E780BE283FB3}"/>
              </a:ext>
            </a:extLst>
          </p:cNvPr>
          <p:cNvSpPr txBox="1"/>
          <p:nvPr/>
        </p:nvSpPr>
        <p:spPr>
          <a:xfrm>
            <a:off x="8186281" y="4203332"/>
            <a:ext cx="8179539" cy="352425"/>
          </a:xfrm>
          <a:prstGeom prst="rect">
            <a:avLst/>
          </a:prstGeom>
        </p:spPr>
        <p:txBody>
          <a:bodyPr lIns="0" tIns="0" rIns="0" bIns="0" rtlCol="0" anchor="t">
            <a:spAutoFit/>
          </a:bodyPr>
          <a:lstStyle/>
          <a:p>
            <a:pPr marL="0" lvl="0" indent="0" algn="ctr">
              <a:lnSpc>
                <a:spcPts val="2697"/>
              </a:lnSpc>
            </a:pPr>
            <a:r>
              <a:rPr lang="en-US" sz="2247" b="1" spc="33">
                <a:solidFill>
                  <a:srgbClr val="FFFFFF"/>
                </a:solidFill>
                <a:latin typeface="Poppins Medium"/>
                <a:ea typeface="Poppins Medium"/>
                <a:cs typeface="Poppins Medium"/>
                <a:sym typeface="Poppins Medium"/>
              </a:rPr>
              <a:t>Zomato Dataset — Source, Records &amp; Column Overview</a:t>
            </a:r>
          </a:p>
        </p:txBody>
      </p:sp>
      <p:sp>
        <p:nvSpPr>
          <p:cNvPr id="15" name="Freeform 15">
            <a:extLst>
              <a:ext uri="{FF2B5EF4-FFF2-40B4-BE49-F238E27FC236}">
                <a16:creationId xmlns:a16="http://schemas.microsoft.com/office/drawing/2014/main" id="{304BA22E-F7D2-0A4D-2BA8-B8FAA77CC6B6}"/>
              </a:ext>
            </a:extLst>
          </p:cNvPr>
          <p:cNvSpPr/>
          <p:nvPr/>
        </p:nvSpPr>
        <p:spPr>
          <a:xfrm>
            <a:off x="15248285" y="9410364"/>
            <a:ext cx="1498304" cy="182521"/>
          </a:xfrm>
          <a:custGeom>
            <a:avLst/>
            <a:gdLst/>
            <a:ahLst/>
            <a:cxnLst/>
            <a:rect l="l" t="t" r="r" b="b"/>
            <a:pathLst>
              <a:path w="1498304" h="182521">
                <a:moveTo>
                  <a:pt x="0" y="0"/>
                </a:moveTo>
                <a:lnTo>
                  <a:pt x="1498304" y="0"/>
                </a:lnTo>
                <a:lnTo>
                  <a:pt x="1498304" y="182521"/>
                </a:lnTo>
                <a:lnTo>
                  <a:pt x="0" y="1825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6" name="Freeform 16">
            <a:extLst>
              <a:ext uri="{FF2B5EF4-FFF2-40B4-BE49-F238E27FC236}">
                <a16:creationId xmlns:a16="http://schemas.microsoft.com/office/drawing/2014/main" id="{ACE90924-DDF3-0145-4847-1B5F71D5C57C}"/>
              </a:ext>
            </a:extLst>
          </p:cNvPr>
          <p:cNvSpPr/>
          <p:nvPr/>
        </p:nvSpPr>
        <p:spPr>
          <a:xfrm>
            <a:off x="451274" y="8900815"/>
            <a:ext cx="1303497" cy="1019098"/>
          </a:xfrm>
          <a:custGeom>
            <a:avLst/>
            <a:gdLst/>
            <a:ahLst/>
            <a:cxnLst/>
            <a:rect l="l" t="t" r="r" b="b"/>
            <a:pathLst>
              <a:path w="1303497" h="1019098">
                <a:moveTo>
                  <a:pt x="0" y="0"/>
                </a:moveTo>
                <a:lnTo>
                  <a:pt x="1303496" y="0"/>
                </a:lnTo>
                <a:lnTo>
                  <a:pt x="1303496" y="1019098"/>
                </a:lnTo>
                <a:lnTo>
                  <a:pt x="0" y="101909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pic>
        <p:nvPicPr>
          <p:cNvPr id="8" name="Picture 7">
            <a:extLst>
              <a:ext uri="{FF2B5EF4-FFF2-40B4-BE49-F238E27FC236}">
                <a16:creationId xmlns:a16="http://schemas.microsoft.com/office/drawing/2014/main" id="{17CF4630-5E1C-936F-F843-1111F245C3B7}"/>
              </a:ext>
            </a:extLst>
          </p:cNvPr>
          <p:cNvPicPr>
            <a:picLocks noChangeAspect="1"/>
          </p:cNvPicPr>
          <p:nvPr/>
        </p:nvPicPr>
        <p:blipFill>
          <a:blip r:embed="rId5"/>
          <a:stretch>
            <a:fillRect/>
          </a:stretch>
        </p:blipFill>
        <p:spPr>
          <a:xfrm>
            <a:off x="2209800" y="2552704"/>
            <a:ext cx="13944600" cy="5562590"/>
          </a:xfrm>
          <a:prstGeom prst="rect">
            <a:avLst/>
          </a:prstGeom>
        </p:spPr>
      </p:pic>
    </p:spTree>
    <p:extLst>
      <p:ext uri="{BB962C8B-B14F-4D97-AF65-F5344CB8AC3E}">
        <p14:creationId xmlns:p14="http://schemas.microsoft.com/office/powerpoint/2010/main" val="1431496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E31F6-86E0-885B-2C27-1DC48EDDD84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D35C334-4FB0-5256-464D-84B079546BB0}"/>
              </a:ext>
            </a:extLst>
          </p:cNvPr>
          <p:cNvSpPr/>
          <p:nvPr/>
        </p:nvSpPr>
        <p:spPr>
          <a:xfrm rot="-10800000">
            <a:off x="11226555" y="-1856007"/>
            <a:ext cx="9089382" cy="9089382"/>
          </a:xfrm>
          <a:custGeom>
            <a:avLst/>
            <a:gdLst/>
            <a:ahLst/>
            <a:cxnLst/>
            <a:rect l="l" t="t" r="r" b="b"/>
            <a:pathLst>
              <a:path w="9089382" h="9089382">
                <a:moveTo>
                  <a:pt x="0" y="0"/>
                </a:moveTo>
                <a:lnTo>
                  <a:pt x="9089382" y="0"/>
                </a:lnTo>
                <a:lnTo>
                  <a:pt x="9089382" y="9089382"/>
                </a:lnTo>
                <a:lnTo>
                  <a:pt x="0" y="9089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a:extLst>
              <a:ext uri="{FF2B5EF4-FFF2-40B4-BE49-F238E27FC236}">
                <a16:creationId xmlns:a16="http://schemas.microsoft.com/office/drawing/2014/main" id="{ADAECAC3-F1E2-715D-7FD8-C8D50135A8E2}"/>
              </a:ext>
            </a:extLst>
          </p:cNvPr>
          <p:cNvSpPr/>
          <p:nvPr/>
        </p:nvSpPr>
        <p:spPr>
          <a:xfrm rot="-10800000" flipH="1">
            <a:off x="-2027937" y="-1633436"/>
            <a:ext cx="9089382" cy="9089382"/>
          </a:xfrm>
          <a:custGeom>
            <a:avLst/>
            <a:gdLst/>
            <a:ahLst/>
            <a:cxnLst/>
            <a:rect l="l" t="t" r="r" b="b"/>
            <a:pathLst>
              <a:path w="9089382" h="9089382">
                <a:moveTo>
                  <a:pt x="9089382" y="0"/>
                </a:moveTo>
                <a:lnTo>
                  <a:pt x="0" y="0"/>
                </a:lnTo>
                <a:lnTo>
                  <a:pt x="0" y="9089382"/>
                </a:lnTo>
                <a:lnTo>
                  <a:pt x="9089382" y="9089382"/>
                </a:lnTo>
                <a:lnTo>
                  <a:pt x="9089382"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TextBox 4">
            <a:extLst>
              <a:ext uri="{FF2B5EF4-FFF2-40B4-BE49-F238E27FC236}">
                <a16:creationId xmlns:a16="http://schemas.microsoft.com/office/drawing/2014/main" id="{CC54D34F-E691-9C4B-FC14-26F371A0BE6E}"/>
              </a:ext>
            </a:extLst>
          </p:cNvPr>
          <p:cNvSpPr txBox="1"/>
          <p:nvPr/>
        </p:nvSpPr>
        <p:spPr>
          <a:xfrm>
            <a:off x="1772581" y="868917"/>
            <a:ext cx="14778459" cy="859210"/>
          </a:xfrm>
          <a:prstGeom prst="rect">
            <a:avLst/>
          </a:prstGeom>
        </p:spPr>
        <p:txBody>
          <a:bodyPr lIns="0" tIns="0" rIns="0" bIns="0" rtlCol="0" anchor="t">
            <a:spAutoFit/>
          </a:bodyPr>
          <a:lstStyle/>
          <a:p>
            <a:pPr lvl="0" algn="ctr">
              <a:lnSpc>
                <a:spcPts val="6745"/>
              </a:lnSpc>
            </a:pPr>
            <a:r>
              <a:rPr lang="en-US" sz="6000" dirty="0">
                <a:latin typeface="Arial Black" panose="020B0A04020102020204" pitchFamily="34" charset="0"/>
              </a:rPr>
              <a:t>TABLEAU DASHBOARD</a:t>
            </a:r>
          </a:p>
        </p:txBody>
      </p:sp>
      <p:sp>
        <p:nvSpPr>
          <p:cNvPr id="7" name="AutoShape 7">
            <a:extLst>
              <a:ext uri="{FF2B5EF4-FFF2-40B4-BE49-F238E27FC236}">
                <a16:creationId xmlns:a16="http://schemas.microsoft.com/office/drawing/2014/main" id="{9C6663AB-92AB-A25F-F7EB-84BEDE05A066}"/>
              </a:ext>
            </a:extLst>
          </p:cNvPr>
          <p:cNvSpPr/>
          <p:nvPr/>
        </p:nvSpPr>
        <p:spPr>
          <a:xfrm>
            <a:off x="4980199" y="1943100"/>
            <a:ext cx="8327602" cy="0"/>
          </a:xfrm>
          <a:prstGeom prst="line">
            <a:avLst/>
          </a:prstGeom>
          <a:ln w="38100" cap="flat">
            <a:solidFill>
              <a:srgbClr val="C02519"/>
            </a:solidFill>
            <a:prstDash val="solid"/>
            <a:headEnd type="none" w="sm" len="sm"/>
            <a:tailEnd type="none" w="sm" len="sm"/>
          </a:ln>
        </p:spPr>
        <p:txBody>
          <a:bodyPr/>
          <a:lstStyle/>
          <a:p>
            <a:endParaRPr lang="en-IN" dirty="0"/>
          </a:p>
        </p:txBody>
      </p:sp>
      <p:sp>
        <p:nvSpPr>
          <p:cNvPr id="12" name="TextBox 12">
            <a:extLst>
              <a:ext uri="{FF2B5EF4-FFF2-40B4-BE49-F238E27FC236}">
                <a16:creationId xmlns:a16="http://schemas.microsoft.com/office/drawing/2014/main" id="{EF4FE3CB-6E40-FB38-A8C1-5AA83B186ECF}"/>
              </a:ext>
            </a:extLst>
          </p:cNvPr>
          <p:cNvSpPr txBox="1"/>
          <p:nvPr/>
        </p:nvSpPr>
        <p:spPr>
          <a:xfrm>
            <a:off x="8186281" y="4203332"/>
            <a:ext cx="8179539" cy="352425"/>
          </a:xfrm>
          <a:prstGeom prst="rect">
            <a:avLst/>
          </a:prstGeom>
        </p:spPr>
        <p:txBody>
          <a:bodyPr lIns="0" tIns="0" rIns="0" bIns="0" rtlCol="0" anchor="t">
            <a:spAutoFit/>
          </a:bodyPr>
          <a:lstStyle/>
          <a:p>
            <a:pPr marL="0" lvl="0" indent="0" algn="ctr">
              <a:lnSpc>
                <a:spcPts val="2697"/>
              </a:lnSpc>
            </a:pPr>
            <a:r>
              <a:rPr lang="en-US" sz="2247" b="1" spc="33">
                <a:solidFill>
                  <a:srgbClr val="FFFFFF"/>
                </a:solidFill>
                <a:latin typeface="Poppins Medium"/>
                <a:ea typeface="Poppins Medium"/>
                <a:cs typeface="Poppins Medium"/>
                <a:sym typeface="Poppins Medium"/>
              </a:rPr>
              <a:t>Zomato Dataset — Source, Records &amp; Column Overview</a:t>
            </a:r>
          </a:p>
        </p:txBody>
      </p:sp>
      <p:sp>
        <p:nvSpPr>
          <p:cNvPr id="15" name="Freeform 15">
            <a:extLst>
              <a:ext uri="{FF2B5EF4-FFF2-40B4-BE49-F238E27FC236}">
                <a16:creationId xmlns:a16="http://schemas.microsoft.com/office/drawing/2014/main" id="{E447299B-5EB5-9D75-BADC-E1971ACD24E9}"/>
              </a:ext>
            </a:extLst>
          </p:cNvPr>
          <p:cNvSpPr/>
          <p:nvPr/>
        </p:nvSpPr>
        <p:spPr>
          <a:xfrm>
            <a:off x="15248285" y="9410364"/>
            <a:ext cx="1498304" cy="182521"/>
          </a:xfrm>
          <a:custGeom>
            <a:avLst/>
            <a:gdLst/>
            <a:ahLst/>
            <a:cxnLst/>
            <a:rect l="l" t="t" r="r" b="b"/>
            <a:pathLst>
              <a:path w="1498304" h="182521">
                <a:moveTo>
                  <a:pt x="0" y="0"/>
                </a:moveTo>
                <a:lnTo>
                  <a:pt x="1498304" y="0"/>
                </a:lnTo>
                <a:lnTo>
                  <a:pt x="1498304" y="182521"/>
                </a:lnTo>
                <a:lnTo>
                  <a:pt x="0" y="1825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6" name="Freeform 16">
            <a:extLst>
              <a:ext uri="{FF2B5EF4-FFF2-40B4-BE49-F238E27FC236}">
                <a16:creationId xmlns:a16="http://schemas.microsoft.com/office/drawing/2014/main" id="{3C7B7850-C009-5DFE-236E-4A46D8A18978}"/>
              </a:ext>
            </a:extLst>
          </p:cNvPr>
          <p:cNvSpPr/>
          <p:nvPr/>
        </p:nvSpPr>
        <p:spPr>
          <a:xfrm>
            <a:off x="451274" y="8900815"/>
            <a:ext cx="1303497" cy="1019098"/>
          </a:xfrm>
          <a:custGeom>
            <a:avLst/>
            <a:gdLst/>
            <a:ahLst/>
            <a:cxnLst/>
            <a:rect l="l" t="t" r="r" b="b"/>
            <a:pathLst>
              <a:path w="1303497" h="1019098">
                <a:moveTo>
                  <a:pt x="0" y="0"/>
                </a:moveTo>
                <a:lnTo>
                  <a:pt x="1303496" y="0"/>
                </a:lnTo>
                <a:lnTo>
                  <a:pt x="1303496" y="1019098"/>
                </a:lnTo>
                <a:lnTo>
                  <a:pt x="0" y="101909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pic>
        <p:nvPicPr>
          <p:cNvPr id="6" name="Picture 5">
            <a:extLst>
              <a:ext uri="{FF2B5EF4-FFF2-40B4-BE49-F238E27FC236}">
                <a16:creationId xmlns:a16="http://schemas.microsoft.com/office/drawing/2014/main" id="{DAD08FF6-7FFF-DD31-1ED8-96A297492BBE}"/>
              </a:ext>
            </a:extLst>
          </p:cNvPr>
          <p:cNvPicPr>
            <a:picLocks noChangeAspect="1"/>
          </p:cNvPicPr>
          <p:nvPr/>
        </p:nvPicPr>
        <p:blipFill>
          <a:blip r:embed="rId5"/>
          <a:stretch>
            <a:fillRect/>
          </a:stretch>
        </p:blipFill>
        <p:spPr>
          <a:xfrm>
            <a:off x="2438400" y="2476500"/>
            <a:ext cx="13106399" cy="5867399"/>
          </a:xfrm>
          <a:prstGeom prst="rect">
            <a:avLst/>
          </a:prstGeom>
        </p:spPr>
      </p:pic>
    </p:spTree>
    <p:extLst>
      <p:ext uri="{BB962C8B-B14F-4D97-AF65-F5344CB8AC3E}">
        <p14:creationId xmlns:p14="http://schemas.microsoft.com/office/powerpoint/2010/main" val="6583966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7BC73-9FEC-9FA0-63F8-44240D5823C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0F56683-164B-72D1-2663-3BD57AA158BF}"/>
              </a:ext>
            </a:extLst>
          </p:cNvPr>
          <p:cNvSpPr/>
          <p:nvPr/>
        </p:nvSpPr>
        <p:spPr>
          <a:xfrm rot="-10800000">
            <a:off x="11226555" y="-1856007"/>
            <a:ext cx="9089382" cy="9089382"/>
          </a:xfrm>
          <a:custGeom>
            <a:avLst/>
            <a:gdLst/>
            <a:ahLst/>
            <a:cxnLst/>
            <a:rect l="l" t="t" r="r" b="b"/>
            <a:pathLst>
              <a:path w="9089382" h="9089382">
                <a:moveTo>
                  <a:pt x="0" y="0"/>
                </a:moveTo>
                <a:lnTo>
                  <a:pt x="9089382" y="0"/>
                </a:lnTo>
                <a:lnTo>
                  <a:pt x="9089382" y="9089382"/>
                </a:lnTo>
                <a:lnTo>
                  <a:pt x="0" y="9089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a:extLst>
              <a:ext uri="{FF2B5EF4-FFF2-40B4-BE49-F238E27FC236}">
                <a16:creationId xmlns:a16="http://schemas.microsoft.com/office/drawing/2014/main" id="{A8C3B05A-83FB-F657-3D2E-12123A57DB77}"/>
              </a:ext>
            </a:extLst>
          </p:cNvPr>
          <p:cNvSpPr/>
          <p:nvPr/>
        </p:nvSpPr>
        <p:spPr>
          <a:xfrm rot="-10800000" flipH="1">
            <a:off x="-2027937" y="-1633436"/>
            <a:ext cx="9089382" cy="9089382"/>
          </a:xfrm>
          <a:custGeom>
            <a:avLst/>
            <a:gdLst/>
            <a:ahLst/>
            <a:cxnLst/>
            <a:rect l="l" t="t" r="r" b="b"/>
            <a:pathLst>
              <a:path w="9089382" h="9089382">
                <a:moveTo>
                  <a:pt x="9089382" y="0"/>
                </a:moveTo>
                <a:lnTo>
                  <a:pt x="0" y="0"/>
                </a:lnTo>
                <a:lnTo>
                  <a:pt x="0" y="9089382"/>
                </a:lnTo>
                <a:lnTo>
                  <a:pt x="9089382" y="9089382"/>
                </a:lnTo>
                <a:lnTo>
                  <a:pt x="9089382"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TextBox 4">
            <a:extLst>
              <a:ext uri="{FF2B5EF4-FFF2-40B4-BE49-F238E27FC236}">
                <a16:creationId xmlns:a16="http://schemas.microsoft.com/office/drawing/2014/main" id="{FDD492D9-9638-DAC8-AEEB-A28D11CCCF22}"/>
              </a:ext>
            </a:extLst>
          </p:cNvPr>
          <p:cNvSpPr txBox="1"/>
          <p:nvPr/>
        </p:nvSpPr>
        <p:spPr>
          <a:xfrm>
            <a:off x="1772581" y="868917"/>
            <a:ext cx="14778459" cy="859210"/>
          </a:xfrm>
          <a:prstGeom prst="rect">
            <a:avLst/>
          </a:prstGeom>
        </p:spPr>
        <p:txBody>
          <a:bodyPr lIns="0" tIns="0" rIns="0" bIns="0" rtlCol="0" anchor="t">
            <a:spAutoFit/>
          </a:bodyPr>
          <a:lstStyle/>
          <a:p>
            <a:pPr lvl="0" algn="ctr">
              <a:lnSpc>
                <a:spcPts val="6745"/>
              </a:lnSpc>
            </a:pPr>
            <a:r>
              <a:rPr lang="en-US" sz="6000" dirty="0">
                <a:latin typeface="Arial Black" panose="020B0A04020102020204" pitchFamily="34" charset="0"/>
              </a:rPr>
              <a:t>MY SQL</a:t>
            </a:r>
          </a:p>
        </p:txBody>
      </p:sp>
      <p:sp>
        <p:nvSpPr>
          <p:cNvPr id="7" name="AutoShape 7">
            <a:extLst>
              <a:ext uri="{FF2B5EF4-FFF2-40B4-BE49-F238E27FC236}">
                <a16:creationId xmlns:a16="http://schemas.microsoft.com/office/drawing/2014/main" id="{54982201-CDE8-122F-A798-3A767DF932AC}"/>
              </a:ext>
            </a:extLst>
          </p:cNvPr>
          <p:cNvSpPr/>
          <p:nvPr/>
        </p:nvSpPr>
        <p:spPr>
          <a:xfrm>
            <a:off x="4980199" y="1943100"/>
            <a:ext cx="8327602" cy="0"/>
          </a:xfrm>
          <a:prstGeom prst="line">
            <a:avLst/>
          </a:prstGeom>
          <a:ln w="38100" cap="flat">
            <a:solidFill>
              <a:srgbClr val="C02519"/>
            </a:solidFill>
            <a:prstDash val="solid"/>
            <a:headEnd type="none" w="sm" len="sm"/>
            <a:tailEnd type="none" w="sm" len="sm"/>
          </a:ln>
        </p:spPr>
        <p:txBody>
          <a:bodyPr/>
          <a:lstStyle/>
          <a:p>
            <a:endParaRPr lang="en-IN" dirty="0"/>
          </a:p>
        </p:txBody>
      </p:sp>
      <p:sp>
        <p:nvSpPr>
          <p:cNvPr id="12" name="TextBox 12">
            <a:extLst>
              <a:ext uri="{FF2B5EF4-FFF2-40B4-BE49-F238E27FC236}">
                <a16:creationId xmlns:a16="http://schemas.microsoft.com/office/drawing/2014/main" id="{8A880109-FDB2-536F-24A4-C4C63C13C514}"/>
              </a:ext>
            </a:extLst>
          </p:cNvPr>
          <p:cNvSpPr txBox="1"/>
          <p:nvPr/>
        </p:nvSpPr>
        <p:spPr>
          <a:xfrm>
            <a:off x="8186281" y="4203332"/>
            <a:ext cx="8179539" cy="352425"/>
          </a:xfrm>
          <a:prstGeom prst="rect">
            <a:avLst/>
          </a:prstGeom>
        </p:spPr>
        <p:txBody>
          <a:bodyPr lIns="0" tIns="0" rIns="0" bIns="0" rtlCol="0" anchor="t">
            <a:spAutoFit/>
          </a:bodyPr>
          <a:lstStyle/>
          <a:p>
            <a:pPr marL="0" lvl="0" indent="0" algn="ctr">
              <a:lnSpc>
                <a:spcPts val="2697"/>
              </a:lnSpc>
            </a:pPr>
            <a:r>
              <a:rPr lang="en-US" sz="2247" b="1" spc="33" dirty="0">
                <a:solidFill>
                  <a:srgbClr val="FFFFFF"/>
                </a:solidFill>
                <a:latin typeface="Poppins Medium"/>
                <a:ea typeface="Poppins Medium"/>
                <a:cs typeface="Poppins Medium"/>
                <a:sym typeface="Poppins Medium"/>
              </a:rPr>
              <a:t>Zomato Dataset — Source, Records &amp; Column Overview</a:t>
            </a:r>
          </a:p>
        </p:txBody>
      </p:sp>
      <p:sp>
        <p:nvSpPr>
          <p:cNvPr id="15" name="Freeform 15">
            <a:extLst>
              <a:ext uri="{FF2B5EF4-FFF2-40B4-BE49-F238E27FC236}">
                <a16:creationId xmlns:a16="http://schemas.microsoft.com/office/drawing/2014/main" id="{527DCB7D-A6CC-29E5-C82F-A6217CAD8E9F}"/>
              </a:ext>
            </a:extLst>
          </p:cNvPr>
          <p:cNvSpPr/>
          <p:nvPr/>
        </p:nvSpPr>
        <p:spPr>
          <a:xfrm>
            <a:off x="15657244" y="9478155"/>
            <a:ext cx="1498304" cy="182521"/>
          </a:xfrm>
          <a:custGeom>
            <a:avLst/>
            <a:gdLst/>
            <a:ahLst/>
            <a:cxnLst/>
            <a:rect l="l" t="t" r="r" b="b"/>
            <a:pathLst>
              <a:path w="1498304" h="182521">
                <a:moveTo>
                  <a:pt x="0" y="0"/>
                </a:moveTo>
                <a:lnTo>
                  <a:pt x="1498304" y="0"/>
                </a:lnTo>
                <a:lnTo>
                  <a:pt x="1498304" y="182521"/>
                </a:lnTo>
                <a:lnTo>
                  <a:pt x="0" y="1825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6" name="Freeform 16">
            <a:extLst>
              <a:ext uri="{FF2B5EF4-FFF2-40B4-BE49-F238E27FC236}">
                <a16:creationId xmlns:a16="http://schemas.microsoft.com/office/drawing/2014/main" id="{5AA51ECE-1F39-2570-48D5-1E94CEF704EE}"/>
              </a:ext>
            </a:extLst>
          </p:cNvPr>
          <p:cNvSpPr/>
          <p:nvPr/>
        </p:nvSpPr>
        <p:spPr>
          <a:xfrm>
            <a:off x="451274" y="8900815"/>
            <a:ext cx="1303497" cy="1019098"/>
          </a:xfrm>
          <a:custGeom>
            <a:avLst/>
            <a:gdLst/>
            <a:ahLst/>
            <a:cxnLst/>
            <a:rect l="l" t="t" r="r" b="b"/>
            <a:pathLst>
              <a:path w="1303497" h="1019098">
                <a:moveTo>
                  <a:pt x="0" y="0"/>
                </a:moveTo>
                <a:lnTo>
                  <a:pt x="1303496" y="0"/>
                </a:lnTo>
                <a:lnTo>
                  <a:pt x="1303496" y="1019098"/>
                </a:lnTo>
                <a:lnTo>
                  <a:pt x="0" y="101909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pic>
        <p:nvPicPr>
          <p:cNvPr id="8" name="Picture 7">
            <a:extLst>
              <a:ext uri="{FF2B5EF4-FFF2-40B4-BE49-F238E27FC236}">
                <a16:creationId xmlns:a16="http://schemas.microsoft.com/office/drawing/2014/main" id="{2353555E-4ED2-807E-3E1B-09E4D5E035A3}"/>
              </a:ext>
            </a:extLst>
          </p:cNvPr>
          <p:cNvPicPr>
            <a:picLocks noChangeAspect="1"/>
          </p:cNvPicPr>
          <p:nvPr/>
        </p:nvPicPr>
        <p:blipFill>
          <a:blip r:embed="rId5"/>
          <a:stretch>
            <a:fillRect/>
          </a:stretch>
        </p:blipFill>
        <p:spPr>
          <a:xfrm>
            <a:off x="2667000" y="2384161"/>
            <a:ext cx="4847894" cy="7208724"/>
          </a:xfrm>
          <a:prstGeom prst="rect">
            <a:avLst/>
          </a:prstGeom>
        </p:spPr>
      </p:pic>
      <p:pic>
        <p:nvPicPr>
          <p:cNvPr id="10" name="Picture 9">
            <a:extLst>
              <a:ext uri="{FF2B5EF4-FFF2-40B4-BE49-F238E27FC236}">
                <a16:creationId xmlns:a16="http://schemas.microsoft.com/office/drawing/2014/main" id="{60CD402D-C038-8177-F20C-D0B2434C3693}"/>
              </a:ext>
            </a:extLst>
          </p:cNvPr>
          <p:cNvPicPr>
            <a:picLocks noChangeAspect="1"/>
          </p:cNvPicPr>
          <p:nvPr/>
        </p:nvPicPr>
        <p:blipFill>
          <a:blip r:embed="rId6"/>
          <a:stretch>
            <a:fillRect/>
          </a:stretch>
        </p:blipFill>
        <p:spPr>
          <a:xfrm>
            <a:off x="9278042" y="2476500"/>
            <a:ext cx="6114358" cy="7116380"/>
          </a:xfrm>
          <a:prstGeom prst="rect">
            <a:avLst/>
          </a:prstGeom>
        </p:spPr>
      </p:pic>
    </p:spTree>
    <p:extLst>
      <p:ext uri="{BB962C8B-B14F-4D97-AF65-F5344CB8AC3E}">
        <p14:creationId xmlns:p14="http://schemas.microsoft.com/office/powerpoint/2010/main" val="9662930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91F92-E247-FA68-7DB0-6DAADE384CF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F6BA2CE-35C5-CCA7-9061-A64D0D7AE652}"/>
              </a:ext>
            </a:extLst>
          </p:cNvPr>
          <p:cNvSpPr/>
          <p:nvPr/>
        </p:nvSpPr>
        <p:spPr>
          <a:xfrm rot="-10800000">
            <a:off x="11226555" y="-1856007"/>
            <a:ext cx="9089382" cy="9089382"/>
          </a:xfrm>
          <a:custGeom>
            <a:avLst/>
            <a:gdLst/>
            <a:ahLst/>
            <a:cxnLst/>
            <a:rect l="l" t="t" r="r" b="b"/>
            <a:pathLst>
              <a:path w="9089382" h="9089382">
                <a:moveTo>
                  <a:pt x="0" y="0"/>
                </a:moveTo>
                <a:lnTo>
                  <a:pt x="9089382" y="0"/>
                </a:lnTo>
                <a:lnTo>
                  <a:pt x="9089382" y="9089382"/>
                </a:lnTo>
                <a:lnTo>
                  <a:pt x="0" y="90893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a:extLst>
              <a:ext uri="{FF2B5EF4-FFF2-40B4-BE49-F238E27FC236}">
                <a16:creationId xmlns:a16="http://schemas.microsoft.com/office/drawing/2014/main" id="{81996388-A27B-0B8A-EAAC-5074FE34F102}"/>
              </a:ext>
            </a:extLst>
          </p:cNvPr>
          <p:cNvSpPr/>
          <p:nvPr/>
        </p:nvSpPr>
        <p:spPr>
          <a:xfrm rot="-10800000" flipH="1">
            <a:off x="-2027937" y="-1633436"/>
            <a:ext cx="9089382" cy="9089382"/>
          </a:xfrm>
          <a:custGeom>
            <a:avLst/>
            <a:gdLst/>
            <a:ahLst/>
            <a:cxnLst/>
            <a:rect l="l" t="t" r="r" b="b"/>
            <a:pathLst>
              <a:path w="9089382" h="9089382">
                <a:moveTo>
                  <a:pt x="9089382" y="0"/>
                </a:moveTo>
                <a:lnTo>
                  <a:pt x="0" y="0"/>
                </a:lnTo>
                <a:lnTo>
                  <a:pt x="0" y="9089382"/>
                </a:lnTo>
                <a:lnTo>
                  <a:pt x="9089382" y="9089382"/>
                </a:lnTo>
                <a:lnTo>
                  <a:pt x="9089382"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7" name="AutoShape 7">
            <a:extLst>
              <a:ext uri="{FF2B5EF4-FFF2-40B4-BE49-F238E27FC236}">
                <a16:creationId xmlns:a16="http://schemas.microsoft.com/office/drawing/2014/main" id="{344E0309-05AF-4CA2-0108-66B8493504E9}"/>
              </a:ext>
            </a:extLst>
          </p:cNvPr>
          <p:cNvSpPr/>
          <p:nvPr/>
        </p:nvSpPr>
        <p:spPr>
          <a:xfrm>
            <a:off x="4980199" y="1104900"/>
            <a:ext cx="8327602" cy="0"/>
          </a:xfrm>
          <a:prstGeom prst="line">
            <a:avLst/>
          </a:prstGeom>
          <a:ln w="38100" cap="flat">
            <a:solidFill>
              <a:srgbClr val="C02519"/>
            </a:solidFill>
            <a:prstDash val="solid"/>
            <a:headEnd type="none" w="sm" len="sm"/>
            <a:tailEnd type="none" w="sm" len="sm"/>
          </a:ln>
        </p:spPr>
        <p:txBody>
          <a:bodyPr/>
          <a:lstStyle/>
          <a:p>
            <a:endParaRPr lang="en-IN" dirty="0"/>
          </a:p>
        </p:txBody>
      </p:sp>
      <p:sp>
        <p:nvSpPr>
          <p:cNvPr id="12" name="TextBox 12">
            <a:extLst>
              <a:ext uri="{FF2B5EF4-FFF2-40B4-BE49-F238E27FC236}">
                <a16:creationId xmlns:a16="http://schemas.microsoft.com/office/drawing/2014/main" id="{7BF7D333-D2F1-03BA-4FDC-522238C63E7C}"/>
              </a:ext>
            </a:extLst>
          </p:cNvPr>
          <p:cNvSpPr txBox="1"/>
          <p:nvPr/>
        </p:nvSpPr>
        <p:spPr>
          <a:xfrm>
            <a:off x="8186281" y="4203332"/>
            <a:ext cx="8179539" cy="352425"/>
          </a:xfrm>
          <a:prstGeom prst="rect">
            <a:avLst/>
          </a:prstGeom>
        </p:spPr>
        <p:txBody>
          <a:bodyPr lIns="0" tIns="0" rIns="0" bIns="0" rtlCol="0" anchor="t">
            <a:spAutoFit/>
          </a:bodyPr>
          <a:lstStyle/>
          <a:p>
            <a:pPr marL="0" lvl="0" indent="0" algn="ctr">
              <a:lnSpc>
                <a:spcPts val="2697"/>
              </a:lnSpc>
            </a:pPr>
            <a:r>
              <a:rPr lang="en-US" sz="2247" b="1" spc="33" dirty="0">
                <a:solidFill>
                  <a:srgbClr val="FFFFFF"/>
                </a:solidFill>
                <a:latin typeface="Poppins Medium"/>
                <a:ea typeface="Poppins Medium"/>
                <a:cs typeface="Poppins Medium"/>
                <a:sym typeface="Poppins Medium"/>
              </a:rPr>
              <a:t>Zomato Dataset — Source, Records &amp; Column Overview</a:t>
            </a:r>
          </a:p>
        </p:txBody>
      </p:sp>
      <p:sp>
        <p:nvSpPr>
          <p:cNvPr id="15" name="Freeform 15">
            <a:extLst>
              <a:ext uri="{FF2B5EF4-FFF2-40B4-BE49-F238E27FC236}">
                <a16:creationId xmlns:a16="http://schemas.microsoft.com/office/drawing/2014/main" id="{7AC445DC-D665-3F06-7AC0-E973B725F22E}"/>
              </a:ext>
            </a:extLst>
          </p:cNvPr>
          <p:cNvSpPr/>
          <p:nvPr/>
        </p:nvSpPr>
        <p:spPr>
          <a:xfrm>
            <a:off x="15657244" y="9478155"/>
            <a:ext cx="1498304" cy="182521"/>
          </a:xfrm>
          <a:custGeom>
            <a:avLst/>
            <a:gdLst/>
            <a:ahLst/>
            <a:cxnLst/>
            <a:rect l="l" t="t" r="r" b="b"/>
            <a:pathLst>
              <a:path w="1498304" h="182521">
                <a:moveTo>
                  <a:pt x="0" y="0"/>
                </a:moveTo>
                <a:lnTo>
                  <a:pt x="1498304" y="0"/>
                </a:lnTo>
                <a:lnTo>
                  <a:pt x="1498304" y="182521"/>
                </a:lnTo>
                <a:lnTo>
                  <a:pt x="0" y="1825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6" name="Freeform 16">
            <a:extLst>
              <a:ext uri="{FF2B5EF4-FFF2-40B4-BE49-F238E27FC236}">
                <a16:creationId xmlns:a16="http://schemas.microsoft.com/office/drawing/2014/main" id="{95283912-9308-5E47-B345-67D6E1FDC536}"/>
              </a:ext>
            </a:extLst>
          </p:cNvPr>
          <p:cNvSpPr/>
          <p:nvPr/>
        </p:nvSpPr>
        <p:spPr>
          <a:xfrm>
            <a:off x="451274" y="8900815"/>
            <a:ext cx="1303497" cy="1019098"/>
          </a:xfrm>
          <a:custGeom>
            <a:avLst/>
            <a:gdLst/>
            <a:ahLst/>
            <a:cxnLst/>
            <a:rect l="l" t="t" r="r" b="b"/>
            <a:pathLst>
              <a:path w="1303497" h="1019098">
                <a:moveTo>
                  <a:pt x="0" y="0"/>
                </a:moveTo>
                <a:lnTo>
                  <a:pt x="1303496" y="0"/>
                </a:lnTo>
                <a:lnTo>
                  <a:pt x="1303496" y="1019098"/>
                </a:lnTo>
                <a:lnTo>
                  <a:pt x="0" y="101909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pic>
        <p:nvPicPr>
          <p:cNvPr id="11" name="Picture 10">
            <a:extLst>
              <a:ext uri="{FF2B5EF4-FFF2-40B4-BE49-F238E27FC236}">
                <a16:creationId xmlns:a16="http://schemas.microsoft.com/office/drawing/2014/main" id="{5F29642D-5CE7-2FF2-A01A-9F65EFC56422}"/>
              </a:ext>
            </a:extLst>
          </p:cNvPr>
          <p:cNvPicPr>
            <a:picLocks noChangeAspect="1"/>
          </p:cNvPicPr>
          <p:nvPr/>
        </p:nvPicPr>
        <p:blipFill>
          <a:blip r:embed="rId5"/>
          <a:stretch>
            <a:fillRect/>
          </a:stretch>
        </p:blipFill>
        <p:spPr>
          <a:xfrm>
            <a:off x="2335221" y="2019300"/>
            <a:ext cx="5437179" cy="7458855"/>
          </a:xfrm>
          <a:prstGeom prst="rect">
            <a:avLst/>
          </a:prstGeom>
        </p:spPr>
      </p:pic>
      <p:pic>
        <p:nvPicPr>
          <p:cNvPr id="14" name="Picture 13">
            <a:extLst>
              <a:ext uri="{FF2B5EF4-FFF2-40B4-BE49-F238E27FC236}">
                <a16:creationId xmlns:a16="http://schemas.microsoft.com/office/drawing/2014/main" id="{BD0C392D-B2DE-CEE1-396C-944F2B4564FF}"/>
              </a:ext>
            </a:extLst>
          </p:cNvPr>
          <p:cNvPicPr>
            <a:picLocks noChangeAspect="1"/>
          </p:cNvPicPr>
          <p:nvPr/>
        </p:nvPicPr>
        <p:blipFill>
          <a:blip r:embed="rId6"/>
          <a:stretch>
            <a:fillRect/>
          </a:stretch>
        </p:blipFill>
        <p:spPr>
          <a:xfrm>
            <a:off x="9196917" y="2019300"/>
            <a:ext cx="5662083" cy="7315195"/>
          </a:xfrm>
          <a:prstGeom prst="rect">
            <a:avLst/>
          </a:prstGeom>
        </p:spPr>
      </p:pic>
    </p:spTree>
    <p:extLst>
      <p:ext uri="{BB962C8B-B14F-4D97-AF65-F5344CB8AC3E}">
        <p14:creationId xmlns:p14="http://schemas.microsoft.com/office/powerpoint/2010/main" val="11515564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15904649" y="9058463"/>
            <a:ext cx="2383349" cy="1228536"/>
          </a:xfrm>
          <a:prstGeom prst="rect">
            <a:avLst/>
          </a:prstGeom>
        </p:spPr>
      </p:pic>
      <p:pic>
        <p:nvPicPr>
          <p:cNvPr id="4" name="object 4"/>
          <p:cNvPicPr/>
          <p:nvPr/>
        </p:nvPicPr>
        <p:blipFill>
          <a:blip r:embed="rId3" cstate="print"/>
          <a:stretch>
            <a:fillRect/>
          </a:stretch>
        </p:blipFill>
        <p:spPr>
          <a:xfrm>
            <a:off x="13043129" y="9740861"/>
            <a:ext cx="1339604" cy="546139"/>
          </a:xfrm>
          <a:prstGeom prst="rect">
            <a:avLst/>
          </a:prstGeom>
        </p:spPr>
      </p:pic>
      <p:sp>
        <p:nvSpPr>
          <p:cNvPr id="5" name="object 5"/>
          <p:cNvSpPr/>
          <p:nvPr/>
        </p:nvSpPr>
        <p:spPr>
          <a:xfrm>
            <a:off x="14750225" y="9070823"/>
            <a:ext cx="1418590" cy="1216660"/>
          </a:xfrm>
          <a:custGeom>
            <a:avLst/>
            <a:gdLst/>
            <a:ahLst/>
            <a:cxnLst/>
            <a:rect l="l" t="t" r="r" b="b"/>
            <a:pathLst>
              <a:path w="1418590" h="1216659">
                <a:moveTo>
                  <a:pt x="347417" y="1216177"/>
                </a:moveTo>
                <a:lnTo>
                  <a:pt x="1070469" y="1216177"/>
                </a:lnTo>
                <a:lnTo>
                  <a:pt x="1240796" y="921074"/>
                </a:lnTo>
                <a:lnTo>
                  <a:pt x="1418081" y="614117"/>
                </a:lnTo>
                <a:lnTo>
                  <a:pt x="1240796" y="307159"/>
                </a:lnTo>
                <a:lnTo>
                  <a:pt x="1063510" y="0"/>
                </a:lnTo>
                <a:lnTo>
                  <a:pt x="354368" y="0"/>
                </a:lnTo>
                <a:lnTo>
                  <a:pt x="177285" y="307159"/>
                </a:lnTo>
                <a:lnTo>
                  <a:pt x="0" y="614117"/>
                </a:lnTo>
                <a:lnTo>
                  <a:pt x="177285" y="921074"/>
                </a:lnTo>
                <a:lnTo>
                  <a:pt x="347417" y="1216177"/>
                </a:lnTo>
                <a:close/>
              </a:path>
            </a:pathLst>
          </a:custGeom>
          <a:solidFill>
            <a:srgbClr val="4B0A05"/>
          </a:solidFill>
        </p:spPr>
        <p:txBody>
          <a:bodyPr wrap="square" lIns="0" tIns="0" rIns="0" bIns="0" rtlCol="0"/>
          <a:lstStyle/>
          <a:p>
            <a:endParaRPr/>
          </a:p>
        </p:txBody>
      </p:sp>
      <p:grpSp>
        <p:nvGrpSpPr>
          <p:cNvPr id="6" name="object 6"/>
          <p:cNvGrpSpPr/>
          <p:nvPr/>
        </p:nvGrpSpPr>
        <p:grpSpPr>
          <a:xfrm>
            <a:off x="16958292" y="7011271"/>
            <a:ext cx="1330325" cy="1228090"/>
            <a:chOff x="16958292" y="7011271"/>
            <a:chExt cx="1330325" cy="1228090"/>
          </a:xfrm>
        </p:grpSpPr>
        <p:sp>
          <p:nvSpPr>
            <p:cNvPr id="7" name="object 7"/>
            <p:cNvSpPr/>
            <p:nvPr/>
          </p:nvSpPr>
          <p:spPr>
            <a:xfrm>
              <a:off x="16958292" y="7011271"/>
              <a:ext cx="1330325" cy="1228090"/>
            </a:xfrm>
            <a:custGeom>
              <a:avLst/>
              <a:gdLst/>
              <a:ahLst/>
              <a:cxnLst/>
              <a:rect l="l" t="t" r="r" b="b"/>
              <a:pathLst>
                <a:path w="1330325" h="1228090">
                  <a:moveTo>
                    <a:pt x="354571" y="1228031"/>
                  </a:moveTo>
                  <a:lnTo>
                    <a:pt x="1063510" y="1228031"/>
                  </a:lnTo>
                  <a:lnTo>
                    <a:pt x="1329707" y="767131"/>
                  </a:lnTo>
                  <a:lnTo>
                    <a:pt x="1329707" y="461001"/>
                  </a:lnTo>
                  <a:lnTo>
                    <a:pt x="1240796" y="306957"/>
                  </a:lnTo>
                  <a:lnTo>
                    <a:pt x="1063510" y="0"/>
                  </a:lnTo>
                  <a:lnTo>
                    <a:pt x="354571" y="0"/>
                  </a:lnTo>
                  <a:lnTo>
                    <a:pt x="177285" y="306957"/>
                  </a:lnTo>
                  <a:lnTo>
                    <a:pt x="0" y="614117"/>
                  </a:lnTo>
                  <a:lnTo>
                    <a:pt x="354571" y="1228031"/>
                  </a:lnTo>
                  <a:close/>
                </a:path>
              </a:pathLst>
            </a:custGeom>
            <a:solidFill>
              <a:srgbClr val="4B0A05"/>
            </a:solidFill>
          </p:spPr>
          <p:txBody>
            <a:bodyPr wrap="square" lIns="0" tIns="0" rIns="0" bIns="0" rtlCol="0"/>
            <a:lstStyle/>
            <a:p>
              <a:endParaRPr/>
            </a:p>
          </p:txBody>
        </p:sp>
        <p:pic>
          <p:nvPicPr>
            <p:cNvPr id="8" name="object 8"/>
            <p:cNvPicPr/>
            <p:nvPr/>
          </p:nvPicPr>
          <p:blipFill>
            <a:blip r:embed="rId4" cstate="print"/>
            <a:stretch>
              <a:fillRect/>
            </a:stretch>
          </p:blipFill>
          <p:spPr>
            <a:xfrm>
              <a:off x="18015319" y="7895267"/>
              <a:ext cx="235435" cy="94214"/>
            </a:xfrm>
            <a:prstGeom prst="rect">
              <a:avLst/>
            </a:prstGeom>
          </p:spPr>
        </p:pic>
        <p:pic>
          <p:nvPicPr>
            <p:cNvPr id="9" name="object 9"/>
            <p:cNvPicPr/>
            <p:nvPr/>
          </p:nvPicPr>
          <p:blipFill>
            <a:blip r:embed="rId5" cstate="print"/>
            <a:stretch>
              <a:fillRect/>
            </a:stretch>
          </p:blipFill>
          <p:spPr>
            <a:xfrm>
              <a:off x="17955143" y="7791125"/>
              <a:ext cx="332855" cy="181156"/>
            </a:xfrm>
            <a:prstGeom prst="rect">
              <a:avLst/>
            </a:prstGeom>
          </p:spPr>
        </p:pic>
        <p:pic>
          <p:nvPicPr>
            <p:cNvPr id="10" name="object 10"/>
            <p:cNvPicPr/>
            <p:nvPr/>
          </p:nvPicPr>
          <p:blipFill>
            <a:blip r:embed="rId6" cstate="print"/>
            <a:stretch>
              <a:fillRect/>
            </a:stretch>
          </p:blipFill>
          <p:spPr>
            <a:xfrm>
              <a:off x="17791635" y="7011271"/>
              <a:ext cx="496363" cy="880830"/>
            </a:xfrm>
            <a:prstGeom prst="rect">
              <a:avLst/>
            </a:prstGeom>
          </p:spPr>
        </p:pic>
      </p:grpSp>
      <p:grpSp>
        <p:nvGrpSpPr>
          <p:cNvPr id="11" name="object 11"/>
          <p:cNvGrpSpPr/>
          <p:nvPr/>
        </p:nvGrpSpPr>
        <p:grpSpPr>
          <a:xfrm>
            <a:off x="14962767" y="8977215"/>
            <a:ext cx="1229995" cy="1069340"/>
            <a:chOff x="14962767" y="8977215"/>
            <a:chExt cx="1229995" cy="1069340"/>
          </a:xfrm>
        </p:grpSpPr>
        <p:sp>
          <p:nvSpPr>
            <p:cNvPr id="12" name="object 12"/>
            <p:cNvSpPr/>
            <p:nvPr/>
          </p:nvSpPr>
          <p:spPr>
            <a:xfrm>
              <a:off x="14962760" y="8977223"/>
              <a:ext cx="1229995" cy="1069340"/>
            </a:xfrm>
            <a:custGeom>
              <a:avLst/>
              <a:gdLst/>
              <a:ahLst/>
              <a:cxnLst/>
              <a:rect l="l" t="t" r="r" b="b"/>
              <a:pathLst>
                <a:path w="1229994" h="1069340">
                  <a:moveTo>
                    <a:pt x="392252" y="1068984"/>
                  </a:moveTo>
                  <a:lnTo>
                    <a:pt x="277583" y="1022985"/>
                  </a:lnTo>
                  <a:lnTo>
                    <a:pt x="284060" y="1034338"/>
                  </a:lnTo>
                  <a:lnTo>
                    <a:pt x="370370" y="1068984"/>
                  </a:lnTo>
                  <a:lnTo>
                    <a:pt x="392252" y="1068984"/>
                  </a:lnTo>
                  <a:close/>
                </a:path>
                <a:path w="1229994" h="1069340">
                  <a:moveTo>
                    <a:pt x="501865" y="1068984"/>
                  </a:moveTo>
                  <a:lnTo>
                    <a:pt x="244551" y="966050"/>
                  </a:lnTo>
                  <a:lnTo>
                    <a:pt x="251244" y="977404"/>
                  </a:lnTo>
                  <a:lnTo>
                    <a:pt x="479983" y="1068984"/>
                  </a:lnTo>
                  <a:lnTo>
                    <a:pt x="501865" y="1068984"/>
                  </a:lnTo>
                  <a:close/>
                </a:path>
                <a:path w="1229994" h="1069340">
                  <a:moveTo>
                    <a:pt x="611479" y="1068984"/>
                  </a:moveTo>
                  <a:lnTo>
                    <a:pt x="211734" y="909116"/>
                  </a:lnTo>
                  <a:lnTo>
                    <a:pt x="218211" y="920470"/>
                  </a:lnTo>
                  <a:lnTo>
                    <a:pt x="589597" y="1068984"/>
                  </a:lnTo>
                  <a:lnTo>
                    <a:pt x="611479" y="1068984"/>
                  </a:lnTo>
                  <a:close/>
                </a:path>
                <a:path w="1229994" h="1069340">
                  <a:moveTo>
                    <a:pt x="720890" y="1068984"/>
                  </a:moveTo>
                  <a:lnTo>
                    <a:pt x="178701" y="851979"/>
                  </a:lnTo>
                  <a:lnTo>
                    <a:pt x="185394" y="863536"/>
                  </a:lnTo>
                  <a:lnTo>
                    <a:pt x="699008" y="1068984"/>
                  </a:lnTo>
                  <a:lnTo>
                    <a:pt x="720890" y="1068984"/>
                  </a:lnTo>
                  <a:close/>
                </a:path>
                <a:path w="1229994" h="1069340">
                  <a:moveTo>
                    <a:pt x="830503" y="1068984"/>
                  </a:moveTo>
                  <a:lnTo>
                    <a:pt x="145884" y="795045"/>
                  </a:lnTo>
                  <a:lnTo>
                    <a:pt x="149733" y="801738"/>
                  </a:lnTo>
                  <a:lnTo>
                    <a:pt x="152565" y="806399"/>
                  </a:lnTo>
                  <a:lnTo>
                    <a:pt x="808621" y="1068984"/>
                  </a:lnTo>
                  <a:lnTo>
                    <a:pt x="830503" y="1068984"/>
                  </a:lnTo>
                  <a:close/>
                </a:path>
                <a:path w="1229994" h="1069340">
                  <a:moveTo>
                    <a:pt x="924725" y="1062901"/>
                  </a:moveTo>
                  <a:lnTo>
                    <a:pt x="113055" y="738111"/>
                  </a:lnTo>
                  <a:lnTo>
                    <a:pt x="119545" y="749465"/>
                  </a:lnTo>
                  <a:lnTo>
                    <a:pt x="918032" y="1068984"/>
                  </a:lnTo>
                  <a:lnTo>
                    <a:pt x="921283" y="1068984"/>
                  </a:lnTo>
                  <a:lnTo>
                    <a:pt x="924725" y="1062901"/>
                  </a:lnTo>
                  <a:close/>
                </a:path>
                <a:path w="1229994" h="1069340">
                  <a:moveTo>
                    <a:pt x="945184" y="1027239"/>
                  </a:moveTo>
                  <a:lnTo>
                    <a:pt x="80035" y="681177"/>
                  </a:lnTo>
                  <a:lnTo>
                    <a:pt x="86715" y="692531"/>
                  </a:lnTo>
                  <a:lnTo>
                    <a:pt x="941133" y="1034338"/>
                  </a:lnTo>
                  <a:lnTo>
                    <a:pt x="945184" y="1027239"/>
                  </a:lnTo>
                  <a:close/>
                </a:path>
                <a:path w="1229994" h="1069340">
                  <a:moveTo>
                    <a:pt x="965847" y="991577"/>
                  </a:moveTo>
                  <a:lnTo>
                    <a:pt x="47205" y="624243"/>
                  </a:lnTo>
                  <a:lnTo>
                    <a:pt x="53695" y="635596"/>
                  </a:lnTo>
                  <a:lnTo>
                    <a:pt x="961796" y="998880"/>
                  </a:lnTo>
                  <a:lnTo>
                    <a:pt x="965847" y="991577"/>
                  </a:lnTo>
                  <a:close/>
                </a:path>
                <a:path w="1229994" h="1069340">
                  <a:moveTo>
                    <a:pt x="986320" y="956119"/>
                  </a:moveTo>
                  <a:lnTo>
                    <a:pt x="14389" y="567105"/>
                  </a:lnTo>
                  <a:lnTo>
                    <a:pt x="20866" y="578459"/>
                  </a:lnTo>
                  <a:lnTo>
                    <a:pt x="982268" y="963218"/>
                  </a:lnTo>
                  <a:lnTo>
                    <a:pt x="986320" y="956119"/>
                  </a:lnTo>
                  <a:close/>
                </a:path>
                <a:path w="1229994" h="1069340">
                  <a:moveTo>
                    <a:pt x="1000899" y="138176"/>
                  </a:moveTo>
                  <a:lnTo>
                    <a:pt x="994422" y="126631"/>
                  </a:lnTo>
                  <a:lnTo>
                    <a:pt x="677735" y="0"/>
                  </a:lnTo>
                  <a:lnTo>
                    <a:pt x="655853" y="0"/>
                  </a:lnTo>
                  <a:lnTo>
                    <a:pt x="1000899" y="138176"/>
                  </a:lnTo>
                  <a:close/>
                </a:path>
                <a:path w="1229994" h="1069340">
                  <a:moveTo>
                    <a:pt x="1006983" y="920470"/>
                  </a:moveTo>
                  <a:lnTo>
                    <a:pt x="4254" y="519290"/>
                  </a:lnTo>
                  <a:lnTo>
                    <a:pt x="0" y="526389"/>
                  </a:lnTo>
                  <a:lnTo>
                    <a:pt x="1002728" y="927557"/>
                  </a:lnTo>
                  <a:lnTo>
                    <a:pt x="1006983" y="920470"/>
                  </a:lnTo>
                  <a:close/>
                </a:path>
                <a:path w="1229994" h="1069340">
                  <a:moveTo>
                    <a:pt x="1027442" y="884809"/>
                  </a:moveTo>
                  <a:lnTo>
                    <a:pt x="24714" y="483628"/>
                  </a:lnTo>
                  <a:lnTo>
                    <a:pt x="20662" y="490728"/>
                  </a:lnTo>
                  <a:lnTo>
                    <a:pt x="1023391" y="891895"/>
                  </a:lnTo>
                  <a:lnTo>
                    <a:pt x="1027442" y="884809"/>
                  </a:lnTo>
                  <a:close/>
                </a:path>
                <a:path w="1229994" h="1069340">
                  <a:moveTo>
                    <a:pt x="1033932" y="195110"/>
                  </a:moveTo>
                  <a:lnTo>
                    <a:pt x="1027239" y="183769"/>
                  </a:lnTo>
                  <a:lnTo>
                    <a:pt x="568121" y="0"/>
                  </a:lnTo>
                  <a:lnTo>
                    <a:pt x="546239" y="0"/>
                  </a:lnTo>
                  <a:lnTo>
                    <a:pt x="1033932" y="195110"/>
                  </a:lnTo>
                  <a:close/>
                </a:path>
                <a:path w="1229994" h="1069340">
                  <a:moveTo>
                    <a:pt x="1048118" y="849350"/>
                  </a:moveTo>
                  <a:lnTo>
                    <a:pt x="45389" y="448183"/>
                  </a:lnTo>
                  <a:lnTo>
                    <a:pt x="41135" y="455269"/>
                  </a:lnTo>
                  <a:lnTo>
                    <a:pt x="1043863" y="856437"/>
                  </a:lnTo>
                  <a:lnTo>
                    <a:pt x="1048118" y="849350"/>
                  </a:lnTo>
                  <a:close/>
                </a:path>
                <a:path w="1229994" h="1069340">
                  <a:moveTo>
                    <a:pt x="1066749" y="252044"/>
                  </a:moveTo>
                  <a:lnTo>
                    <a:pt x="1060069" y="240703"/>
                  </a:lnTo>
                  <a:lnTo>
                    <a:pt x="458508" y="0"/>
                  </a:lnTo>
                  <a:lnTo>
                    <a:pt x="436626" y="0"/>
                  </a:lnTo>
                  <a:lnTo>
                    <a:pt x="1066749" y="252044"/>
                  </a:lnTo>
                  <a:close/>
                </a:path>
                <a:path w="1229994" h="1069340">
                  <a:moveTo>
                    <a:pt x="1068578" y="813689"/>
                  </a:moveTo>
                  <a:lnTo>
                    <a:pt x="65849" y="412521"/>
                  </a:lnTo>
                  <a:lnTo>
                    <a:pt x="61798" y="419608"/>
                  </a:lnTo>
                  <a:lnTo>
                    <a:pt x="1064526" y="820775"/>
                  </a:lnTo>
                  <a:lnTo>
                    <a:pt x="1068578" y="813689"/>
                  </a:lnTo>
                  <a:close/>
                </a:path>
                <a:path w="1229994" h="1069340">
                  <a:moveTo>
                    <a:pt x="1089240" y="778027"/>
                  </a:moveTo>
                  <a:lnTo>
                    <a:pt x="86309" y="376859"/>
                  </a:lnTo>
                  <a:lnTo>
                    <a:pt x="82257" y="383946"/>
                  </a:lnTo>
                  <a:lnTo>
                    <a:pt x="1084986" y="785126"/>
                  </a:lnTo>
                  <a:lnTo>
                    <a:pt x="1089240" y="778027"/>
                  </a:lnTo>
                  <a:close/>
                </a:path>
                <a:path w="1229994" h="1069340">
                  <a:moveTo>
                    <a:pt x="1099578" y="308978"/>
                  </a:moveTo>
                  <a:lnTo>
                    <a:pt x="1093089" y="297637"/>
                  </a:lnTo>
                  <a:lnTo>
                    <a:pt x="349097" y="0"/>
                  </a:lnTo>
                  <a:lnTo>
                    <a:pt x="327215" y="0"/>
                  </a:lnTo>
                  <a:lnTo>
                    <a:pt x="1099578" y="308978"/>
                  </a:lnTo>
                  <a:close/>
                </a:path>
                <a:path w="1229994" h="1069340">
                  <a:moveTo>
                    <a:pt x="1109700" y="742569"/>
                  </a:moveTo>
                  <a:lnTo>
                    <a:pt x="106984" y="341401"/>
                  </a:lnTo>
                  <a:lnTo>
                    <a:pt x="102933" y="348488"/>
                  </a:lnTo>
                  <a:lnTo>
                    <a:pt x="1105649" y="749668"/>
                  </a:lnTo>
                  <a:lnTo>
                    <a:pt x="1109700" y="742569"/>
                  </a:lnTo>
                  <a:close/>
                </a:path>
                <a:path w="1229994" h="1069340">
                  <a:moveTo>
                    <a:pt x="1130173" y="706907"/>
                  </a:moveTo>
                  <a:lnTo>
                    <a:pt x="127444" y="305739"/>
                  </a:lnTo>
                  <a:lnTo>
                    <a:pt x="123393" y="312826"/>
                  </a:lnTo>
                  <a:lnTo>
                    <a:pt x="1126121" y="714006"/>
                  </a:lnTo>
                  <a:lnTo>
                    <a:pt x="1130173" y="706907"/>
                  </a:lnTo>
                  <a:close/>
                </a:path>
                <a:path w="1229994" h="1069340">
                  <a:moveTo>
                    <a:pt x="1132598" y="365912"/>
                  </a:moveTo>
                  <a:lnTo>
                    <a:pt x="1125918" y="354571"/>
                  </a:lnTo>
                  <a:lnTo>
                    <a:pt x="291960" y="20866"/>
                  </a:lnTo>
                  <a:lnTo>
                    <a:pt x="287909" y="27965"/>
                  </a:lnTo>
                  <a:lnTo>
                    <a:pt x="1132598" y="365912"/>
                  </a:lnTo>
                  <a:close/>
                </a:path>
                <a:path w="1229994" h="1069340">
                  <a:moveTo>
                    <a:pt x="1150835" y="671258"/>
                  </a:moveTo>
                  <a:lnTo>
                    <a:pt x="148107" y="270078"/>
                  </a:lnTo>
                  <a:lnTo>
                    <a:pt x="143852" y="277177"/>
                  </a:lnTo>
                  <a:lnTo>
                    <a:pt x="1146784" y="678345"/>
                  </a:lnTo>
                  <a:lnTo>
                    <a:pt x="1150835" y="671258"/>
                  </a:lnTo>
                  <a:close/>
                </a:path>
                <a:path w="1229994" h="1069340">
                  <a:moveTo>
                    <a:pt x="1165428" y="423049"/>
                  </a:moveTo>
                  <a:lnTo>
                    <a:pt x="1158938" y="411505"/>
                  </a:lnTo>
                  <a:lnTo>
                    <a:pt x="271297" y="56527"/>
                  </a:lnTo>
                  <a:lnTo>
                    <a:pt x="267246" y="63614"/>
                  </a:lnTo>
                  <a:lnTo>
                    <a:pt x="1165428" y="423049"/>
                  </a:lnTo>
                  <a:close/>
                </a:path>
                <a:path w="1229994" h="1069340">
                  <a:moveTo>
                    <a:pt x="1171295" y="635800"/>
                  </a:moveTo>
                  <a:lnTo>
                    <a:pt x="168579" y="234619"/>
                  </a:lnTo>
                  <a:lnTo>
                    <a:pt x="164515" y="241719"/>
                  </a:lnTo>
                  <a:lnTo>
                    <a:pt x="1167244" y="642886"/>
                  </a:lnTo>
                  <a:lnTo>
                    <a:pt x="1171295" y="635800"/>
                  </a:lnTo>
                  <a:close/>
                </a:path>
                <a:path w="1229994" h="1069340">
                  <a:moveTo>
                    <a:pt x="1191971" y="600138"/>
                  </a:moveTo>
                  <a:lnTo>
                    <a:pt x="189242" y="198958"/>
                  </a:lnTo>
                  <a:lnTo>
                    <a:pt x="184988" y="206057"/>
                  </a:lnTo>
                  <a:lnTo>
                    <a:pt x="1187716" y="607225"/>
                  </a:lnTo>
                  <a:lnTo>
                    <a:pt x="1191971" y="600138"/>
                  </a:lnTo>
                  <a:close/>
                </a:path>
                <a:path w="1229994" h="1069340">
                  <a:moveTo>
                    <a:pt x="1198245" y="479983"/>
                  </a:moveTo>
                  <a:lnTo>
                    <a:pt x="1191768" y="468642"/>
                  </a:lnTo>
                  <a:lnTo>
                    <a:pt x="250837" y="92189"/>
                  </a:lnTo>
                  <a:lnTo>
                    <a:pt x="246786" y="99275"/>
                  </a:lnTo>
                  <a:lnTo>
                    <a:pt x="1198245" y="479983"/>
                  </a:lnTo>
                  <a:close/>
                </a:path>
                <a:path w="1229994" h="1069340">
                  <a:moveTo>
                    <a:pt x="1212430" y="564476"/>
                  </a:moveTo>
                  <a:lnTo>
                    <a:pt x="209702" y="163309"/>
                  </a:lnTo>
                  <a:lnTo>
                    <a:pt x="205651" y="170395"/>
                  </a:lnTo>
                  <a:lnTo>
                    <a:pt x="1208379" y="571563"/>
                  </a:lnTo>
                  <a:lnTo>
                    <a:pt x="1212430" y="564476"/>
                  </a:lnTo>
                  <a:close/>
                </a:path>
                <a:path w="1229994" h="1069340">
                  <a:moveTo>
                    <a:pt x="1229855" y="534492"/>
                  </a:moveTo>
                  <a:lnTo>
                    <a:pt x="1224584" y="525576"/>
                  </a:lnTo>
                  <a:lnTo>
                    <a:pt x="230365" y="127647"/>
                  </a:lnTo>
                  <a:lnTo>
                    <a:pt x="226110" y="134937"/>
                  </a:lnTo>
                  <a:lnTo>
                    <a:pt x="1228839" y="536105"/>
                  </a:lnTo>
                  <a:lnTo>
                    <a:pt x="1229855" y="534492"/>
                  </a:lnTo>
                  <a:close/>
                </a:path>
              </a:pathLst>
            </a:custGeom>
            <a:solidFill>
              <a:srgbClr val="BF2518"/>
            </a:solidFill>
          </p:spPr>
          <p:txBody>
            <a:bodyPr wrap="square" lIns="0" tIns="0" rIns="0" bIns="0" rtlCol="0"/>
            <a:lstStyle/>
            <a:p>
              <a:endParaRPr/>
            </a:p>
          </p:txBody>
        </p:sp>
        <p:pic>
          <p:nvPicPr>
            <p:cNvPr id="13" name="object 13"/>
            <p:cNvPicPr/>
            <p:nvPr/>
          </p:nvPicPr>
          <p:blipFill>
            <a:blip r:embed="rId7" cstate="print"/>
            <a:stretch>
              <a:fillRect/>
            </a:stretch>
          </p:blipFill>
          <p:spPr>
            <a:xfrm>
              <a:off x="15728033" y="8977215"/>
              <a:ext cx="202814" cy="81044"/>
            </a:xfrm>
            <a:prstGeom prst="rect">
              <a:avLst/>
            </a:prstGeom>
          </p:spPr>
        </p:pic>
      </p:grpSp>
      <p:grpSp>
        <p:nvGrpSpPr>
          <p:cNvPr id="14" name="object 14"/>
          <p:cNvGrpSpPr/>
          <p:nvPr/>
        </p:nvGrpSpPr>
        <p:grpSpPr>
          <a:xfrm>
            <a:off x="13799570" y="9889375"/>
            <a:ext cx="1050925" cy="398145"/>
            <a:chOff x="13799570" y="9889375"/>
            <a:chExt cx="1050925" cy="398145"/>
          </a:xfrm>
        </p:grpSpPr>
        <p:pic>
          <p:nvPicPr>
            <p:cNvPr id="15" name="object 15"/>
            <p:cNvPicPr/>
            <p:nvPr/>
          </p:nvPicPr>
          <p:blipFill>
            <a:blip r:embed="rId8" cstate="print"/>
            <a:stretch>
              <a:fillRect/>
            </a:stretch>
          </p:blipFill>
          <p:spPr>
            <a:xfrm>
              <a:off x="13799570" y="10189849"/>
              <a:ext cx="272920" cy="97151"/>
            </a:xfrm>
            <a:prstGeom prst="rect">
              <a:avLst/>
            </a:prstGeom>
          </p:spPr>
        </p:pic>
        <p:sp>
          <p:nvSpPr>
            <p:cNvPr id="16" name="object 16"/>
            <p:cNvSpPr/>
            <p:nvPr/>
          </p:nvSpPr>
          <p:spPr>
            <a:xfrm>
              <a:off x="13863993" y="9889388"/>
              <a:ext cx="986155" cy="398145"/>
            </a:xfrm>
            <a:custGeom>
              <a:avLst/>
              <a:gdLst/>
              <a:ahLst/>
              <a:cxnLst/>
              <a:rect l="l" t="t" r="r" b="b"/>
              <a:pathLst>
                <a:path w="986155" h="398145">
                  <a:moveTo>
                    <a:pt x="311416" y="397624"/>
                  </a:moveTo>
                  <a:lnTo>
                    <a:pt x="4254" y="265417"/>
                  </a:lnTo>
                  <a:lnTo>
                    <a:pt x="0" y="272503"/>
                  </a:lnTo>
                  <a:lnTo>
                    <a:pt x="290741" y="397624"/>
                  </a:lnTo>
                  <a:lnTo>
                    <a:pt x="311416" y="397624"/>
                  </a:lnTo>
                  <a:close/>
                </a:path>
                <a:path w="986155" h="398145">
                  <a:moveTo>
                    <a:pt x="414337" y="397624"/>
                  </a:moveTo>
                  <a:lnTo>
                    <a:pt x="25730" y="230365"/>
                  </a:lnTo>
                  <a:lnTo>
                    <a:pt x="21475" y="237451"/>
                  </a:lnTo>
                  <a:lnTo>
                    <a:pt x="393674" y="397624"/>
                  </a:lnTo>
                  <a:lnTo>
                    <a:pt x="414337" y="397624"/>
                  </a:lnTo>
                  <a:close/>
                </a:path>
                <a:path w="986155" h="398145">
                  <a:moveTo>
                    <a:pt x="517271" y="397624"/>
                  </a:moveTo>
                  <a:lnTo>
                    <a:pt x="47205" y="195313"/>
                  </a:lnTo>
                  <a:lnTo>
                    <a:pt x="42951" y="202399"/>
                  </a:lnTo>
                  <a:lnTo>
                    <a:pt x="496595" y="397624"/>
                  </a:lnTo>
                  <a:lnTo>
                    <a:pt x="517271" y="397624"/>
                  </a:lnTo>
                  <a:close/>
                </a:path>
                <a:path w="986155" h="398145">
                  <a:moveTo>
                    <a:pt x="620001" y="397624"/>
                  </a:moveTo>
                  <a:lnTo>
                    <a:pt x="68681" y="160261"/>
                  </a:lnTo>
                  <a:lnTo>
                    <a:pt x="64427" y="167347"/>
                  </a:lnTo>
                  <a:lnTo>
                    <a:pt x="599528" y="397624"/>
                  </a:lnTo>
                  <a:lnTo>
                    <a:pt x="620001" y="397624"/>
                  </a:lnTo>
                  <a:close/>
                </a:path>
                <a:path w="986155" h="398145">
                  <a:moveTo>
                    <a:pt x="722922" y="397624"/>
                  </a:moveTo>
                  <a:lnTo>
                    <a:pt x="90157" y="125209"/>
                  </a:lnTo>
                  <a:lnTo>
                    <a:pt x="85902" y="132295"/>
                  </a:lnTo>
                  <a:lnTo>
                    <a:pt x="702449" y="397624"/>
                  </a:lnTo>
                  <a:lnTo>
                    <a:pt x="722922" y="397624"/>
                  </a:lnTo>
                  <a:close/>
                </a:path>
                <a:path w="986155" h="398145">
                  <a:moveTo>
                    <a:pt x="825855" y="397624"/>
                  </a:moveTo>
                  <a:lnTo>
                    <a:pt x="111645" y="90157"/>
                  </a:lnTo>
                  <a:lnTo>
                    <a:pt x="107391" y="97243"/>
                  </a:lnTo>
                  <a:lnTo>
                    <a:pt x="805383" y="397624"/>
                  </a:lnTo>
                  <a:lnTo>
                    <a:pt x="825855" y="397624"/>
                  </a:lnTo>
                  <a:close/>
                </a:path>
                <a:path w="986155" h="398145">
                  <a:moveTo>
                    <a:pt x="860298" y="155600"/>
                  </a:moveTo>
                  <a:lnTo>
                    <a:pt x="854011" y="144056"/>
                  </a:lnTo>
                  <a:lnTo>
                    <a:pt x="540778" y="9105"/>
                  </a:lnTo>
                  <a:lnTo>
                    <a:pt x="518896" y="8509"/>
                  </a:lnTo>
                  <a:lnTo>
                    <a:pt x="860298" y="155600"/>
                  </a:lnTo>
                  <a:close/>
                </a:path>
                <a:path w="986155" h="398145">
                  <a:moveTo>
                    <a:pt x="891692" y="213347"/>
                  </a:moveTo>
                  <a:lnTo>
                    <a:pt x="885418" y="201790"/>
                  </a:lnTo>
                  <a:lnTo>
                    <a:pt x="431165" y="6273"/>
                  </a:lnTo>
                  <a:lnTo>
                    <a:pt x="409282" y="5664"/>
                  </a:lnTo>
                  <a:lnTo>
                    <a:pt x="891692" y="213347"/>
                  </a:lnTo>
                  <a:close/>
                </a:path>
                <a:path w="986155" h="398145">
                  <a:moveTo>
                    <a:pt x="923099" y="271094"/>
                  </a:moveTo>
                  <a:lnTo>
                    <a:pt x="916825" y="259537"/>
                  </a:lnTo>
                  <a:lnTo>
                    <a:pt x="321754" y="3441"/>
                  </a:lnTo>
                  <a:lnTo>
                    <a:pt x="299872" y="2832"/>
                  </a:lnTo>
                  <a:lnTo>
                    <a:pt x="923099" y="271094"/>
                  </a:lnTo>
                  <a:close/>
                </a:path>
                <a:path w="986155" h="398145">
                  <a:moveTo>
                    <a:pt x="928776" y="397624"/>
                  </a:moveTo>
                  <a:lnTo>
                    <a:pt x="133121" y="55105"/>
                  </a:lnTo>
                  <a:lnTo>
                    <a:pt x="128866" y="62191"/>
                  </a:lnTo>
                  <a:lnTo>
                    <a:pt x="908304" y="397624"/>
                  </a:lnTo>
                  <a:lnTo>
                    <a:pt x="928776" y="397624"/>
                  </a:lnTo>
                  <a:close/>
                </a:path>
                <a:path w="986155" h="398145">
                  <a:moveTo>
                    <a:pt x="954506" y="329031"/>
                  </a:moveTo>
                  <a:lnTo>
                    <a:pt x="948220" y="317487"/>
                  </a:lnTo>
                  <a:lnTo>
                    <a:pt x="212344" y="596"/>
                  </a:lnTo>
                  <a:lnTo>
                    <a:pt x="190461" y="0"/>
                  </a:lnTo>
                  <a:lnTo>
                    <a:pt x="954506" y="329031"/>
                  </a:lnTo>
                  <a:close/>
                </a:path>
                <a:path w="986155" h="398145">
                  <a:moveTo>
                    <a:pt x="985913" y="386778"/>
                  </a:moveTo>
                  <a:lnTo>
                    <a:pt x="979627" y="375234"/>
                  </a:lnTo>
                  <a:lnTo>
                    <a:pt x="154597" y="20053"/>
                  </a:lnTo>
                  <a:lnTo>
                    <a:pt x="150342" y="27139"/>
                  </a:lnTo>
                  <a:lnTo>
                    <a:pt x="985913" y="386778"/>
                  </a:lnTo>
                  <a:close/>
                </a:path>
              </a:pathLst>
            </a:custGeom>
            <a:solidFill>
              <a:srgbClr val="4B0A05"/>
            </a:solidFill>
          </p:spPr>
          <p:txBody>
            <a:bodyPr wrap="square" lIns="0" tIns="0" rIns="0" bIns="0" rtlCol="0"/>
            <a:lstStyle/>
            <a:p>
              <a:endParaRPr/>
            </a:p>
          </p:txBody>
        </p:sp>
        <p:pic>
          <p:nvPicPr>
            <p:cNvPr id="17" name="object 17"/>
            <p:cNvPicPr/>
            <p:nvPr/>
          </p:nvPicPr>
          <p:blipFill>
            <a:blip r:embed="rId9" cstate="print"/>
            <a:stretch>
              <a:fillRect/>
            </a:stretch>
          </p:blipFill>
          <p:spPr>
            <a:xfrm>
              <a:off x="14492301" y="9900721"/>
              <a:ext cx="200585" cy="86312"/>
            </a:xfrm>
            <a:prstGeom prst="rect">
              <a:avLst/>
            </a:prstGeom>
          </p:spPr>
        </p:pic>
      </p:grpSp>
      <p:pic>
        <p:nvPicPr>
          <p:cNvPr id="18" name="object 18"/>
          <p:cNvPicPr/>
          <p:nvPr/>
        </p:nvPicPr>
        <p:blipFill>
          <a:blip r:embed="rId10" cstate="print"/>
          <a:stretch>
            <a:fillRect/>
          </a:stretch>
        </p:blipFill>
        <p:spPr>
          <a:xfrm>
            <a:off x="16758516" y="8582121"/>
            <a:ext cx="265421" cy="230775"/>
          </a:xfrm>
          <a:prstGeom prst="rect">
            <a:avLst/>
          </a:prstGeom>
        </p:spPr>
      </p:pic>
      <p:pic>
        <p:nvPicPr>
          <p:cNvPr id="19" name="object 19"/>
          <p:cNvPicPr/>
          <p:nvPr/>
        </p:nvPicPr>
        <p:blipFill>
          <a:blip r:embed="rId11" cstate="print"/>
          <a:stretch>
            <a:fillRect/>
          </a:stretch>
        </p:blipFill>
        <p:spPr>
          <a:xfrm>
            <a:off x="0" y="9281033"/>
            <a:ext cx="2254846" cy="1005967"/>
          </a:xfrm>
          <a:prstGeom prst="rect">
            <a:avLst/>
          </a:prstGeom>
        </p:spPr>
      </p:pic>
      <p:pic>
        <p:nvPicPr>
          <p:cNvPr id="20" name="object 20"/>
          <p:cNvPicPr/>
          <p:nvPr/>
        </p:nvPicPr>
        <p:blipFill>
          <a:blip r:embed="rId12" cstate="print"/>
          <a:stretch>
            <a:fillRect/>
          </a:stretch>
        </p:blipFill>
        <p:spPr>
          <a:xfrm>
            <a:off x="4033811" y="9963430"/>
            <a:ext cx="1082657" cy="323569"/>
          </a:xfrm>
          <a:prstGeom prst="rect">
            <a:avLst/>
          </a:prstGeom>
        </p:spPr>
      </p:pic>
      <p:sp>
        <p:nvSpPr>
          <p:cNvPr id="21" name="object 21"/>
          <p:cNvSpPr/>
          <p:nvPr/>
        </p:nvSpPr>
        <p:spPr>
          <a:xfrm>
            <a:off x="2119690" y="9293392"/>
            <a:ext cx="1418590" cy="993775"/>
          </a:xfrm>
          <a:custGeom>
            <a:avLst/>
            <a:gdLst/>
            <a:ahLst/>
            <a:cxnLst/>
            <a:rect l="l" t="t" r="r" b="b"/>
            <a:pathLst>
              <a:path w="1418589" h="993775">
                <a:moveTo>
                  <a:pt x="1198979" y="993607"/>
                </a:moveTo>
                <a:lnTo>
                  <a:pt x="219150" y="993607"/>
                </a:lnTo>
                <a:lnTo>
                  <a:pt x="177285" y="921074"/>
                </a:lnTo>
                <a:lnTo>
                  <a:pt x="0" y="614117"/>
                </a:lnTo>
                <a:lnTo>
                  <a:pt x="177285" y="307159"/>
                </a:lnTo>
                <a:lnTo>
                  <a:pt x="354571" y="0"/>
                </a:lnTo>
                <a:lnTo>
                  <a:pt x="1063713" y="0"/>
                </a:lnTo>
                <a:lnTo>
                  <a:pt x="1240796" y="307159"/>
                </a:lnTo>
                <a:lnTo>
                  <a:pt x="1418081" y="614117"/>
                </a:lnTo>
                <a:lnTo>
                  <a:pt x="1240796" y="921074"/>
                </a:lnTo>
                <a:lnTo>
                  <a:pt x="1198979" y="993607"/>
                </a:lnTo>
                <a:close/>
              </a:path>
            </a:pathLst>
          </a:custGeom>
          <a:solidFill>
            <a:srgbClr val="4B0A05"/>
          </a:solidFill>
        </p:spPr>
        <p:txBody>
          <a:bodyPr wrap="square" lIns="0" tIns="0" rIns="0" bIns="0" rtlCol="0"/>
          <a:lstStyle/>
          <a:p>
            <a:endParaRPr/>
          </a:p>
        </p:txBody>
      </p:sp>
      <p:grpSp>
        <p:nvGrpSpPr>
          <p:cNvPr id="22" name="object 22"/>
          <p:cNvGrpSpPr/>
          <p:nvPr/>
        </p:nvGrpSpPr>
        <p:grpSpPr>
          <a:xfrm>
            <a:off x="0" y="7233841"/>
            <a:ext cx="1330325" cy="1228090"/>
            <a:chOff x="0" y="7233841"/>
            <a:chExt cx="1330325" cy="1228090"/>
          </a:xfrm>
        </p:grpSpPr>
        <p:sp>
          <p:nvSpPr>
            <p:cNvPr id="23" name="object 23"/>
            <p:cNvSpPr/>
            <p:nvPr/>
          </p:nvSpPr>
          <p:spPr>
            <a:xfrm>
              <a:off x="0" y="7233841"/>
              <a:ext cx="1330325" cy="1228090"/>
            </a:xfrm>
            <a:custGeom>
              <a:avLst/>
              <a:gdLst/>
              <a:ahLst/>
              <a:cxnLst/>
              <a:rect l="l" t="t" r="r" b="b"/>
              <a:pathLst>
                <a:path w="1330325" h="1228090">
                  <a:moveTo>
                    <a:pt x="975134" y="1228031"/>
                  </a:moveTo>
                  <a:lnTo>
                    <a:pt x="266195" y="1228031"/>
                  </a:lnTo>
                  <a:lnTo>
                    <a:pt x="0" y="767133"/>
                  </a:lnTo>
                  <a:lnTo>
                    <a:pt x="0" y="460999"/>
                  </a:lnTo>
                  <a:lnTo>
                    <a:pt x="88909" y="306957"/>
                  </a:lnTo>
                  <a:lnTo>
                    <a:pt x="266195" y="0"/>
                  </a:lnTo>
                  <a:lnTo>
                    <a:pt x="975134" y="0"/>
                  </a:lnTo>
                  <a:lnTo>
                    <a:pt x="1152420" y="306957"/>
                  </a:lnTo>
                  <a:lnTo>
                    <a:pt x="1329705" y="614117"/>
                  </a:lnTo>
                  <a:lnTo>
                    <a:pt x="975134" y="1228031"/>
                  </a:lnTo>
                  <a:close/>
                </a:path>
              </a:pathLst>
            </a:custGeom>
            <a:solidFill>
              <a:srgbClr val="4B0A05"/>
            </a:solidFill>
          </p:spPr>
          <p:txBody>
            <a:bodyPr wrap="square" lIns="0" tIns="0" rIns="0" bIns="0" rtlCol="0"/>
            <a:lstStyle/>
            <a:p>
              <a:endParaRPr/>
            </a:p>
          </p:txBody>
        </p:sp>
        <p:pic>
          <p:nvPicPr>
            <p:cNvPr id="24" name="object 24"/>
            <p:cNvPicPr/>
            <p:nvPr/>
          </p:nvPicPr>
          <p:blipFill>
            <a:blip r:embed="rId13" cstate="print"/>
            <a:stretch>
              <a:fillRect/>
            </a:stretch>
          </p:blipFill>
          <p:spPr>
            <a:xfrm>
              <a:off x="37243" y="8117837"/>
              <a:ext cx="235435" cy="94214"/>
            </a:xfrm>
            <a:prstGeom prst="rect">
              <a:avLst/>
            </a:prstGeom>
          </p:spPr>
        </p:pic>
        <p:pic>
          <p:nvPicPr>
            <p:cNvPr id="25" name="object 25"/>
            <p:cNvPicPr/>
            <p:nvPr/>
          </p:nvPicPr>
          <p:blipFill>
            <a:blip r:embed="rId14" cstate="print"/>
            <a:stretch>
              <a:fillRect/>
            </a:stretch>
          </p:blipFill>
          <p:spPr>
            <a:xfrm>
              <a:off x="0" y="8013695"/>
              <a:ext cx="332854" cy="181155"/>
            </a:xfrm>
            <a:prstGeom prst="rect">
              <a:avLst/>
            </a:prstGeom>
          </p:spPr>
        </p:pic>
        <p:pic>
          <p:nvPicPr>
            <p:cNvPr id="26" name="object 26"/>
            <p:cNvPicPr/>
            <p:nvPr/>
          </p:nvPicPr>
          <p:blipFill>
            <a:blip r:embed="rId15" cstate="print"/>
            <a:stretch>
              <a:fillRect/>
            </a:stretch>
          </p:blipFill>
          <p:spPr>
            <a:xfrm>
              <a:off x="0" y="7233841"/>
              <a:ext cx="496362" cy="880829"/>
            </a:xfrm>
            <a:prstGeom prst="rect">
              <a:avLst/>
            </a:prstGeom>
          </p:spPr>
        </p:pic>
      </p:grpSp>
      <p:grpSp>
        <p:nvGrpSpPr>
          <p:cNvPr id="27" name="object 27"/>
          <p:cNvGrpSpPr/>
          <p:nvPr/>
        </p:nvGrpSpPr>
        <p:grpSpPr>
          <a:xfrm>
            <a:off x="2095376" y="9199784"/>
            <a:ext cx="1229995" cy="1069340"/>
            <a:chOff x="2095376" y="9199784"/>
            <a:chExt cx="1229995" cy="1069340"/>
          </a:xfrm>
        </p:grpSpPr>
        <p:sp>
          <p:nvSpPr>
            <p:cNvPr id="28" name="object 28"/>
            <p:cNvSpPr/>
            <p:nvPr/>
          </p:nvSpPr>
          <p:spPr>
            <a:xfrm>
              <a:off x="2095373" y="9199790"/>
              <a:ext cx="1229995" cy="1069340"/>
            </a:xfrm>
            <a:custGeom>
              <a:avLst/>
              <a:gdLst/>
              <a:ahLst/>
              <a:cxnLst/>
              <a:rect l="l" t="t" r="r" b="b"/>
              <a:pathLst>
                <a:path w="1229995" h="1069340">
                  <a:moveTo>
                    <a:pt x="574001" y="0"/>
                  </a:moveTo>
                  <a:lnTo>
                    <a:pt x="552119" y="0"/>
                  </a:lnTo>
                  <a:lnTo>
                    <a:pt x="235432" y="126631"/>
                  </a:lnTo>
                  <a:lnTo>
                    <a:pt x="228955" y="138188"/>
                  </a:lnTo>
                  <a:lnTo>
                    <a:pt x="574001" y="0"/>
                  </a:lnTo>
                  <a:close/>
                </a:path>
                <a:path w="1229995" h="1069340">
                  <a:moveTo>
                    <a:pt x="683615" y="0"/>
                  </a:moveTo>
                  <a:lnTo>
                    <a:pt x="661733" y="0"/>
                  </a:lnTo>
                  <a:lnTo>
                    <a:pt x="202615" y="183769"/>
                  </a:lnTo>
                  <a:lnTo>
                    <a:pt x="195922" y="195122"/>
                  </a:lnTo>
                  <a:lnTo>
                    <a:pt x="683615" y="0"/>
                  </a:lnTo>
                  <a:close/>
                </a:path>
                <a:path w="1229995" h="1069340">
                  <a:moveTo>
                    <a:pt x="793229" y="0"/>
                  </a:moveTo>
                  <a:lnTo>
                    <a:pt x="771347" y="0"/>
                  </a:lnTo>
                  <a:lnTo>
                    <a:pt x="169786" y="240703"/>
                  </a:lnTo>
                  <a:lnTo>
                    <a:pt x="163106" y="252056"/>
                  </a:lnTo>
                  <a:lnTo>
                    <a:pt x="793229" y="0"/>
                  </a:lnTo>
                  <a:close/>
                </a:path>
                <a:path w="1229995" h="1069340">
                  <a:moveTo>
                    <a:pt x="902639" y="0"/>
                  </a:moveTo>
                  <a:lnTo>
                    <a:pt x="880757" y="0"/>
                  </a:lnTo>
                  <a:lnTo>
                    <a:pt x="136766" y="297637"/>
                  </a:lnTo>
                  <a:lnTo>
                    <a:pt x="130276" y="308991"/>
                  </a:lnTo>
                  <a:lnTo>
                    <a:pt x="902639" y="0"/>
                  </a:lnTo>
                  <a:close/>
                </a:path>
                <a:path w="1229995" h="1069340">
                  <a:moveTo>
                    <a:pt x="941946" y="27965"/>
                  </a:moveTo>
                  <a:lnTo>
                    <a:pt x="937895" y="20866"/>
                  </a:lnTo>
                  <a:lnTo>
                    <a:pt x="103936" y="354571"/>
                  </a:lnTo>
                  <a:lnTo>
                    <a:pt x="97256" y="365912"/>
                  </a:lnTo>
                  <a:lnTo>
                    <a:pt x="941946" y="27965"/>
                  </a:lnTo>
                  <a:close/>
                </a:path>
                <a:path w="1229995" h="1069340">
                  <a:moveTo>
                    <a:pt x="952271" y="1022985"/>
                  </a:moveTo>
                  <a:lnTo>
                    <a:pt x="837590" y="1068984"/>
                  </a:lnTo>
                  <a:lnTo>
                    <a:pt x="859472" y="1068984"/>
                  </a:lnTo>
                  <a:lnTo>
                    <a:pt x="945794" y="1034338"/>
                  </a:lnTo>
                  <a:lnTo>
                    <a:pt x="952271" y="1022985"/>
                  </a:lnTo>
                  <a:close/>
                </a:path>
                <a:path w="1229995" h="1069340">
                  <a:moveTo>
                    <a:pt x="962609" y="63627"/>
                  </a:moveTo>
                  <a:lnTo>
                    <a:pt x="958557" y="56527"/>
                  </a:lnTo>
                  <a:lnTo>
                    <a:pt x="70916" y="411505"/>
                  </a:lnTo>
                  <a:lnTo>
                    <a:pt x="64427" y="423049"/>
                  </a:lnTo>
                  <a:lnTo>
                    <a:pt x="962609" y="63627"/>
                  </a:lnTo>
                  <a:close/>
                </a:path>
                <a:path w="1229995" h="1069340">
                  <a:moveTo>
                    <a:pt x="983068" y="99275"/>
                  </a:moveTo>
                  <a:lnTo>
                    <a:pt x="979017" y="92189"/>
                  </a:lnTo>
                  <a:lnTo>
                    <a:pt x="38087" y="468642"/>
                  </a:lnTo>
                  <a:lnTo>
                    <a:pt x="31610" y="479983"/>
                  </a:lnTo>
                  <a:lnTo>
                    <a:pt x="983068" y="99275"/>
                  </a:lnTo>
                  <a:close/>
                </a:path>
                <a:path w="1229995" h="1069340">
                  <a:moveTo>
                    <a:pt x="985304" y="966050"/>
                  </a:moveTo>
                  <a:lnTo>
                    <a:pt x="727976" y="1068984"/>
                  </a:lnTo>
                  <a:lnTo>
                    <a:pt x="749858" y="1068984"/>
                  </a:lnTo>
                  <a:lnTo>
                    <a:pt x="978611" y="977404"/>
                  </a:lnTo>
                  <a:lnTo>
                    <a:pt x="985304" y="966050"/>
                  </a:lnTo>
                  <a:close/>
                </a:path>
                <a:path w="1229995" h="1069340">
                  <a:moveTo>
                    <a:pt x="1003731" y="134937"/>
                  </a:moveTo>
                  <a:lnTo>
                    <a:pt x="999477" y="127647"/>
                  </a:lnTo>
                  <a:lnTo>
                    <a:pt x="5270" y="525576"/>
                  </a:lnTo>
                  <a:lnTo>
                    <a:pt x="0" y="534492"/>
                  </a:lnTo>
                  <a:lnTo>
                    <a:pt x="1016" y="536117"/>
                  </a:lnTo>
                  <a:lnTo>
                    <a:pt x="1003731" y="134937"/>
                  </a:lnTo>
                  <a:close/>
                </a:path>
                <a:path w="1229995" h="1069340">
                  <a:moveTo>
                    <a:pt x="1018120" y="909116"/>
                  </a:moveTo>
                  <a:lnTo>
                    <a:pt x="618375" y="1068984"/>
                  </a:lnTo>
                  <a:lnTo>
                    <a:pt x="640257" y="1068984"/>
                  </a:lnTo>
                  <a:lnTo>
                    <a:pt x="1011643" y="920470"/>
                  </a:lnTo>
                  <a:lnTo>
                    <a:pt x="1018120" y="909116"/>
                  </a:lnTo>
                  <a:close/>
                </a:path>
                <a:path w="1229995" h="1069340">
                  <a:moveTo>
                    <a:pt x="1024204" y="170395"/>
                  </a:moveTo>
                  <a:lnTo>
                    <a:pt x="1020152" y="163309"/>
                  </a:lnTo>
                  <a:lnTo>
                    <a:pt x="17424" y="564476"/>
                  </a:lnTo>
                  <a:lnTo>
                    <a:pt x="21475" y="571576"/>
                  </a:lnTo>
                  <a:lnTo>
                    <a:pt x="1024204" y="170395"/>
                  </a:lnTo>
                  <a:close/>
                </a:path>
                <a:path w="1229995" h="1069340">
                  <a:moveTo>
                    <a:pt x="1044867" y="206057"/>
                  </a:moveTo>
                  <a:lnTo>
                    <a:pt x="1040612" y="198970"/>
                  </a:lnTo>
                  <a:lnTo>
                    <a:pt x="37884" y="600138"/>
                  </a:lnTo>
                  <a:lnTo>
                    <a:pt x="42138" y="607225"/>
                  </a:lnTo>
                  <a:lnTo>
                    <a:pt x="1044867" y="206057"/>
                  </a:lnTo>
                  <a:close/>
                </a:path>
                <a:path w="1229995" h="1069340">
                  <a:moveTo>
                    <a:pt x="1051153" y="851979"/>
                  </a:moveTo>
                  <a:lnTo>
                    <a:pt x="508965" y="1068984"/>
                  </a:lnTo>
                  <a:lnTo>
                    <a:pt x="530847" y="1068984"/>
                  </a:lnTo>
                  <a:lnTo>
                    <a:pt x="1044460" y="863536"/>
                  </a:lnTo>
                  <a:lnTo>
                    <a:pt x="1051153" y="851979"/>
                  </a:lnTo>
                  <a:close/>
                </a:path>
                <a:path w="1229995" h="1069340">
                  <a:moveTo>
                    <a:pt x="1065326" y="241719"/>
                  </a:moveTo>
                  <a:lnTo>
                    <a:pt x="1061275" y="234619"/>
                  </a:lnTo>
                  <a:lnTo>
                    <a:pt x="58547" y="635800"/>
                  </a:lnTo>
                  <a:lnTo>
                    <a:pt x="62611" y="642886"/>
                  </a:lnTo>
                  <a:lnTo>
                    <a:pt x="1065326" y="241719"/>
                  </a:lnTo>
                  <a:close/>
                </a:path>
                <a:path w="1229995" h="1069340">
                  <a:moveTo>
                    <a:pt x="1083970" y="795045"/>
                  </a:moveTo>
                  <a:lnTo>
                    <a:pt x="399351" y="1068984"/>
                  </a:lnTo>
                  <a:lnTo>
                    <a:pt x="421233" y="1068984"/>
                  </a:lnTo>
                  <a:lnTo>
                    <a:pt x="1077290" y="806399"/>
                  </a:lnTo>
                  <a:lnTo>
                    <a:pt x="1080122" y="801738"/>
                  </a:lnTo>
                  <a:lnTo>
                    <a:pt x="1083970" y="795045"/>
                  </a:lnTo>
                  <a:close/>
                </a:path>
                <a:path w="1229995" h="1069340">
                  <a:moveTo>
                    <a:pt x="1086002" y="277177"/>
                  </a:moveTo>
                  <a:lnTo>
                    <a:pt x="1081747" y="270078"/>
                  </a:lnTo>
                  <a:lnTo>
                    <a:pt x="79019" y="671258"/>
                  </a:lnTo>
                  <a:lnTo>
                    <a:pt x="83070" y="678345"/>
                  </a:lnTo>
                  <a:lnTo>
                    <a:pt x="1086002" y="277177"/>
                  </a:lnTo>
                  <a:close/>
                </a:path>
                <a:path w="1229995" h="1069340">
                  <a:moveTo>
                    <a:pt x="1106462" y="312839"/>
                  </a:moveTo>
                  <a:lnTo>
                    <a:pt x="1102410" y="305739"/>
                  </a:lnTo>
                  <a:lnTo>
                    <a:pt x="99682" y="706920"/>
                  </a:lnTo>
                  <a:lnTo>
                    <a:pt x="103733" y="714006"/>
                  </a:lnTo>
                  <a:lnTo>
                    <a:pt x="1106462" y="312839"/>
                  </a:lnTo>
                  <a:close/>
                </a:path>
                <a:path w="1229995" h="1069340">
                  <a:moveTo>
                    <a:pt x="1116799" y="738111"/>
                  </a:moveTo>
                  <a:lnTo>
                    <a:pt x="305130" y="1062901"/>
                  </a:lnTo>
                  <a:lnTo>
                    <a:pt x="308571" y="1068984"/>
                  </a:lnTo>
                  <a:lnTo>
                    <a:pt x="311823" y="1068984"/>
                  </a:lnTo>
                  <a:lnTo>
                    <a:pt x="1110310" y="749465"/>
                  </a:lnTo>
                  <a:lnTo>
                    <a:pt x="1116799" y="738111"/>
                  </a:lnTo>
                  <a:close/>
                </a:path>
                <a:path w="1229995" h="1069340">
                  <a:moveTo>
                    <a:pt x="1126921" y="348488"/>
                  </a:moveTo>
                  <a:lnTo>
                    <a:pt x="1122870" y="341401"/>
                  </a:lnTo>
                  <a:lnTo>
                    <a:pt x="120142" y="742569"/>
                  </a:lnTo>
                  <a:lnTo>
                    <a:pt x="124193" y="749668"/>
                  </a:lnTo>
                  <a:lnTo>
                    <a:pt x="1126921" y="348488"/>
                  </a:lnTo>
                  <a:close/>
                </a:path>
                <a:path w="1229995" h="1069340">
                  <a:moveTo>
                    <a:pt x="1147597" y="383946"/>
                  </a:moveTo>
                  <a:lnTo>
                    <a:pt x="1143546" y="376859"/>
                  </a:lnTo>
                  <a:lnTo>
                    <a:pt x="140614" y="778027"/>
                  </a:lnTo>
                  <a:lnTo>
                    <a:pt x="144868" y="785126"/>
                  </a:lnTo>
                  <a:lnTo>
                    <a:pt x="1147597" y="383946"/>
                  </a:lnTo>
                  <a:close/>
                </a:path>
                <a:path w="1229995" h="1069340">
                  <a:moveTo>
                    <a:pt x="1149819" y="681177"/>
                  </a:moveTo>
                  <a:lnTo>
                    <a:pt x="284670" y="1027239"/>
                  </a:lnTo>
                  <a:lnTo>
                    <a:pt x="288721" y="1034338"/>
                  </a:lnTo>
                  <a:lnTo>
                    <a:pt x="1143139" y="692531"/>
                  </a:lnTo>
                  <a:lnTo>
                    <a:pt x="1149819" y="681177"/>
                  </a:lnTo>
                  <a:close/>
                </a:path>
                <a:path w="1229995" h="1069340">
                  <a:moveTo>
                    <a:pt x="1168057" y="419608"/>
                  </a:moveTo>
                  <a:lnTo>
                    <a:pt x="1164005" y="412521"/>
                  </a:lnTo>
                  <a:lnTo>
                    <a:pt x="161277" y="813689"/>
                  </a:lnTo>
                  <a:lnTo>
                    <a:pt x="165328" y="820788"/>
                  </a:lnTo>
                  <a:lnTo>
                    <a:pt x="1168057" y="419608"/>
                  </a:lnTo>
                  <a:close/>
                </a:path>
                <a:path w="1229995" h="1069340">
                  <a:moveTo>
                    <a:pt x="1182649" y="624243"/>
                  </a:moveTo>
                  <a:lnTo>
                    <a:pt x="264007" y="991590"/>
                  </a:lnTo>
                  <a:lnTo>
                    <a:pt x="268058" y="998880"/>
                  </a:lnTo>
                  <a:lnTo>
                    <a:pt x="1176159" y="635596"/>
                  </a:lnTo>
                  <a:lnTo>
                    <a:pt x="1182649" y="624243"/>
                  </a:lnTo>
                  <a:close/>
                </a:path>
                <a:path w="1229995" h="1069340">
                  <a:moveTo>
                    <a:pt x="1188720" y="455269"/>
                  </a:moveTo>
                  <a:lnTo>
                    <a:pt x="1184465" y="448183"/>
                  </a:lnTo>
                  <a:lnTo>
                    <a:pt x="181737" y="849350"/>
                  </a:lnTo>
                  <a:lnTo>
                    <a:pt x="185991" y="856437"/>
                  </a:lnTo>
                  <a:lnTo>
                    <a:pt x="1188720" y="455269"/>
                  </a:lnTo>
                  <a:close/>
                </a:path>
                <a:path w="1229995" h="1069340">
                  <a:moveTo>
                    <a:pt x="1209192" y="490728"/>
                  </a:moveTo>
                  <a:lnTo>
                    <a:pt x="1205128" y="483641"/>
                  </a:lnTo>
                  <a:lnTo>
                    <a:pt x="202412" y="884809"/>
                  </a:lnTo>
                  <a:lnTo>
                    <a:pt x="206463" y="891895"/>
                  </a:lnTo>
                  <a:lnTo>
                    <a:pt x="1209192" y="490728"/>
                  </a:lnTo>
                  <a:close/>
                </a:path>
                <a:path w="1229995" h="1069340">
                  <a:moveTo>
                    <a:pt x="1215466" y="567118"/>
                  </a:moveTo>
                  <a:lnTo>
                    <a:pt x="243535" y="956132"/>
                  </a:lnTo>
                  <a:lnTo>
                    <a:pt x="247586" y="963218"/>
                  </a:lnTo>
                  <a:lnTo>
                    <a:pt x="1208989" y="578459"/>
                  </a:lnTo>
                  <a:lnTo>
                    <a:pt x="1215466" y="567118"/>
                  </a:lnTo>
                  <a:close/>
                </a:path>
                <a:path w="1229995" h="1069340">
                  <a:moveTo>
                    <a:pt x="1229855" y="526389"/>
                  </a:moveTo>
                  <a:lnTo>
                    <a:pt x="1225600" y="519290"/>
                  </a:lnTo>
                  <a:lnTo>
                    <a:pt x="222872" y="920470"/>
                  </a:lnTo>
                  <a:lnTo>
                    <a:pt x="227126" y="927557"/>
                  </a:lnTo>
                  <a:lnTo>
                    <a:pt x="1229855" y="526389"/>
                  </a:lnTo>
                  <a:close/>
                </a:path>
              </a:pathLst>
            </a:custGeom>
            <a:solidFill>
              <a:srgbClr val="BF2518"/>
            </a:solidFill>
          </p:spPr>
          <p:txBody>
            <a:bodyPr wrap="square" lIns="0" tIns="0" rIns="0" bIns="0" rtlCol="0"/>
            <a:lstStyle/>
            <a:p>
              <a:endParaRPr/>
            </a:p>
          </p:txBody>
        </p:sp>
        <p:pic>
          <p:nvPicPr>
            <p:cNvPr id="29" name="object 29"/>
            <p:cNvPicPr/>
            <p:nvPr/>
          </p:nvPicPr>
          <p:blipFill>
            <a:blip r:embed="rId16" cstate="print"/>
            <a:stretch>
              <a:fillRect/>
            </a:stretch>
          </p:blipFill>
          <p:spPr>
            <a:xfrm>
              <a:off x="2357151" y="9199784"/>
              <a:ext cx="202814" cy="81044"/>
            </a:xfrm>
            <a:prstGeom prst="rect">
              <a:avLst/>
            </a:prstGeom>
          </p:spPr>
        </p:pic>
      </p:grpSp>
      <p:grpSp>
        <p:nvGrpSpPr>
          <p:cNvPr id="30" name="object 30"/>
          <p:cNvGrpSpPr/>
          <p:nvPr/>
        </p:nvGrpSpPr>
        <p:grpSpPr>
          <a:xfrm>
            <a:off x="3563706" y="10111945"/>
            <a:ext cx="796290" cy="175260"/>
            <a:chOff x="3563706" y="10111945"/>
            <a:chExt cx="796290" cy="175260"/>
          </a:xfrm>
        </p:grpSpPr>
        <p:pic>
          <p:nvPicPr>
            <p:cNvPr id="31" name="object 31"/>
            <p:cNvPicPr/>
            <p:nvPr/>
          </p:nvPicPr>
          <p:blipFill>
            <a:blip r:embed="rId17" cstate="print"/>
            <a:stretch>
              <a:fillRect/>
            </a:stretch>
          </p:blipFill>
          <p:spPr>
            <a:xfrm>
              <a:off x="4115157" y="10202107"/>
              <a:ext cx="244408" cy="84892"/>
            </a:xfrm>
            <a:prstGeom prst="rect">
              <a:avLst/>
            </a:prstGeom>
          </p:spPr>
        </p:pic>
        <p:sp>
          <p:nvSpPr>
            <p:cNvPr id="32" name="object 32"/>
            <p:cNvSpPr/>
            <p:nvPr/>
          </p:nvSpPr>
          <p:spPr>
            <a:xfrm>
              <a:off x="3563696" y="10111955"/>
              <a:ext cx="731520" cy="175260"/>
            </a:xfrm>
            <a:custGeom>
              <a:avLst/>
              <a:gdLst/>
              <a:ahLst/>
              <a:cxnLst/>
              <a:rect l="l" t="t" r="r" b="b"/>
              <a:pathLst>
                <a:path w="731520" h="175259">
                  <a:moveTo>
                    <a:pt x="341401" y="8509"/>
                  </a:moveTo>
                  <a:lnTo>
                    <a:pt x="319519" y="9118"/>
                  </a:lnTo>
                  <a:lnTo>
                    <a:pt x="6286" y="144056"/>
                  </a:lnTo>
                  <a:lnTo>
                    <a:pt x="0" y="155600"/>
                  </a:lnTo>
                  <a:lnTo>
                    <a:pt x="341401" y="8509"/>
                  </a:lnTo>
                  <a:close/>
                </a:path>
                <a:path w="731520" h="175259">
                  <a:moveTo>
                    <a:pt x="451015" y="5664"/>
                  </a:moveTo>
                  <a:lnTo>
                    <a:pt x="429133" y="6273"/>
                  </a:lnTo>
                  <a:lnTo>
                    <a:pt x="37020" y="175056"/>
                  </a:lnTo>
                  <a:lnTo>
                    <a:pt x="57556" y="175056"/>
                  </a:lnTo>
                  <a:lnTo>
                    <a:pt x="451015" y="5664"/>
                  </a:lnTo>
                  <a:close/>
                </a:path>
                <a:path w="731520" h="175259">
                  <a:moveTo>
                    <a:pt x="560425" y="2832"/>
                  </a:moveTo>
                  <a:lnTo>
                    <a:pt x="538543" y="3441"/>
                  </a:lnTo>
                  <a:lnTo>
                    <a:pt x="139801" y="175056"/>
                  </a:lnTo>
                  <a:lnTo>
                    <a:pt x="160324" y="175056"/>
                  </a:lnTo>
                  <a:lnTo>
                    <a:pt x="560425" y="2832"/>
                  </a:lnTo>
                  <a:close/>
                </a:path>
                <a:path w="731520" h="175259">
                  <a:moveTo>
                    <a:pt x="669836" y="0"/>
                  </a:moveTo>
                  <a:lnTo>
                    <a:pt x="647954" y="609"/>
                  </a:lnTo>
                  <a:lnTo>
                    <a:pt x="242849" y="175056"/>
                  </a:lnTo>
                  <a:lnTo>
                    <a:pt x="263359" y="175056"/>
                  </a:lnTo>
                  <a:lnTo>
                    <a:pt x="669836" y="0"/>
                  </a:lnTo>
                  <a:close/>
                </a:path>
                <a:path w="731520" h="175259">
                  <a:moveTo>
                    <a:pt x="709955" y="27152"/>
                  </a:moveTo>
                  <a:lnTo>
                    <a:pt x="705700" y="20053"/>
                  </a:lnTo>
                  <a:lnTo>
                    <a:pt x="345668" y="175056"/>
                  </a:lnTo>
                  <a:lnTo>
                    <a:pt x="366318" y="175056"/>
                  </a:lnTo>
                  <a:lnTo>
                    <a:pt x="709955" y="27152"/>
                  </a:lnTo>
                  <a:close/>
                </a:path>
                <a:path w="731520" h="175259">
                  <a:moveTo>
                    <a:pt x="731431" y="62204"/>
                  </a:moveTo>
                  <a:lnTo>
                    <a:pt x="727176" y="55105"/>
                  </a:lnTo>
                  <a:lnTo>
                    <a:pt x="448551" y="175056"/>
                  </a:lnTo>
                  <a:lnTo>
                    <a:pt x="469188" y="175056"/>
                  </a:lnTo>
                  <a:lnTo>
                    <a:pt x="731431" y="62204"/>
                  </a:lnTo>
                  <a:close/>
                </a:path>
              </a:pathLst>
            </a:custGeom>
            <a:solidFill>
              <a:srgbClr val="4B0A05"/>
            </a:solidFill>
          </p:spPr>
          <p:txBody>
            <a:bodyPr wrap="square" lIns="0" tIns="0" rIns="0" bIns="0" rtlCol="0"/>
            <a:lstStyle/>
            <a:p>
              <a:endParaRPr/>
            </a:p>
          </p:txBody>
        </p:sp>
        <p:pic>
          <p:nvPicPr>
            <p:cNvPr id="33" name="object 33"/>
            <p:cNvPicPr/>
            <p:nvPr/>
          </p:nvPicPr>
          <p:blipFill>
            <a:blip r:embed="rId18" cstate="print"/>
            <a:stretch>
              <a:fillRect/>
            </a:stretch>
          </p:blipFill>
          <p:spPr>
            <a:xfrm>
              <a:off x="3595110" y="10123291"/>
              <a:ext cx="200585" cy="86312"/>
            </a:xfrm>
            <a:prstGeom prst="rect">
              <a:avLst/>
            </a:prstGeom>
          </p:spPr>
        </p:pic>
      </p:grpSp>
      <p:pic>
        <p:nvPicPr>
          <p:cNvPr id="34" name="object 34"/>
          <p:cNvPicPr/>
          <p:nvPr/>
        </p:nvPicPr>
        <p:blipFill>
          <a:blip r:embed="rId19" cstate="print"/>
          <a:stretch>
            <a:fillRect/>
          </a:stretch>
        </p:blipFill>
        <p:spPr>
          <a:xfrm>
            <a:off x="1264059" y="8804692"/>
            <a:ext cx="265421" cy="230775"/>
          </a:xfrm>
          <a:prstGeom prst="rect">
            <a:avLst/>
          </a:prstGeom>
        </p:spPr>
      </p:pic>
      <p:pic>
        <p:nvPicPr>
          <p:cNvPr id="35" name="object 35"/>
          <p:cNvPicPr/>
          <p:nvPr/>
        </p:nvPicPr>
        <p:blipFill>
          <a:blip r:embed="rId20" cstate="print"/>
          <a:stretch>
            <a:fillRect/>
          </a:stretch>
        </p:blipFill>
        <p:spPr>
          <a:xfrm>
            <a:off x="727157" y="846125"/>
            <a:ext cx="183982" cy="182609"/>
          </a:xfrm>
          <a:prstGeom prst="rect">
            <a:avLst/>
          </a:prstGeom>
        </p:spPr>
      </p:pic>
      <p:pic>
        <p:nvPicPr>
          <p:cNvPr id="36" name="object 36"/>
          <p:cNvPicPr/>
          <p:nvPr/>
        </p:nvPicPr>
        <p:blipFill>
          <a:blip r:embed="rId21" cstate="print"/>
          <a:stretch>
            <a:fillRect/>
          </a:stretch>
        </p:blipFill>
        <p:spPr>
          <a:xfrm>
            <a:off x="1166944" y="846125"/>
            <a:ext cx="183983" cy="182609"/>
          </a:xfrm>
          <a:prstGeom prst="rect">
            <a:avLst/>
          </a:prstGeom>
        </p:spPr>
      </p:pic>
      <p:pic>
        <p:nvPicPr>
          <p:cNvPr id="37" name="object 37"/>
          <p:cNvPicPr/>
          <p:nvPr/>
        </p:nvPicPr>
        <p:blipFill>
          <a:blip r:embed="rId20" cstate="print"/>
          <a:stretch>
            <a:fillRect/>
          </a:stretch>
        </p:blipFill>
        <p:spPr>
          <a:xfrm>
            <a:off x="1574589" y="846125"/>
            <a:ext cx="183982" cy="182609"/>
          </a:xfrm>
          <a:prstGeom prst="rect">
            <a:avLst/>
          </a:prstGeom>
        </p:spPr>
      </p:pic>
      <p:pic>
        <p:nvPicPr>
          <p:cNvPr id="38" name="object 38"/>
          <p:cNvPicPr/>
          <p:nvPr/>
        </p:nvPicPr>
        <p:blipFill>
          <a:blip r:embed="rId21" cstate="print"/>
          <a:stretch>
            <a:fillRect/>
          </a:stretch>
        </p:blipFill>
        <p:spPr>
          <a:xfrm>
            <a:off x="2014377" y="846125"/>
            <a:ext cx="183983" cy="182609"/>
          </a:xfrm>
          <a:prstGeom prst="rect">
            <a:avLst/>
          </a:prstGeom>
        </p:spPr>
      </p:pic>
      <p:pic>
        <p:nvPicPr>
          <p:cNvPr id="39" name="object 39"/>
          <p:cNvPicPr/>
          <p:nvPr/>
        </p:nvPicPr>
        <p:blipFill>
          <a:blip r:embed="rId21" cstate="print"/>
          <a:stretch>
            <a:fillRect/>
          </a:stretch>
        </p:blipFill>
        <p:spPr>
          <a:xfrm>
            <a:off x="8530592" y="9166986"/>
            <a:ext cx="183982" cy="182609"/>
          </a:xfrm>
          <a:prstGeom prst="rect">
            <a:avLst/>
          </a:prstGeom>
        </p:spPr>
      </p:pic>
      <p:pic>
        <p:nvPicPr>
          <p:cNvPr id="40" name="object 40"/>
          <p:cNvPicPr/>
          <p:nvPr/>
        </p:nvPicPr>
        <p:blipFill>
          <a:blip r:embed="rId20" cstate="print"/>
          <a:stretch>
            <a:fillRect/>
          </a:stretch>
        </p:blipFill>
        <p:spPr>
          <a:xfrm>
            <a:off x="8970379" y="9166986"/>
            <a:ext cx="183983" cy="182609"/>
          </a:xfrm>
          <a:prstGeom prst="rect">
            <a:avLst/>
          </a:prstGeom>
        </p:spPr>
      </p:pic>
      <p:pic>
        <p:nvPicPr>
          <p:cNvPr id="41" name="object 41"/>
          <p:cNvPicPr/>
          <p:nvPr/>
        </p:nvPicPr>
        <p:blipFill>
          <a:blip r:embed="rId21" cstate="print"/>
          <a:stretch>
            <a:fillRect/>
          </a:stretch>
        </p:blipFill>
        <p:spPr>
          <a:xfrm>
            <a:off x="9378025" y="9166986"/>
            <a:ext cx="183982" cy="182609"/>
          </a:xfrm>
          <a:prstGeom prst="rect">
            <a:avLst/>
          </a:prstGeom>
        </p:spPr>
      </p:pic>
      <p:pic>
        <p:nvPicPr>
          <p:cNvPr id="42" name="object 42"/>
          <p:cNvPicPr/>
          <p:nvPr/>
        </p:nvPicPr>
        <p:blipFill>
          <a:blip r:embed="rId21" cstate="print"/>
          <a:stretch>
            <a:fillRect/>
          </a:stretch>
        </p:blipFill>
        <p:spPr>
          <a:xfrm>
            <a:off x="9817812" y="9166986"/>
            <a:ext cx="183983" cy="182609"/>
          </a:xfrm>
          <a:prstGeom prst="rect">
            <a:avLst/>
          </a:prstGeom>
        </p:spPr>
      </p:pic>
      <p:grpSp>
        <p:nvGrpSpPr>
          <p:cNvPr id="43" name="object 43"/>
          <p:cNvGrpSpPr/>
          <p:nvPr/>
        </p:nvGrpSpPr>
        <p:grpSpPr>
          <a:xfrm>
            <a:off x="16459758" y="588745"/>
            <a:ext cx="1828800" cy="2095500"/>
            <a:chOff x="16459758" y="588745"/>
            <a:chExt cx="1828800" cy="2095500"/>
          </a:xfrm>
        </p:grpSpPr>
        <p:sp>
          <p:nvSpPr>
            <p:cNvPr id="44" name="object 44"/>
            <p:cNvSpPr/>
            <p:nvPr/>
          </p:nvSpPr>
          <p:spPr>
            <a:xfrm>
              <a:off x="16871193" y="588745"/>
              <a:ext cx="1417320" cy="1867535"/>
            </a:xfrm>
            <a:custGeom>
              <a:avLst/>
              <a:gdLst/>
              <a:ahLst/>
              <a:cxnLst/>
              <a:rect l="l" t="t" r="r" b="b"/>
              <a:pathLst>
                <a:path w="1417319" h="1867535">
                  <a:moveTo>
                    <a:pt x="1416807" y="1867283"/>
                  </a:moveTo>
                  <a:lnTo>
                    <a:pt x="538822" y="1867283"/>
                  </a:lnTo>
                  <a:lnTo>
                    <a:pt x="0" y="933641"/>
                  </a:lnTo>
                  <a:lnTo>
                    <a:pt x="538822" y="0"/>
                  </a:lnTo>
                  <a:lnTo>
                    <a:pt x="1416807" y="0"/>
                  </a:lnTo>
                  <a:lnTo>
                    <a:pt x="1416807" y="1867283"/>
                  </a:lnTo>
                  <a:close/>
                </a:path>
              </a:pathLst>
            </a:custGeom>
            <a:solidFill>
              <a:srgbClr val="4B0A05"/>
            </a:solidFill>
          </p:spPr>
          <p:txBody>
            <a:bodyPr wrap="square" lIns="0" tIns="0" rIns="0" bIns="0" rtlCol="0"/>
            <a:lstStyle/>
            <a:p>
              <a:endParaRPr/>
            </a:p>
          </p:txBody>
        </p:sp>
        <p:sp>
          <p:nvSpPr>
            <p:cNvPr id="45" name="object 45"/>
            <p:cNvSpPr/>
            <p:nvPr/>
          </p:nvSpPr>
          <p:spPr>
            <a:xfrm>
              <a:off x="16459758" y="898904"/>
              <a:ext cx="1828800" cy="1785620"/>
            </a:xfrm>
            <a:custGeom>
              <a:avLst/>
              <a:gdLst/>
              <a:ahLst/>
              <a:cxnLst/>
              <a:rect l="l" t="t" r="r" b="b"/>
              <a:pathLst>
                <a:path w="1828800" h="1785620">
                  <a:moveTo>
                    <a:pt x="17406" y="907531"/>
                  </a:moveTo>
                  <a:lnTo>
                    <a:pt x="0" y="876673"/>
                  </a:lnTo>
                  <a:lnTo>
                    <a:pt x="503217" y="0"/>
                  </a:lnTo>
                  <a:lnTo>
                    <a:pt x="538822" y="0"/>
                  </a:lnTo>
                  <a:lnTo>
                    <a:pt x="17406" y="907531"/>
                  </a:lnTo>
                  <a:close/>
                </a:path>
                <a:path w="1828800" h="1785620">
                  <a:moveTo>
                    <a:pt x="72792" y="1004060"/>
                  </a:moveTo>
                  <a:lnTo>
                    <a:pt x="55385" y="973202"/>
                  </a:lnTo>
                  <a:lnTo>
                    <a:pt x="617153" y="0"/>
                  </a:lnTo>
                  <a:lnTo>
                    <a:pt x="652758" y="0"/>
                  </a:lnTo>
                  <a:lnTo>
                    <a:pt x="72792" y="1004060"/>
                  </a:lnTo>
                  <a:close/>
                </a:path>
                <a:path w="1828800" h="1785620">
                  <a:moveTo>
                    <a:pt x="130551" y="1102963"/>
                  </a:moveTo>
                  <a:lnTo>
                    <a:pt x="113144" y="1072105"/>
                  </a:lnTo>
                  <a:lnTo>
                    <a:pt x="731880" y="0"/>
                  </a:lnTo>
                  <a:lnTo>
                    <a:pt x="767485" y="0"/>
                  </a:lnTo>
                  <a:lnTo>
                    <a:pt x="130551" y="1102963"/>
                  </a:lnTo>
                  <a:close/>
                </a:path>
                <a:path w="1828800" h="1785620">
                  <a:moveTo>
                    <a:pt x="187519" y="1202657"/>
                  </a:moveTo>
                  <a:lnTo>
                    <a:pt x="170112" y="1171799"/>
                  </a:lnTo>
                  <a:lnTo>
                    <a:pt x="847398" y="0"/>
                  </a:lnTo>
                  <a:lnTo>
                    <a:pt x="881421" y="0"/>
                  </a:lnTo>
                  <a:lnTo>
                    <a:pt x="187519" y="1202657"/>
                  </a:lnTo>
                  <a:close/>
                </a:path>
                <a:path w="1828800" h="1785620">
                  <a:moveTo>
                    <a:pt x="245278" y="1302351"/>
                  </a:moveTo>
                  <a:lnTo>
                    <a:pt x="227871" y="1271493"/>
                  </a:lnTo>
                  <a:lnTo>
                    <a:pt x="962125" y="0"/>
                  </a:lnTo>
                  <a:lnTo>
                    <a:pt x="962125" y="791"/>
                  </a:lnTo>
                  <a:lnTo>
                    <a:pt x="996939" y="791"/>
                  </a:lnTo>
                  <a:lnTo>
                    <a:pt x="245278" y="1302351"/>
                  </a:lnTo>
                  <a:close/>
                </a:path>
                <a:path w="1828800" h="1785620">
                  <a:moveTo>
                    <a:pt x="303037" y="1401253"/>
                  </a:moveTo>
                  <a:lnTo>
                    <a:pt x="285631" y="1370396"/>
                  </a:lnTo>
                  <a:lnTo>
                    <a:pt x="1076852" y="0"/>
                  </a:lnTo>
                  <a:lnTo>
                    <a:pt x="1111666" y="0"/>
                  </a:lnTo>
                  <a:lnTo>
                    <a:pt x="303037" y="1401253"/>
                  </a:lnTo>
                  <a:close/>
                </a:path>
                <a:path w="1828800" h="1785620">
                  <a:moveTo>
                    <a:pt x="360005" y="1500947"/>
                  </a:moveTo>
                  <a:lnTo>
                    <a:pt x="342599" y="1470090"/>
                  </a:lnTo>
                  <a:lnTo>
                    <a:pt x="1191580" y="0"/>
                  </a:lnTo>
                  <a:lnTo>
                    <a:pt x="1226393" y="0"/>
                  </a:lnTo>
                  <a:lnTo>
                    <a:pt x="360005" y="1500947"/>
                  </a:lnTo>
                  <a:close/>
                </a:path>
                <a:path w="1828800" h="1785620">
                  <a:moveTo>
                    <a:pt x="417765" y="1600641"/>
                  </a:moveTo>
                  <a:lnTo>
                    <a:pt x="400358" y="1569784"/>
                  </a:lnTo>
                  <a:lnTo>
                    <a:pt x="1306307" y="0"/>
                  </a:lnTo>
                  <a:lnTo>
                    <a:pt x="1341912" y="0"/>
                  </a:lnTo>
                  <a:lnTo>
                    <a:pt x="417765" y="1600641"/>
                  </a:lnTo>
                  <a:close/>
                </a:path>
                <a:path w="1828800" h="1785620">
                  <a:moveTo>
                    <a:pt x="474733" y="1700335"/>
                  </a:moveTo>
                  <a:lnTo>
                    <a:pt x="457326" y="1669478"/>
                  </a:lnTo>
                  <a:lnTo>
                    <a:pt x="1421034" y="0"/>
                  </a:lnTo>
                  <a:lnTo>
                    <a:pt x="1456639" y="0"/>
                  </a:lnTo>
                  <a:lnTo>
                    <a:pt x="474733" y="1700335"/>
                  </a:lnTo>
                  <a:close/>
                </a:path>
                <a:path w="1828800" h="1785620">
                  <a:moveTo>
                    <a:pt x="540662" y="1785341"/>
                  </a:moveTo>
                  <a:lnTo>
                    <a:pt x="525107" y="1785341"/>
                  </a:lnTo>
                  <a:lnTo>
                    <a:pt x="515085" y="1768380"/>
                  </a:lnTo>
                  <a:lnTo>
                    <a:pt x="1535761" y="0"/>
                  </a:lnTo>
                  <a:lnTo>
                    <a:pt x="1556333" y="0"/>
                  </a:lnTo>
                  <a:lnTo>
                    <a:pt x="1564245" y="13450"/>
                  </a:lnTo>
                  <a:lnTo>
                    <a:pt x="540662" y="1785341"/>
                  </a:lnTo>
                  <a:close/>
                </a:path>
                <a:path w="1828800" h="1785620">
                  <a:moveTo>
                    <a:pt x="655389" y="1785341"/>
                  </a:moveTo>
                  <a:lnTo>
                    <a:pt x="619784" y="1785341"/>
                  </a:lnTo>
                  <a:lnTo>
                    <a:pt x="1603806" y="82287"/>
                  </a:lnTo>
                  <a:lnTo>
                    <a:pt x="1621213" y="112353"/>
                  </a:lnTo>
                  <a:lnTo>
                    <a:pt x="655389" y="1785341"/>
                  </a:lnTo>
                  <a:close/>
                </a:path>
                <a:path w="1828800" h="1785620">
                  <a:moveTo>
                    <a:pt x="770116" y="1785341"/>
                  </a:moveTo>
                  <a:lnTo>
                    <a:pt x="734511" y="1785341"/>
                  </a:lnTo>
                  <a:lnTo>
                    <a:pt x="1660774" y="181189"/>
                  </a:lnTo>
                  <a:lnTo>
                    <a:pt x="1678181" y="212047"/>
                  </a:lnTo>
                  <a:lnTo>
                    <a:pt x="770116" y="1785341"/>
                  </a:lnTo>
                  <a:close/>
                </a:path>
                <a:path w="1828800" h="1785620">
                  <a:moveTo>
                    <a:pt x="885635" y="1785341"/>
                  </a:moveTo>
                  <a:lnTo>
                    <a:pt x="850030" y="1785341"/>
                  </a:lnTo>
                  <a:lnTo>
                    <a:pt x="1718533" y="280883"/>
                  </a:lnTo>
                  <a:lnTo>
                    <a:pt x="1735940" y="311741"/>
                  </a:lnTo>
                  <a:lnTo>
                    <a:pt x="885635" y="1785341"/>
                  </a:lnTo>
                  <a:close/>
                </a:path>
                <a:path w="1828800" h="1785620">
                  <a:moveTo>
                    <a:pt x="1000362" y="1785341"/>
                  </a:moveTo>
                  <a:lnTo>
                    <a:pt x="964757" y="1785341"/>
                  </a:lnTo>
                  <a:lnTo>
                    <a:pt x="1775501" y="380577"/>
                  </a:lnTo>
                  <a:lnTo>
                    <a:pt x="1793700" y="410644"/>
                  </a:lnTo>
                  <a:lnTo>
                    <a:pt x="1000362" y="1785341"/>
                  </a:lnTo>
                  <a:close/>
                </a:path>
                <a:path w="1828800" h="1785620">
                  <a:moveTo>
                    <a:pt x="1115089" y="1785341"/>
                  </a:moveTo>
                  <a:lnTo>
                    <a:pt x="1079484" y="1785341"/>
                  </a:lnTo>
                  <a:lnTo>
                    <a:pt x="1828242" y="488174"/>
                  </a:lnTo>
                  <a:lnTo>
                    <a:pt x="1828242" y="550536"/>
                  </a:lnTo>
                  <a:lnTo>
                    <a:pt x="1115089" y="1785341"/>
                  </a:lnTo>
                  <a:close/>
                </a:path>
                <a:path w="1828800" h="1785620">
                  <a:moveTo>
                    <a:pt x="1229816" y="1785341"/>
                  </a:moveTo>
                  <a:lnTo>
                    <a:pt x="1194211" y="1785341"/>
                  </a:lnTo>
                  <a:lnTo>
                    <a:pt x="1828242" y="686593"/>
                  </a:lnTo>
                  <a:lnTo>
                    <a:pt x="1828242" y="748906"/>
                  </a:lnTo>
                  <a:lnTo>
                    <a:pt x="1229816" y="1785341"/>
                  </a:lnTo>
                  <a:close/>
                </a:path>
                <a:path w="1828800" h="1785620">
                  <a:moveTo>
                    <a:pt x="1344543" y="1785341"/>
                  </a:moveTo>
                  <a:lnTo>
                    <a:pt x="1308938" y="1785341"/>
                  </a:lnTo>
                  <a:lnTo>
                    <a:pt x="1828242" y="886199"/>
                  </a:lnTo>
                  <a:lnTo>
                    <a:pt x="1828242" y="947790"/>
                  </a:lnTo>
                  <a:lnTo>
                    <a:pt x="1344543" y="1785341"/>
                  </a:lnTo>
                  <a:close/>
                </a:path>
                <a:path w="1828800" h="1785620">
                  <a:moveTo>
                    <a:pt x="1460062" y="1785341"/>
                  </a:moveTo>
                  <a:lnTo>
                    <a:pt x="1424456" y="1785341"/>
                  </a:lnTo>
                  <a:lnTo>
                    <a:pt x="1828242" y="1085445"/>
                  </a:lnTo>
                  <a:lnTo>
                    <a:pt x="1828242" y="1147608"/>
                  </a:lnTo>
                  <a:lnTo>
                    <a:pt x="1460062" y="1785341"/>
                  </a:lnTo>
                  <a:close/>
                </a:path>
                <a:path w="1828800" h="1785620">
                  <a:moveTo>
                    <a:pt x="1576371" y="1785341"/>
                  </a:moveTo>
                  <a:lnTo>
                    <a:pt x="1540765" y="1785341"/>
                  </a:lnTo>
                  <a:lnTo>
                    <a:pt x="1828242" y="1284545"/>
                  </a:lnTo>
                  <a:lnTo>
                    <a:pt x="1828242" y="1348606"/>
                  </a:lnTo>
                  <a:lnTo>
                    <a:pt x="1576371" y="1785341"/>
                  </a:lnTo>
                  <a:close/>
                </a:path>
              </a:pathLst>
            </a:custGeom>
            <a:solidFill>
              <a:srgbClr val="BF2518"/>
            </a:solidFill>
          </p:spPr>
          <p:txBody>
            <a:bodyPr wrap="square" lIns="0" tIns="0" rIns="0" bIns="0" rtlCol="0"/>
            <a:lstStyle/>
            <a:p>
              <a:endParaRPr/>
            </a:p>
          </p:txBody>
        </p:sp>
      </p:grpSp>
      <p:grpSp>
        <p:nvGrpSpPr>
          <p:cNvPr id="46" name="object 46"/>
          <p:cNvGrpSpPr/>
          <p:nvPr/>
        </p:nvGrpSpPr>
        <p:grpSpPr>
          <a:xfrm>
            <a:off x="0" y="1636775"/>
            <a:ext cx="1028700" cy="1047750"/>
            <a:chOff x="0" y="1636775"/>
            <a:chExt cx="1028700" cy="1047750"/>
          </a:xfrm>
        </p:grpSpPr>
        <p:sp>
          <p:nvSpPr>
            <p:cNvPr id="47" name="object 47"/>
            <p:cNvSpPr/>
            <p:nvPr/>
          </p:nvSpPr>
          <p:spPr>
            <a:xfrm>
              <a:off x="0" y="1636775"/>
              <a:ext cx="972185" cy="934085"/>
            </a:xfrm>
            <a:custGeom>
              <a:avLst/>
              <a:gdLst/>
              <a:ahLst/>
              <a:cxnLst/>
              <a:rect l="l" t="t" r="r" b="b"/>
              <a:pathLst>
                <a:path w="972185" h="934085">
                  <a:moveTo>
                    <a:pt x="702205" y="933575"/>
                  </a:moveTo>
                  <a:lnTo>
                    <a:pt x="163421" y="933575"/>
                  </a:lnTo>
                  <a:lnTo>
                    <a:pt x="0" y="650406"/>
                  </a:lnTo>
                  <a:lnTo>
                    <a:pt x="0" y="283168"/>
                  </a:lnTo>
                  <a:lnTo>
                    <a:pt x="163421" y="0"/>
                  </a:lnTo>
                  <a:lnTo>
                    <a:pt x="702205" y="0"/>
                  </a:lnTo>
                  <a:lnTo>
                    <a:pt x="971992" y="466787"/>
                  </a:lnTo>
                  <a:lnTo>
                    <a:pt x="702205" y="933575"/>
                  </a:lnTo>
                  <a:close/>
                </a:path>
              </a:pathLst>
            </a:custGeom>
            <a:solidFill>
              <a:srgbClr val="4B0A05"/>
            </a:solidFill>
          </p:spPr>
          <p:txBody>
            <a:bodyPr wrap="square" lIns="0" tIns="0" rIns="0" bIns="0" rtlCol="0"/>
            <a:lstStyle/>
            <a:p>
              <a:endParaRPr/>
            </a:p>
          </p:txBody>
        </p:sp>
        <p:sp>
          <p:nvSpPr>
            <p:cNvPr id="48" name="object 48"/>
            <p:cNvSpPr/>
            <p:nvPr/>
          </p:nvSpPr>
          <p:spPr>
            <a:xfrm>
              <a:off x="0" y="1791448"/>
              <a:ext cx="1028700" cy="893444"/>
            </a:xfrm>
            <a:custGeom>
              <a:avLst/>
              <a:gdLst/>
              <a:ahLst/>
              <a:cxnLst/>
              <a:rect l="l" t="t" r="r" b="b"/>
              <a:pathLst>
                <a:path w="1028700" h="893444">
                  <a:moveTo>
                    <a:pt x="14681" y="406"/>
                  </a:moveTo>
                  <a:lnTo>
                    <a:pt x="0" y="406"/>
                  </a:lnTo>
                  <a:lnTo>
                    <a:pt x="0" y="25819"/>
                  </a:lnTo>
                  <a:lnTo>
                    <a:pt x="14681" y="406"/>
                  </a:lnTo>
                  <a:close/>
                </a:path>
                <a:path w="1028700" h="893444">
                  <a:moveTo>
                    <a:pt x="72034" y="406"/>
                  </a:moveTo>
                  <a:lnTo>
                    <a:pt x="54229" y="406"/>
                  </a:lnTo>
                  <a:lnTo>
                    <a:pt x="0" y="94386"/>
                  </a:lnTo>
                  <a:lnTo>
                    <a:pt x="0" y="125158"/>
                  </a:lnTo>
                  <a:lnTo>
                    <a:pt x="72034" y="406"/>
                  </a:lnTo>
                  <a:close/>
                </a:path>
                <a:path w="1028700" h="893444">
                  <a:moveTo>
                    <a:pt x="128993" y="406"/>
                  </a:moveTo>
                  <a:lnTo>
                    <a:pt x="111988" y="406"/>
                  </a:lnTo>
                  <a:lnTo>
                    <a:pt x="0" y="194170"/>
                  </a:lnTo>
                  <a:lnTo>
                    <a:pt x="0" y="223989"/>
                  </a:lnTo>
                  <a:lnTo>
                    <a:pt x="128993" y="406"/>
                  </a:lnTo>
                  <a:close/>
                </a:path>
                <a:path w="1028700" h="893444">
                  <a:moveTo>
                    <a:pt x="186753" y="800"/>
                  </a:moveTo>
                  <a:lnTo>
                    <a:pt x="169354" y="800"/>
                  </a:lnTo>
                  <a:lnTo>
                    <a:pt x="169354" y="406"/>
                  </a:lnTo>
                  <a:lnTo>
                    <a:pt x="0" y="293674"/>
                  </a:lnTo>
                  <a:lnTo>
                    <a:pt x="0" y="324192"/>
                  </a:lnTo>
                  <a:lnTo>
                    <a:pt x="186753" y="800"/>
                  </a:lnTo>
                  <a:close/>
                </a:path>
                <a:path w="1028700" h="893444">
                  <a:moveTo>
                    <a:pt x="244119" y="406"/>
                  </a:moveTo>
                  <a:lnTo>
                    <a:pt x="226707" y="406"/>
                  </a:lnTo>
                  <a:lnTo>
                    <a:pt x="0" y="393077"/>
                  </a:lnTo>
                  <a:lnTo>
                    <a:pt x="0" y="423430"/>
                  </a:lnTo>
                  <a:lnTo>
                    <a:pt x="244119" y="406"/>
                  </a:lnTo>
                  <a:close/>
                </a:path>
                <a:path w="1028700" h="893444">
                  <a:moveTo>
                    <a:pt x="301472" y="406"/>
                  </a:moveTo>
                  <a:lnTo>
                    <a:pt x="284073" y="406"/>
                  </a:lnTo>
                  <a:lnTo>
                    <a:pt x="0" y="492302"/>
                  </a:lnTo>
                  <a:lnTo>
                    <a:pt x="0" y="522693"/>
                  </a:lnTo>
                  <a:lnTo>
                    <a:pt x="301472" y="406"/>
                  </a:lnTo>
                  <a:close/>
                </a:path>
                <a:path w="1028700" h="893444">
                  <a:moveTo>
                    <a:pt x="359232" y="406"/>
                  </a:moveTo>
                  <a:lnTo>
                    <a:pt x="341426" y="406"/>
                  </a:lnTo>
                  <a:lnTo>
                    <a:pt x="0" y="592023"/>
                  </a:lnTo>
                  <a:lnTo>
                    <a:pt x="0" y="622604"/>
                  </a:lnTo>
                  <a:lnTo>
                    <a:pt x="359232" y="406"/>
                  </a:lnTo>
                  <a:close/>
                </a:path>
                <a:path w="1028700" h="893444">
                  <a:moveTo>
                    <a:pt x="416585" y="406"/>
                  </a:moveTo>
                  <a:lnTo>
                    <a:pt x="398792" y="406"/>
                  </a:lnTo>
                  <a:lnTo>
                    <a:pt x="0" y="691248"/>
                  </a:lnTo>
                  <a:lnTo>
                    <a:pt x="0" y="721804"/>
                  </a:lnTo>
                  <a:lnTo>
                    <a:pt x="416585" y="406"/>
                  </a:lnTo>
                  <a:close/>
                </a:path>
                <a:path w="1028700" h="893444">
                  <a:moveTo>
                    <a:pt x="470382" y="7124"/>
                  </a:moveTo>
                  <a:lnTo>
                    <a:pt x="466432" y="406"/>
                  </a:lnTo>
                  <a:lnTo>
                    <a:pt x="456145" y="406"/>
                  </a:lnTo>
                  <a:lnTo>
                    <a:pt x="0" y="790714"/>
                  </a:lnTo>
                  <a:lnTo>
                    <a:pt x="0" y="821410"/>
                  </a:lnTo>
                  <a:lnTo>
                    <a:pt x="470382" y="7124"/>
                  </a:lnTo>
                  <a:close/>
                </a:path>
                <a:path w="1028700" h="893444">
                  <a:moveTo>
                    <a:pt x="498868" y="56578"/>
                  </a:moveTo>
                  <a:lnTo>
                    <a:pt x="490169" y="41541"/>
                  </a:lnTo>
                  <a:lnTo>
                    <a:pt x="0" y="889889"/>
                  </a:lnTo>
                  <a:lnTo>
                    <a:pt x="0" y="893076"/>
                  </a:lnTo>
                  <a:lnTo>
                    <a:pt x="15951" y="893076"/>
                  </a:lnTo>
                  <a:lnTo>
                    <a:pt x="498868" y="56578"/>
                  </a:lnTo>
                  <a:close/>
                </a:path>
                <a:path w="1028700" h="893444">
                  <a:moveTo>
                    <a:pt x="527354" y="106413"/>
                  </a:moveTo>
                  <a:lnTo>
                    <a:pt x="518642" y="90995"/>
                  </a:lnTo>
                  <a:lnTo>
                    <a:pt x="55511" y="893076"/>
                  </a:lnTo>
                  <a:lnTo>
                    <a:pt x="73304" y="893076"/>
                  </a:lnTo>
                  <a:lnTo>
                    <a:pt x="527354" y="106413"/>
                  </a:lnTo>
                  <a:close/>
                </a:path>
                <a:path w="1028700" h="893444">
                  <a:moveTo>
                    <a:pt x="556234" y="156260"/>
                  </a:moveTo>
                  <a:lnTo>
                    <a:pt x="547522" y="140830"/>
                  </a:lnTo>
                  <a:lnTo>
                    <a:pt x="113258" y="893076"/>
                  </a:lnTo>
                  <a:lnTo>
                    <a:pt x="131064" y="893076"/>
                  </a:lnTo>
                  <a:lnTo>
                    <a:pt x="556234" y="156260"/>
                  </a:lnTo>
                  <a:close/>
                </a:path>
                <a:path w="1028700" h="893444">
                  <a:moveTo>
                    <a:pt x="585101" y="205714"/>
                  </a:moveTo>
                  <a:lnTo>
                    <a:pt x="576008" y="190677"/>
                  </a:lnTo>
                  <a:lnTo>
                    <a:pt x="170624" y="893076"/>
                  </a:lnTo>
                  <a:lnTo>
                    <a:pt x="188417" y="893076"/>
                  </a:lnTo>
                  <a:lnTo>
                    <a:pt x="585101" y="205714"/>
                  </a:lnTo>
                  <a:close/>
                </a:path>
                <a:path w="1028700" h="893444">
                  <a:moveTo>
                    <a:pt x="613981" y="255549"/>
                  </a:moveTo>
                  <a:lnTo>
                    <a:pt x="604888" y="240118"/>
                  </a:lnTo>
                  <a:lnTo>
                    <a:pt x="227977" y="893076"/>
                  </a:lnTo>
                  <a:lnTo>
                    <a:pt x="245783" y="893076"/>
                  </a:lnTo>
                  <a:lnTo>
                    <a:pt x="613981" y="255549"/>
                  </a:lnTo>
                  <a:close/>
                </a:path>
                <a:path w="1028700" h="893444">
                  <a:moveTo>
                    <a:pt x="642467" y="305396"/>
                  </a:moveTo>
                  <a:lnTo>
                    <a:pt x="633361" y="289966"/>
                  </a:lnTo>
                  <a:lnTo>
                    <a:pt x="285343" y="893076"/>
                  </a:lnTo>
                  <a:lnTo>
                    <a:pt x="303136" y="893076"/>
                  </a:lnTo>
                  <a:lnTo>
                    <a:pt x="642467" y="305396"/>
                  </a:lnTo>
                  <a:close/>
                </a:path>
                <a:path w="1028700" h="893444">
                  <a:moveTo>
                    <a:pt x="671347" y="354838"/>
                  </a:moveTo>
                  <a:lnTo>
                    <a:pt x="662241" y="339813"/>
                  </a:lnTo>
                  <a:lnTo>
                    <a:pt x="342696" y="893076"/>
                  </a:lnTo>
                  <a:lnTo>
                    <a:pt x="360502" y="893076"/>
                  </a:lnTo>
                  <a:lnTo>
                    <a:pt x="671347" y="354838"/>
                  </a:lnTo>
                  <a:close/>
                </a:path>
                <a:path w="1028700" h="893444">
                  <a:moveTo>
                    <a:pt x="700227" y="404685"/>
                  </a:moveTo>
                  <a:lnTo>
                    <a:pt x="691121" y="389255"/>
                  </a:lnTo>
                  <a:lnTo>
                    <a:pt x="400456" y="893076"/>
                  </a:lnTo>
                  <a:lnTo>
                    <a:pt x="418261" y="893076"/>
                  </a:lnTo>
                  <a:lnTo>
                    <a:pt x="700227" y="404685"/>
                  </a:lnTo>
                  <a:close/>
                </a:path>
                <a:path w="1028700" h="893444">
                  <a:moveTo>
                    <a:pt x="729094" y="454926"/>
                  </a:moveTo>
                  <a:lnTo>
                    <a:pt x="719213" y="439102"/>
                  </a:lnTo>
                  <a:lnTo>
                    <a:pt x="458609" y="893076"/>
                  </a:lnTo>
                  <a:lnTo>
                    <a:pt x="476402" y="893076"/>
                  </a:lnTo>
                  <a:lnTo>
                    <a:pt x="729094" y="454926"/>
                  </a:lnTo>
                  <a:close/>
                </a:path>
                <a:path w="1028700" h="893444">
                  <a:moveTo>
                    <a:pt x="962101" y="131737"/>
                  </a:moveTo>
                  <a:lnTo>
                    <a:pt x="728700" y="131737"/>
                  </a:lnTo>
                  <a:lnTo>
                    <a:pt x="728700" y="161010"/>
                  </a:lnTo>
                  <a:lnTo>
                    <a:pt x="962101" y="161010"/>
                  </a:lnTo>
                  <a:lnTo>
                    <a:pt x="962101" y="131737"/>
                  </a:lnTo>
                  <a:close/>
                </a:path>
                <a:path w="1028700" h="893444">
                  <a:moveTo>
                    <a:pt x="962101" y="0"/>
                  </a:moveTo>
                  <a:lnTo>
                    <a:pt x="728700" y="0"/>
                  </a:lnTo>
                  <a:lnTo>
                    <a:pt x="728700" y="29273"/>
                  </a:lnTo>
                  <a:lnTo>
                    <a:pt x="962101" y="29273"/>
                  </a:lnTo>
                  <a:lnTo>
                    <a:pt x="962101" y="0"/>
                  </a:lnTo>
                  <a:close/>
                </a:path>
                <a:path w="1028700" h="893444">
                  <a:moveTo>
                    <a:pt x="1028560" y="64490"/>
                  </a:moveTo>
                  <a:lnTo>
                    <a:pt x="665810" y="64490"/>
                  </a:lnTo>
                  <a:lnTo>
                    <a:pt x="665810" y="94157"/>
                  </a:lnTo>
                  <a:lnTo>
                    <a:pt x="1028560" y="94157"/>
                  </a:lnTo>
                  <a:lnTo>
                    <a:pt x="1028560" y="64490"/>
                  </a:lnTo>
                  <a:close/>
                </a:path>
              </a:pathLst>
            </a:custGeom>
            <a:solidFill>
              <a:srgbClr val="BF2518"/>
            </a:solidFill>
          </p:spPr>
          <p:txBody>
            <a:bodyPr wrap="square" lIns="0" tIns="0" rIns="0" bIns="0" rtlCol="0"/>
            <a:lstStyle/>
            <a:p>
              <a:endParaRPr/>
            </a:p>
          </p:txBody>
        </p:sp>
      </p:grpSp>
      <p:sp>
        <p:nvSpPr>
          <p:cNvPr id="49" name="object 49"/>
          <p:cNvSpPr/>
          <p:nvPr/>
        </p:nvSpPr>
        <p:spPr>
          <a:xfrm>
            <a:off x="8272594" y="5467100"/>
            <a:ext cx="1743075" cy="1743075"/>
          </a:xfrm>
          <a:custGeom>
            <a:avLst/>
            <a:gdLst/>
            <a:ahLst/>
            <a:cxnLst/>
            <a:rect l="l" t="t" r="r" b="b"/>
            <a:pathLst>
              <a:path w="1743075" h="1743075">
                <a:moveTo>
                  <a:pt x="1638037" y="1742812"/>
                </a:moveTo>
                <a:lnTo>
                  <a:pt x="104775" y="1742812"/>
                </a:lnTo>
                <a:lnTo>
                  <a:pt x="63991" y="1734578"/>
                </a:lnTo>
                <a:lnTo>
                  <a:pt x="30687" y="1712124"/>
                </a:lnTo>
                <a:lnTo>
                  <a:pt x="8233" y="1678820"/>
                </a:lnTo>
                <a:lnTo>
                  <a:pt x="0" y="1638037"/>
                </a:lnTo>
                <a:lnTo>
                  <a:pt x="0" y="104775"/>
                </a:lnTo>
                <a:lnTo>
                  <a:pt x="8233" y="63991"/>
                </a:lnTo>
                <a:lnTo>
                  <a:pt x="30687" y="30687"/>
                </a:lnTo>
                <a:lnTo>
                  <a:pt x="63991" y="8233"/>
                </a:lnTo>
                <a:lnTo>
                  <a:pt x="104775" y="0"/>
                </a:lnTo>
                <a:lnTo>
                  <a:pt x="1638037" y="0"/>
                </a:lnTo>
                <a:lnTo>
                  <a:pt x="1678820" y="8233"/>
                </a:lnTo>
                <a:lnTo>
                  <a:pt x="1712124" y="30687"/>
                </a:lnTo>
                <a:lnTo>
                  <a:pt x="1734578" y="63991"/>
                </a:lnTo>
                <a:lnTo>
                  <a:pt x="1742812" y="104775"/>
                </a:lnTo>
                <a:lnTo>
                  <a:pt x="1742812" y="1638037"/>
                </a:lnTo>
                <a:lnTo>
                  <a:pt x="1734578" y="1678820"/>
                </a:lnTo>
                <a:lnTo>
                  <a:pt x="1712124" y="1712124"/>
                </a:lnTo>
                <a:lnTo>
                  <a:pt x="1678820" y="1734578"/>
                </a:lnTo>
                <a:lnTo>
                  <a:pt x="1638037" y="1742812"/>
                </a:lnTo>
                <a:close/>
              </a:path>
            </a:pathLst>
          </a:custGeom>
          <a:solidFill>
            <a:srgbClr val="D63125"/>
          </a:solidFill>
        </p:spPr>
        <p:txBody>
          <a:bodyPr wrap="square" lIns="0" tIns="0" rIns="0" bIns="0" rtlCol="0"/>
          <a:lstStyle/>
          <a:p>
            <a:endParaRPr/>
          </a:p>
        </p:txBody>
      </p:sp>
      <p:sp>
        <p:nvSpPr>
          <p:cNvPr id="50" name="object 50"/>
          <p:cNvSpPr/>
          <p:nvPr/>
        </p:nvSpPr>
        <p:spPr>
          <a:xfrm>
            <a:off x="5072019" y="5467100"/>
            <a:ext cx="1743075" cy="1743075"/>
          </a:xfrm>
          <a:custGeom>
            <a:avLst/>
            <a:gdLst/>
            <a:ahLst/>
            <a:cxnLst/>
            <a:rect l="l" t="t" r="r" b="b"/>
            <a:pathLst>
              <a:path w="1743075" h="1743075">
                <a:moveTo>
                  <a:pt x="1638037" y="1742812"/>
                </a:moveTo>
                <a:lnTo>
                  <a:pt x="104775" y="1742812"/>
                </a:lnTo>
                <a:lnTo>
                  <a:pt x="63991" y="1734578"/>
                </a:lnTo>
                <a:lnTo>
                  <a:pt x="30687" y="1712124"/>
                </a:lnTo>
                <a:lnTo>
                  <a:pt x="8233" y="1678820"/>
                </a:lnTo>
                <a:lnTo>
                  <a:pt x="0" y="1638037"/>
                </a:lnTo>
                <a:lnTo>
                  <a:pt x="0" y="104775"/>
                </a:lnTo>
                <a:lnTo>
                  <a:pt x="8233" y="63991"/>
                </a:lnTo>
                <a:lnTo>
                  <a:pt x="30687" y="30687"/>
                </a:lnTo>
                <a:lnTo>
                  <a:pt x="63991" y="8233"/>
                </a:lnTo>
                <a:lnTo>
                  <a:pt x="104775" y="0"/>
                </a:lnTo>
                <a:lnTo>
                  <a:pt x="1638037" y="0"/>
                </a:lnTo>
                <a:lnTo>
                  <a:pt x="1678820" y="8233"/>
                </a:lnTo>
                <a:lnTo>
                  <a:pt x="1712124" y="30687"/>
                </a:lnTo>
                <a:lnTo>
                  <a:pt x="1734578" y="63991"/>
                </a:lnTo>
                <a:lnTo>
                  <a:pt x="1742812" y="104775"/>
                </a:lnTo>
                <a:lnTo>
                  <a:pt x="1742812" y="1638037"/>
                </a:lnTo>
                <a:lnTo>
                  <a:pt x="1734578" y="1678820"/>
                </a:lnTo>
                <a:lnTo>
                  <a:pt x="1712124" y="1712124"/>
                </a:lnTo>
                <a:lnTo>
                  <a:pt x="1678820" y="1734578"/>
                </a:lnTo>
                <a:lnTo>
                  <a:pt x="1638037" y="1742812"/>
                </a:lnTo>
                <a:close/>
              </a:path>
            </a:pathLst>
          </a:custGeom>
          <a:solidFill>
            <a:srgbClr val="D63125"/>
          </a:solidFill>
        </p:spPr>
        <p:txBody>
          <a:bodyPr wrap="square" lIns="0" tIns="0" rIns="0" bIns="0" rtlCol="0"/>
          <a:lstStyle/>
          <a:p>
            <a:endParaRPr/>
          </a:p>
        </p:txBody>
      </p:sp>
      <p:sp>
        <p:nvSpPr>
          <p:cNvPr id="51" name="object 51"/>
          <p:cNvSpPr/>
          <p:nvPr/>
        </p:nvSpPr>
        <p:spPr>
          <a:xfrm>
            <a:off x="14425654" y="5467100"/>
            <a:ext cx="1743075" cy="1743075"/>
          </a:xfrm>
          <a:custGeom>
            <a:avLst/>
            <a:gdLst/>
            <a:ahLst/>
            <a:cxnLst/>
            <a:rect l="l" t="t" r="r" b="b"/>
            <a:pathLst>
              <a:path w="1743075" h="1743075">
                <a:moveTo>
                  <a:pt x="1638037" y="1742812"/>
                </a:moveTo>
                <a:lnTo>
                  <a:pt x="104775" y="1742812"/>
                </a:lnTo>
                <a:lnTo>
                  <a:pt x="63991" y="1734578"/>
                </a:lnTo>
                <a:lnTo>
                  <a:pt x="30687" y="1712124"/>
                </a:lnTo>
                <a:lnTo>
                  <a:pt x="8233" y="1678820"/>
                </a:lnTo>
                <a:lnTo>
                  <a:pt x="0" y="1638037"/>
                </a:lnTo>
                <a:lnTo>
                  <a:pt x="0" y="104775"/>
                </a:lnTo>
                <a:lnTo>
                  <a:pt x="8233" y="63991"/>
                </a:lnTo>
                <a:lnTo>
                  <a:pt x="30687" y="30687"/>
                </a:lnTo>
                <a:lnTo>
                  <a:pt x="63991" y="8233"/>
                </a:lnTo>
                <a:lnTo>
                  <a:pt x="104775" y="0"/>
                </a:lnTo>
                <a:lnTo>
                  <a:pt x="1638037" y="0"/>
                </a:lnTo>
                <a:lnTo>
                  <a:pt x="1678820" y="8233"/>
                </a:lnTo>
                <a:lnTo>
                  <a:pt x="1712124" y="30687"/>
                </a:lnTo>
                <a:lnTo>
                  <a:pt x="1734579" y="63991"/>
                </a:lnTo>
                <a:lnTo>
                  <a:pt x="1742812" y="104775"/>
                </a:lnTo>
                <a:lnTo>
                  <a:pt x="1742812" y="1638037"/>
                </a:lnTo>
                <a:lnTo>
                  <a:pt x="1734579" y="1678820"/>
                </a:lnTo>
                <a:lnTo>
                  <a:pt x="1712124" y="1712124"/>
                </a:lnTo>
                <a:lnTo>
                  <a:pt x="1678820" y="1734578"/>
                </a:lnTo>
                <a:lnTo>
                  <a:pt x="1638037" y="1742812"/>
                </a:lnTo>
                <a:close/>
              </a:path>
            </a:pathLst>
          </a:custGeom>
          <a:solidFill>
            <a:srgbClr val="D63125"/>
          </a:solidFill>
        </p:spPr>
        <p:txBody>
          <a:bodyPr wrap="square" lIns="0" tIns="0" rIns="0" bIns="0" rtlCol="0"/>
          <a:lstStyle/>
          <a:p>
            <a:endParaRPr/>
          </a:p>
        </p:txBody>
      </p:sp>
      <p:sp>
        <p:nvSpPr>
          <p:cNvPr id="52" name="object 52"/>
          <p:cNvSpPr/>
          <p:nvPr/>
        </p:nvSpPr>
        <p:spPr>
          <a:xfrm>
            <a:off x="1871446" y="5467100"/>
            <a:ext cx="1743075" cy="1743075"/>
          </a:xfrm>
          <a:custGeom>
            <a:avLst/>
            <a:gdLst/>
            <a:ahLst/>
            <a:cxnLst/>
            <a:rect l="l" t="t" r="r" b="b"/>
            <a:pathLst>
              <a:path w="1743075" h="1743075">
                <a:moveTo>
                  <a:pt x="1638037" y="1742812"/>
                </a:moveTo>
                <a:lnTo>
                  <a:pt x="104775" y="1742812"/>
                </a:lnTo>
                <a:lnTo>
                  <a:pt x="63991" y="1734578"/>
                </a:lnTo>
                <a:lnTo>
                  <a:pt x="30687" y="1712124"/>
                </a:lnTo>
                <a:lnTo>
                  <a:pt x="8233" y="1678820"/>
                </a:lnTo>
                <a:lnTo>
                  <a:pt x="0" y="1638037"/>
                </a:lnTo>
                <a:lnTo>
                  <a:pt x="0" y="104775"/>
                </a:lnTo>
                <a:lnTo>
                  <a:pt x="8233" y="63991"/>
                </a:lnTo>
                <a:lnTo>
                  <a:pt x="30687" y="30687"/>
                </a:lnTo>
                <a:lnTo>
                  <a:pt x="63991" y="8233"/>
                </a:lnTo>
                <a:lnTo>
                  <a:pt x="104775" y="0"/>
                </a:lnTo>
                <a:lnTo>
                  <a:pt x="1638037" y="0"/>
                </a:lnTo>
                <a:lnTo>
                  <a:pt x="1678820" y="8233"/>
                </a:lnTo>
                <a:lnTo>
                  <a:pt x="1712124" y="30687"/>
                </a:lnTo>
                <a:lnTo>
                  <a:pt x="1734578" y="63991"/>
                </a:lnTo>
                <a:lnTo>
                  <a:pt x="1742812" y="104775"/>
                </a:lnTo>
                <a:lnTo>
                  <a:pt x="1742812" y="1638037"/>
                </a:lnTo>
                <a:lnTo>
                  <a:pt x="1734578" y="1678820"/>
                </a:lnTo>
                <a:lnTo>
                  <a:pt x="1712124" y="1712124"/>
                </a:lnTo>
                <a:lnTo>
                  <a:pt x="1678820" y="1734578"/>
                </a:lnTo>
                <a:lnTo>
                  <a:pt x="1638037" y="1742812"/>
                </a:lnTo>
                <a:close/>
              </a:path>
            </a:pathLst>
          </a:custGeom>
          <a:solidFill>
            <a:srgbClr val="D63125"/>
          </a:solidFill>
        </p:spPr>
        <p:txBody>
          <a:bodyPr wrap="square" lIns="0" tIns="0" rIns="0" bIns="0" rtlCol="0"/>
          <a:lstStyle/>
          <a:p>
            <a:endParaRPr/>
          </a:p>
        </p:txBody>
      </p:sp>
      <p:sp>
        <p:nvSpPr>
          <p:cNvPr id="53" name="object 53"/>
          <p:cNvSpPr/>
          <p:nvPr/>
        </p:nvSpPr>
        <p:spPr>
          <a:xfrm>
            <a:off x="11225080" y="5467100"/>
            <a:ext cx="1743075" cy="1743075"/>
          </a:xfrm>
          <a:custGeom>
            <a:avLst/>
            <a:gdLst/>
            <a:ahLst/>
            <a:cxnLst/>
            <a:rect l="l" t="t" r="r" b="b"/>
            <a:pathLst>
              <a:path w="1743075" h="1743075">
                <a:moveTo>
                  <a:pt x="1638037" y="1742812"/>
                </a:moveTo>
                <a:lnTo>
                  <a:pt x="104775" y="1742812"/>
                </a:lnTo>
                <a:lnTo>
                  <a:pt x="63991" y="1734578"/>
                </a:lnTo>
                <a:lnTo>
                  <a:pt x="30687" y="1712124"/>
                </a:lnTo>
                <a:lnTo>
                  <a:pt x="8233" y="1678820"/>
                </a:lnTo>
                <a:lnTo>
                  <a:pt x="0" y="1638037"/>
                </a:lnTo>
                <a:lnTo>
                  <a:pt x="0" y="104775"/>
                </a:lnTo>
                <a:lnTo>
                  <a:pt x="8233" y="63991"/>
                </a:lnTo>
                <a:lnTo>
                  <a:pt x="30687" y="30687"/>
                </a:lnTo>
                <a:lnTo>
                  <a:pt x="63991" y="8233"/>
                </a:lnTo>
                <a:lnTo>
                  <a:pt x="104775" y="0"/>
                </a:lnTo>
                <a:lnTo>
                  <a:pt x="1638037" y="0"/>
                </a:lnTo>
                <a:lnTo>
                  <a:pt x="1678820" y="8233"/>
                </a:lnTo>
                <a:lnTo>
                  <a:pt x="1712124" y="30687"/>
                </a:lnTo>
                <a:lnTo>
                  <a:pt x="1734578" y="63991"/>
                </a:lnTo>
                <a:lnTo>
                  <a:pt x="1742812" y="104775"/>
                </a:lnTo>
                <a:lnTo>
                  <a:pt x="1742812" y="1638037"/>
                </a:lnTo>
                <a:lnTo>
                  <a:pt x="1734578" y="1678820"/>
                </a:lnTo>
                <a:lnTo>
                  <a:pt x="1712124" y="1712124"/>
                </a:lnTo>
                <a:lnTo>
                  <a:pt x="1678820" y="1734578"/>
                </a:lnTo>
                <a:lnTo>
                  <a:pt x="1638037" y="1742812"/>
                </a:lnTo>
                <a:close/>
              </a:path>
            </a:pathLst>
          </a:custGeom>
          <a:solidFill>
            <a:srgbClr val="D63125"/>
          </a:solidFill>
        </p:spPr>
        <p:txBody>
          <a:bodyPr wrap="square" lIns="0" tIns="0" rIns="0" bIns="0" rtlCol="0"/>
          <a:lstStyle/>
          <a:p>
            <a:endParaRPr/>
          </a:p>
        </p:txBody>
      </p:sp>
      <p:sp>
        <p:nvSpPr>
          <p:cNvPr id="54" name="object 54"/>
          <p:cNvSpPr/>
          <p:nvPr/>
        </p:nvSpPr>
        <p:spPr>
          <a:xfrm>
            <a:off x="2265807" y="5983452"/>
            <a:ext cx="952500" cy="709295"/>
          </a:xfrm>
          <a:custGeom>
            <a:avLst/>
            <a:gdLst/>
            <a:ahLst/>
            <a:cxnLst/>
            <a:rect l="l" t="t" r="r" b="b"/>
            <a:pathLst>
              <a:path w="952500" h="709295">
                <a:moveTo>
                  <a:pt x="313590" y="709171"/>
                </a:moveTo>
                <a:lnTo>
                  <a:pt x="0" y="395444"/>
                </a:lnTo>
                <a:lnTo>
                  <a:pt x="67814" y="327629"/>
                </a:lnTo>
                <a:lnTo>
                  <a:pt x="313590" y="573542"/>
                </a:lnTo>
                <a:lnTo>
                  <a:pt x="887340" y="0"/>
                </a:lnTo>
                <a:lnTo>
                  <a:pt x="952088" y="64680"/>
                </a:lnTo>
                <a:lnTo>
                  <a:pt x="952088" y="70808"/>
                </a:lnTo>
                <a:lnTo>
                  <a:pt x="313590" y="709171"/>
                </a:lnTo>
                <a:close/>
              </a:path>
            </a:pathLst>
          </a:custGeom>
          <a:solidFill>
            <a:srgbClr val="FFFFFF"/>
          </a:solidFill>
        </p:spPr>
        <p:txBody>
          <a:bodyPr wrap="square" lIns="0" tIns="0" rIns="0" bIns="0" rtlCol="0"/>
          <a:lstStyle/>
          <a:p>
            <a:endParaRPr/>
          </a:p>
        </p:txBody>
      </p:sp>
      <p:grpSp>
        <p:nvGrpSpPr>
          <p:cNvPr id="55" name="object 55"/>
          <p:cNvGrpSpPr/>
          <p:nvPr/>
        </p:nvGrpSpPr>
        <p:grpSpPr>
          <a:xfrm>
            <a:off x="5482086" y="6072561"/>
            <a:ext cx="807085" cy="605155"/>
            <a:chOff x="5482086" y="6072561"/>
            <a:chExt cx="807085" cy="605155"/>
          </a:xfrm>
        </p:grpSpPr>
        <p:sp>
          <p:nvSpPr>
            <p:cNvPr id="56" name="object 56"/>
            <p:cNvSpPr/>
            <p:nvPr/>
          </p:nvSpPr>
          <p:spPr>
            <a:xfrm>
              <a:off x="5482086" y="6072561"/>
              <a:ext cx="807085" cy="560705"/>
            </a:xfrm>
            <a:custGeom>
              <a:avLst/>
              <a:gdLst/>
              <a:ahLst/>
              <a:cxnLst/>
              <a:rect l="l" t="t" r="r" b="b"/>
              <a:pathLst>
                <a:path w="807085" h="560704">
                  <a:moveTo>
                    <a:pt x="614134" y="560609"/>
                  </a:moveTo>
                  <a:lnTo>
                    <a:pt x="590167" y="555455"/>
                  </a:lnTo>
                  <a:lnTo>
                    <a:pt x="455788" y="470686"/>
                  </a:lnTo>
                  <a:lnTo>
                    <a:pt x="455492" y="470464"/>
                  </a:lnTo>
                  <a:lnTo>
                    <a:pt x="455245" y="470167"/>
                  </a:lnTo>
                  <a:lnTo>
                    <a:pt x="454948" y="469945"/>
                  </a:lnTo>
                  <a:lnTo>
                    <a:pt x="443705" y="462703"/>
                  </a:lnTo>
                  <a:lnTo>
                    <a:pt x="431579" y="457795"/>
                  </a:lnTo>
                  <a:lnTo>
                    <a:pt x="418790" y="455380"/>
                  </a:lnTo>
                  <a:lnTo>
                    <a:pt x="405559" y="455615"/>
                  </a:lnTo>
                  <a:lnTo>
                    <a:pt x="404497" y="455739"/>
                  </a:lnTo>
                  <a:lnTo>
                    <a:pt x="403509" y="455986"/>
                  </a:lnTo>
                  <a:lnTo>
                    <a:pt x="402496" y="456159"/>
                  </a:lnTo>
                  <a:lnTo>
                    <a:pt x="387487" y="417180"/>
                  </a:lnTo>
                  <a:lnTo>
                    <a:pt x="354061" y="394580"/>
                  </a:lnTo>
                  <a:lnTo>
                    <a:pt x="341204" y="392238"/>
                  </a:lnTo>
                  <a:lnTo>
                    <a:pt x="327931" y="392539"/>
                  </a:lnTo>
                  <a:lnTo>
                    <a:pt x="327313" y="392638"/>
                  </a:lnTo>
                  <a:lnTo>
                    <a:pt x="326720" y="392786"/>
                  </a:lnTo>
                  <a:lnTo>
                    <a:pt x="326103" y="392885"/>
                  </a:lnTo>
                  <a:lnTo>
                    <a:pt x="311305" y="351950"/>
                  </a:lnTo>
                  <a:lnTo>
                    <a:pt x="277486" y="328864"/>
                  </a:lnTo>
                  <a:lnTo>
                    <a:pt x="264634" y="326529"/>
                  </a:lnTo>
                  <a:lnTo>
                    <a:pt x="251365" y="326844"/>
                  </a:lnTo>
                  <a:lnTo>
                    <a:pt x="215419" y="343309"/>
                  </a:lnTo>
                  <a:lnTo>
                    <a:pt x="197480" y="365386"/>
                  </a:lnTo>
                  <a:lnTo>
                    <a:pt x="193848" y="365040"/>
                  </a:lnTo>
                  <a:lnTo>
                    <a:pt x="163960" y="333514"/>
                  </a:lnTo>
                  <a:lnTo>
                    <a:pt x="138955" y="326261"/>
                  </a:lnTo>
                  <a:lnTo>
                    <a:pt x="125707" y="326572"/>
                  </a:lnTo>
                  <a:lnTo>
                    <a:pt x="89772" y="343058"/>
                  </a:lnTo>
                  <a:lnTo>
                    <a:pt x="57517" y="384386"/>
                  </a:lnTo>
                  <a:lnTo>
                    <a:pt x="51908" y="385176"/>
                  </a:lnTo>
                  <a:lnTo>
                    <a:pt x="17182" y="361182"/>
                  </a:lnTo>
                  <a:lnTo>
                    <a:pt x="1531" y="353502"/>
                  </a:lnTo>
                  <a:lnTo>
                    <a:pt x="0" y="350389"/>
                  </a:lnTo>
                  <a:lnTo>
                    <a:pt x="72538" y="52921"/>
                  </a:lnTo>
                  <a:lnTo>
                    <a:pt x="73576" y="51513"/>
                  </a:lnTo>
                  <a:lnTo>
                    <a:pt x="76491" y="49734"/>
                  </a:lnTo>
                  <a:lnTo>
                    <a:pt x="78221" y="49487"/>
                  </a:lnTo>
                  <a:lnTo>
                    <a:pt x="79876" y="49882"/>
                  </a:lnTo>
                  <a:lnTo>
                    <a:pt x="103727" y="54838"/>
                  </a:lnTo>
                  <a:lnTo>
                    <a:pt x="129450" y="58489"/>
                  </a:lnTo>
                  <a:lnTo>
                    <a:pt x="156618" y="60747"/>
                  </a:lnTo>
                  <a:lnTo>
                    <a:pt x="184805" y="61519"/>
                  </a:lnTo>
                  <a:lnTo>
                    <a:pt x="226133" y="59857"/>
                  </a:lnTo>
                  <a:lnTo>
                    <a:pt x="267350" y="54691"/>
                  </a:lnTo>
                  <a:lnTo>
                    <a:pt x="307159" y="45749"/>
                  </a:lnTo>
                  <a:lnTo>
                    <a:pt x="344262" y="32761"/>
                  </a:lnTo>
                  <a:lnTo>
                    <a:pt x="376963" y="19140"/>
                  </a:lnTo>
                  <a:lnTo>
                    <a:pt x="403672" y="9274"/>
                  </a:lnTo>
                  <a:lnTo>
                    <a:pt x="426421" y="3016"/>
                  </a:lnTo>
                  <a:lnTo>
                    <a:pt x="447240" y="222"/>
                  </a:lnTo>
                  <a:lnTo>
                    <a:pt x="451464" y="0"/>
                  </a:lnTo>
                  <a:lnTo>
                    <a:pt x="453144" y="5534"/>
                  </a:lnTo>
                  <a:lnTo>
                    <a:pt x="449488" y="7659"/>
                  </a:lnTo>
                  <a:lnTo>
                    <a:pt x="417204" y="28015"/>
                  </a:lnTo>
                  <a:lnTo>
                    <a:pt x="386541" y="51562"/>
                  </a:lnTo>
                  <a:lnTo>
                    <a:pt x="360669" y="77500"/>
                  </a:lnTo>
                  <a:lnTo>
                    <a:pt x="342681" y="105176"/>
                  </a:lnTo>
                  <a:lnTo>
                    <a:pt x="342483" y="105645"/>
                  </a:lnTo>
                  <a:lnTo>
                    <a:pt x="341890" y="107078"/>
                  </a:lnTo>
                  <a:lnTo>
                    <a:pt x="300062" y="226930"/>
                  </a:lnTo>
                  <a:lnTo>
                    <a:pt x="297994" y="235575"/>
                  </a:lnTo>
                  <a:lnTo>
                    <a:pt x="297675" y="244407"/>
                  </a:lnTo>
                  <a:lnTo>
                    <a:pt x="299093" y="253124"/>
                  </a:lnTo>
                  <a:lnTo>
                    <a:pt x="327289" y="283113"/>
                  </a:lnTo>
                  <a:lnTo>
                    <a:pt x="349266" y="287722"/>
                  </a:lnTo>
                  <a:lnTo>
                    <a:pt x="376826" y="286535"/>
                  </a:lnTo>
                  <a:lnTo>
                    <a:pt x="437480" y="246745"/>
                  </a:lnTo>
                  <a:lnTo>
                    <a:pt x="459896" y="213623"/>
                  </a:lnTo>
                  <a:lnTo>
                    <a:pt x="478123" y="183916"/>
                  </a:lnTo>
                  <a:lnTo>
                    <a:pt x="479259" y="183224"/>
                  </a:lnTo>
                  <a:lnTo>
                    <a:pt x="526424" y="179222"/>
                  </a:lnTo>
                  <a:lnTo>
                    <a:pt x="527931" y="179642"/>
                  </a:lnTo>
                  <a:lnTo>
                    <a:pt x="791453" y="367808"/>
                  </a:lnTo>
                  <a:lnTo>
                    <a:pt x="806600" y="393932"/>
                  </a:lnTo>
                  <a:lnTo>
                    <a:pt x="796947" y="419367"/>
                  </a:lnTo>
                  <a:lnTo>
                    <a:pt x="771909" y="433255"/>
                  </a:lnTo>
                  <a:lnTo>
                    <a:pt x="740903" y="424732"/>
                  </a:lnTo>
                  <a:lnTo>
                    <a:pt x="571588" y="306683"/>
                  </a:lnTo>
                  <a:lnTo>
                    <a:pt x="565171" y="303930"/>
                  </a:lnTo>
                  <a:lnTo>
                    <a:pt x="544232" y="324204"/>
                  </a:lnTo>
                  <a:lnTo>
                    <a:pt x="546653" y="330485"/>
                  </a:lnTo>
                  <a:lnTo>
                    <a:pt x="551502" y="335467"/>
                  </a:lnTo>
                  <a:lnTo>
                    <a:pt x="648968" y="403464"/>
                  </a:lnTo>
                  <a:lnTo>
                    <a:pt x="706659" y="443657"/>
                  </a:lnTo>
                  <a:lnTo>
                    <a:pt x="717126" y="464284"/>
                  </a:lnTo>
                  <a:lnTo>
                    <a:pt x="708732" y="486153"/>
                  </a:lnTo>
                  <a:lnTo>
                    <a:pt x="688158" y="499331"/>
                  </a:lnTo>
                  <a:lnTo>
                    <a:pt x="662089" y="493886"/>
                  </a:lnTo>
                  <a:lnTo>
                    <a:pt x="512613" y="388734"/>
                  </a:lnTo>
                  <a:lnTo>
                    <a:pt x="506235" y="385935"/>
                  </a:lnTo>
                  <a:lnTo>
                    <a:pt x="485235" y="406106"/>
                  </a:lnTo>
                  <a:lnTo>
                    <a:pt x="487633" y="412392"/>
                  </a:lnTo>
                  <a:lnTo>
                    <a:pt x="492428" y="417443"/>
                  </a:lnTo>
                  <a:lnTo>
                    <a:pt x="628018" y="512861"/>
                  </a:lnTo>
                  <a:lnTo>
                    <a:pt x="639073" y="531235"/>
                  </a:lnTo>
                  <a:lnTo>
                    <a:pt x="632441" y="549843"/>
                  </a:lnTo>
                  <a:lnTo>
                    <a:pt x="614134" y="560609"/>
                  </a:lnTo>
                  <a:close/>
                </a:path>
              </a:pathLst>
            </a:custGeom>
            <a:solidFill>
              <a:srgbClr val="FFFFFF"/>
            </a:solidFill>
          </p:spPr>
          <p:txBody>
            <a:bodyPr wrap="square" lIns="0" tIns="0" rIns="0" bIns="0" rtlCol="0"/>
            <a:lstStyle/>
            <a:p>
              <a:endParaRPr/>
            </a:p>
          </p:txBody>
        </p:sp>
        <p:pic>
          <p:nvPicPr>
            <p:cNvPr id="57" name="object 57"/>
            <p:cNvPicPr/>
            <p:nvPr/>
          </p:nvPicPr>
          <p:blipFill>
            <a:blip r:embed="rId22" cstate="print"/>
            <a:stretch>
              <a:fillRect/>
            </a:stretch>
          </p:blipFill>
          <p:spPr>
            <a:xfrm>
              <a:off x="5935231" y="6596293"/>
              <a:ext cx="81161" cy="81021"/>
            </a:xfrm>
            <a:prstGeom prst="rect">
              <a:avLst/>
            </a:prstGeom>
          </p:spPr>
        </p:pic>
      </p:grpSp>
      <p:sp>
        <p:nvSpPr>
          <p:cNvPr id="58" name="object 58"/>
          <p:cNvSpPr/>
          <p:nvPr/>
        </p:nvSpPr>
        <p:spPr>
          <a:xfrm>
            <a:off x="6363618" y="6046082"/>
            <a:ext cx="192405" cy="375920"/>
          </a:xfrm>
          <a:custGeom>
            <a:avLst/>
            <a:gdLst/>
            <a:ahLst/>
            <a:cxnLst/>
            <a:rect l="l" t="t" r="r" b="b"/>
            <a:pathLst>
              <a:path w="192404" h="375920">
                <a:moveTo>
                  <a:pt x="76119" y="360370"/>
                </a:moveTo>
                <a:lnTo>
                  <a:pt x="294" y="45745"/>
                </a:lnTo>
                <a:lnTo>
                  <a:pt x="0" y="37826"/>
                </a:lnTo>
                <a:lnTo>
                  <a:pt x="2673" y="30654"/>
                </a:lnTo>
                <a:lnTo>
                  <a:pt x="7840" y="25006"/>
                </a:lnTo>
                <a:lnTo>
                  <a:pt x="15024" y="21661"/>
                </a:lnTo>
                <a:lnTo>
                  <a:pt x="104903" y="0"/>
                </a:lnTo>
                <a:lnTo>
                  <a:pt x="107883" y="1823"/>
                </a:lnTo>
                <a:lnTo>
                  <a:pt x="108595" y="4777"/>
                </a:lnTo>
                <a:lnTo>
                  <a:pt x="191905" y="350458"/>
                </a:lnTo>
                <a:lnTo>
                  <a:pt x="190082" y="353439"/>
                </a:lnTo>
                <a:lnTo>
                  <a:pt x="100203" y="375100"/>
                </a:lnTo>
                <a:lnTo>
                  <a:pt x="92284" y="375394"/>
                </a:lnTo>
                <a:lnTo>
                  <a:pt x="85112" y="372720"/>
                </a:lnTo>
                <a:lnTo>
                  <a:pt x="79465" y="367554"/>
                </a:lnTo>
                <a:lnTo>
                  <a:pt x="76119" y="360370"/>
                </a:lnTo>
                <a:close/>
              </a:path>
            </a:pathLst>
          </a:custGeom>
          <a:solidFill>
            <a:srgbClr val="FFFFFF"/>
          </a:solidFill>
        </p:spPr>
        <p:txBody>
          <a:bodyPr wrap="square" lIns="0" tIns="0" rIns="0" bIns="0" rtlCol="0"/>
          <a:lstStyle/>
          <a:p>
            <a:endParaRPr/>
          </a:p>
        </p:txBody>
      </p:sp>
      <p:pic>
        <p:nvPicPr>
          <p:cNvPr id="59" name="object 59"/>
          <p:cNvPicPr/>
          <p:nvPr/>
        </p:nvPicPr>
        <p:blipFill>
          <a:blip r:embed="rId23" cstate="print"/>
          <a:stretch>
            <a:fillRect/>
          </a:stretch>
        </p:blipFill>
        <p:spPr>
          <a:xfrm>
            <a:off x="5542015" y="6433550"/>
            <a:ext cx="104478" cy="125583"/>
          </a:xfrm>
          <a:prstGeom prst="rect">
            <a:avLst/>
          </a:prstGeom>
        </p:spPr>
      </p:pic>
      <p:grpSp>
        <p:nvGrpSpPr>
          <p:cNvPr id="60" name="object 60"/>
          <p:cNvGrpSpPr/>
          <p:nvPr/>
        </p:nvGrpSpPr>
        <p:grpSpPr>
          <a:xfrm>
            <a:off x="5620854" y="6077386"/>
            <a:ext cx="784860" cy="615950"/>
            <a:chOff x="5620854" y="6077386"/>
            <a:chExt cx="784860" cy="615950"/>
          </a:xfrm>
        </p:grpSpPr>
        <p:sp>
          <p:nvSpPr>
            <p:cNvPr id="61" name="object 61"/>
            <p:cNvSpPr/>
            <p:nvPr/>
          </p:nvSpPr>
          <p:spPr>
            <a:xfrm>
              <a:off x="5813377" y="6077386"/>
              <a:ext cx="592455" cy="360680"/>
            </a:xfrm>
            <a:custGeom>
              <a:avLst/>
              <a:gdLst/>
              <a:ahLst/>
              <a:cxnLst/>
              <a:rect l="l" t="t" r="r" b="b"/>
              <a:pathLst>
                <a:path w="592454" h="360679">
                  <a:moveTo>
                    <a:pt x="509204" y="360289"/>
                  </a:moveTo>
                  <a:lnTo>
                    <a:pt x="505276" y="360116"/>
                  </a:lnTo>
                  <a:lnTo>
                    <a:pt x="501644" y="358115"/>
                  </a:lnTo>
                  <a:lnTo>
                    <a:pt x="499371" y="354903"/>
                  </a:lnTo>
                  <a:lnTo>
                    <a:pt x="495700" y="350025"/>
                  </a:lnTo>
                  <a:lnTo>
                    <a:pt x="217665" y="147120"/>
                  </a:lnTo>
                  <a:lnTo>
                    <a:pt x="189870" y="139387"/>
                  </a:lnTo>
                  <a:lnTo>
                    <a:pt x="131563" y="144328"/>
                  </a:lnTo>
                  <a:lnTo>
                    <a:pt x="123805" y="148924"/>
                  </a:lnTo>
                  <a:lnTo>
                    <a:pt x="117381" y="158460"/>
                  </a:lnTo>
                  <a:lnTo>
                    <a:pt x="106305" y="176816"/>
                  </a:lnTo>
                  <a:lnTo>
                    <a:pt x="98415" y="189470"/>
                  </a:lnTo>
                  <a:lnTo>
                    <a:pt x="61936" y="235962"/>
                  </a:lnTo>
                  <a:lnTo>
                    <a:pt x="26054" y="248159"/>
                  </a:lnTo>
                  <a:lnTo>
                    <a:pt x="5954" y="244687"/>
                  </a:lnTo>
                  <a:lnTo>
                    <a:pt x="3458" y="243871"/>
                  </a:lnTo>
                  <a:lnTo>
                    <a:pt x="2149" y="241870"/>
                  </a:lnTo>
                  <a:lnTo>
                    <a:pt x="914" y="239449"/>
                  </a:lnTo>
                  <a:lnTo>
                    <a:pt x="0" y="236756"/>
                  </a:lnTo>
                  <a:lnTo>
                    <a:pt x="42643" y="114557"/>
                  </a:lnTo>
                  <a:lnTo>
                    <a:pt x="73589" y="76514"/>
                  </a:lnTo>
                  <a:lnTo>
                    <a:pt x="120899" y="41656"/>
                  </a:lnTo>
                  <a:lnTo>
                    <a:pt x="168482" y="15318"/>
                  </a:lnTo>
                  <a:lnTo>
                    <a:pt x="231405" y="0"/>
                  </a:lnTo>
                  <a:lnTo>
                    <a:pt x="265751" y="2364"/>
                  </a:lnTo>
                  <a:lnTo>
                    <a:pt x="302588" y="8267"/>
                  </a:lnTo>
                  <a:lnTo>
                    <a:pt x="341223" y="16051"/>
                  </a:lnTo>
                  <a:lnTo>
                    <a:pt x="385166" y="24882"/>
                  </a:lnTo>
                  <a:lnTo>
                    <a:pt x="428790" y="31412"/>
                  </a:lnTo>
                  <a:lnTo>
                    <a:pt x="471144" y="33319"/>
                  </a:lnTo>
                  <a:lnTo>
                    <a:pt x="511279" y="28231"/>
                  </a:lnTo>
                  <a:lnTo>
                    <a:pt x="514714" y="27416"/>
                  </a:lnTo>
                  <a:lnTo>
                    <a:pt x="518148" y="29516"/>
                  </a:lnTo>
                  <a:lnTo>
                    <a:pt x="592243" y="333383"/>
                  </a:lnTo>
                  <a:lnTo>
                    <a:pt x="590835" y="336398"/>
                  </a:lnTo>
                  <a:lnTo>
                    <a:pt x="563665" y="349352"/>
                  </a:lnTo>
                  <a:lnTo>
                    <a:pt x="546891" y="355786"/>
                  </a:lnTo>
                  <a:lnTo>
                    <a:pt x="529408" y="359599"/>
                  </a:lnTo>
                  <a:lnTo>
                    <a:pt x="509204" y="360289"/>
                  </a:lnTo>
                  <a:close/>
                </a:path>
              </a:pathLst>
            </a:custGeom>
            <a:solidFill>
              <a:srgbClr val="FFFFFF"/>
            </a:solidFill>
          </p:spPr>
          <p:txBody>
            <a:bodyPr wrap="square" lIns="0" tIns="0" rIns="0" bIns="0" rtlCol="0"/>
            <a:lstStyle/>
            <a:p>
              <a:endParaRPr/>
            </a:p>
          </p:txBody>
        </p:sp>
        <p:pic>
          <p:nvPicPr>
            <p:cNvPr id="62" name="object 62"/>
            <p:cNvPicPr/>
            <p:nvPr/>
          </p:nvPicPr>
          <p:blipFill>
            <a:blip r:embed="rId24" cstate="print"/>
            <a:stretch>
              <a:fillRect/>
            </a:stretch>
          </p:blipFill>
          <p:spPr>
            <a:xfrm>
              <a:off x="5620854" y="6433822"/>
              <a:ext cx="305467" cy="259419"/>
            </a:xfrm>
            <a:prstGeom prst="rect">
              <a:avLst/>
            </a:prstGeom>
          </p:spPr>
        </p:pic>
      </p:grpSp>
      <p:sp>
        <p:nvSpPr>
          <p:cNvPr id="63" name="object 63"/>
          <p:cNvSpPr/>
          <p:nvPr/>
        </p:nvSpPr>
        <p:spPr>
          <a:xfrm>
            <a:off x="5331313" y="6056852"/>
            <a:ext cx="192405" cy="375920"/>
          </a:xfrm>
          <a:custGeom>
            <a:avLst/>
            <a:gdLst/>
            <a:ahLst/>
            <a:cxnLst/>
            <a:rect l="l" t="t" r="r" b="b"/>
            <a:pathLst>
              <a:path w="192404" h="375920">
                <a:moveTo>
                  <a:pt x="0" y="350482"/>
                </a:moveTo>
                <a:lnTo>
                  <a:pt x="84027" y="1823"/>
                </a:lnTo>
                <a:lnTo>
                  <a:pt x="87008" y="0"/>
                </a:lnTo>
                <a:lnTo>
                  <a:pt x="176887" y="21661"/>
                </a:lnTo>
                <a:lnTo>
                  <a:pt x="184071" y="25006"/>
                </a:lnTo>
                <a:lnTo>
                  <a:pt x="189237" y="30654"/>
                </a:lnTo>
                <a:lnTo>
                  <a:pt x="191911" y="37826"/>
                </a:lnTo>
                <a:lnTo>
                  <a:pt x="191611" y="45769"/>
                </a:lnTo>
                <a:lnTo>
                  <a:pt x="115786" y="360394"/>
                </a:lnTo>
                <a:lnTo>
                  <a:pt x="112440" y="367578"/>
                </a:lnTo>
                <a:lnTo>
                  <a:pt x="106793" y="372744"/>
                </a:lnTo>
                <a:lnTo>
                  <a:pt x="99621" y="375418"/>
                </a:lnTo>
                <a:lnTo>
                  <a:pt x="91702" y="375124"/>
                </a:lnTo>
                <a:lnTo>
                  <a:pt x="1823" y="353463"/>
                </a:lnTo>
                <a:lnTo>
                  <a:pt x="0" y="350482"/>
                </a:lnTo>
                <a:close/>
              </a:path>
            </a:pathLst>
          </a:custGeom>
          <a:solidFill>
            <a:srgbClr val="FFFFFF"/>
          </a:solidFill>
        </p:spPr>
        <p:txBody>
          <a:bodyPr wrap="square" lIns="0" tIns="0" rIns="0" bIns="0" rtlCol="0"/>
          <a:lstStyle/>
          <a:p>
            <a:endParaRPr/>
          </a:p>
        </p:txBody>
      </p:sp>
      <p:pic>
        <p:nvPicPr>
          <p:cNvPr id="64" name="object 64"/>
          <p:cNvPicPr/>
          <p:nvPr/>
        </p:nvPicPr>
        <p:blipFill>
          <a:blip r:embed="rId25" cstate="print"/>
          <a:stretch>
            <a:fillRect/>
          </a:stretch>
        </p:blipFill>
        <p:spPr>
          <a:xfrm>
            <a:off x="8696225" y="5610298"/>
            <a:ext cx="1047749" cy="1266824"/>
          </a:xfrm>
          <a:prstGeom prst="rect">
            <a:avLst/>
          </a:prstGeom>
        </p:spPr>
      </p:pic>
      <p:pic>
        <p:nvPicPr>
          <p:cNvPr id="65" name="object 65"/>
          <p:cNvPicPr/>
          <p:nvPr/>
        </p:nvPicPr>
        <p:blipFill>
          <a:blip r:embed="rId26" cstate="print"/>
          <a:stretch>
            <a:fillRect/>
          </a:stretch>
        </p:blipFill>
        <p:spPr>
          <a:xfrm>
            <a:off x="11501397" y="5994462"/>
            <a:ext cx="1133474" cy="904874"/>
          </a:xfrm>
          <a:prstGeom prst="rect">
            <a:avLst/>
          </a:prstGeom>
        </p:spPr>
      </p:pic>
      <p:pic>
        <p:nvPicPr>
          <p:cNvPr id="66" name="object 66"/>
          <p:cNvPicPr/>
          <p:nvPr/>
        </p:nvPicPr>
        <p:blipFill>
          <a:blip r:embed="rId27" cstate="print"/>
          <a:stretch>
            <a:fillRect/>
          </a:stretch>
        </p:blipFill>
        <p:spPr>
          <a:xfrm>
            <a:off x="14758981" y="5679163"/>
            <a:ext cx="1076324" cy="1219199"/>
          </a:xfrm>
          <a:prstGeom prst="rect">
            <a:avLst/>
          </a:prstGeom>
        </p:spPr>
      </p:pic>
      <p:sp>
        <p:nvSpPr>
          <p:cNvPr id="67" name="object 67" descr="$PPTXTitle"/>
          <p:cNvSpPr txBox="1">
            <a:spLocks noGrp="1"/>
          </p:cNvSpPr>
          <p:nvPr>
            <p:ph type="title"/>
          </p:nvPr>
        </p:nvSpPr>
        <p:spPr>
          <a:xfrm>
            <a:off x="1990493" y="1280729"/>
            <a:ext cx="13334201" cy="1189861"/>
          </a:xfrm>
          <a:prstGeom prst="rect">
            <a:avLst/>
          </a:prstGeom>
        </p:spPr>
        <p:txBody>
          <a:bodyPr vert="horz" wrap="square" lIns="0" tIns="81074" rIns="0" bIns="0" rtlCol="0">
            <a:spAutoFit/>
          </a:bodyPr>
          <a:lstStyle/>
          <a:p>
            <a:pPr marL="2177415">
              <a:lnSpc>
                <a:spcPct val="100000"/>
              </a:lnSpc>
              <a:spcBef>
                <a:spcPts val="95"/>
              </a:spcBef>
            </a:pPr>
            <a:r>
              <a:rPr sz="7200" b="1" u="none" spc="85" dirty="0"/>
              <a:t>Fu</a:t>
            </a:r>
            <a:r>
              <a:rPr sz="7200" b="1" spc="85" dirty="0"/>
              <a:t>ture</a:t>
            </a:r>
            <a:r>
              <a:rPr sz="7200" b="1" spc="-459" dirty="0"/>
              <a:t> </a:t>
            </a:r>
            <a:r>
              <a:rPr sz="7200" b="1" spc="490" dirty="0"/>
              <a:t>Enhancemen</a:t>
            </a:r>
            <a:r>
              <a:rPr sz="7200" b="1" u="none" spc="490" dirty="0"/>
              <a:t>ts</a:t>
            </a:r>
          </a:p>
        </p:txBody>
      </p:sp>
      <p:sp>
        <p:nvSpPr>
          <p:cNvPr id="69" name="object 69"/>
          <p:cNvSpPr txBox="1"/>
          <p:nvPr/>
        </p:nvSpPr>
        <p:spPr>
          <a:xfrm>
            <a:off x="2078326" y="3518411"/>
            <a:ext cx="13983335" cy="1358900"/>
          </a:xfrm>
          <a:prstGeom prst="rect">
            <a:avLst/>
          </a:prstGeom>
        </p:spPr>
        <p:txBody>
          <a:bodyPr vert="horz" wrap="square" lIns="0" tIns="12065" rIns="0" bIns="0" rtlCol="0">
            <a:spAutoFit/>
          </a:bodyPr>
          <a:lstStyle/>
          <a:p>
            <a:pPr marL="12700" marR="5080" algn="ctr">
              <a:lnSpc>
                <a:spcPct val="106700"/>
              </a:lnSpc>
              <a:spcBef>
                <a:spcPts val="95"/>
              </a:spcBef>
            </a:pPr>
            <a:r>
              <a:rPr sz="2050" spc="114" dirty="0">
                <a:solidFill>
                  <a:srgbClr val="0F0301"/>
                </a:solidFill>
                <a:latin typeface="Trebuchet MS"/>
                <a:cs typeface="Trebuchet MS"/>
              </a:rPr>
              <a:t>The</a:t>
            </a:r>
            <a:r>
              <a:rPr sz="2050" spc="10" dirty="0">
                <a:solidFill>
                  <a:srgbClr val="0F0301"/>
                </a:solidFill>
                <a:latin typeface="Trebuchet MS"/>
                <a:cs typeface="Trebuchet MS"/>
              </a:rPr>
              <a:t> </a:t>
            </a:r>
            <a:r>
              <a:rPr sz="2050" spc="204" dirty="0">
                <a:solidFill>
                  <a:srgbClr val="0F0301"/>
                </a:solidFill>
                <a:latin typeface="Trebuchet MS"/>
                <a:cs typeface="Trebuchet MS"/>
              </a:rPr>
              <a:t>Zomato</a:t>
            </a:r>
            <a:r>
              <a:rPr sz="2050" spc="10" dirty="0">
                <a:solidFill>
                  <a:srgbClr val="0F0301"/>
                </a:solidFill>
                <a:latin typeface="Trebuchet MS"/>
                <a:cs typeface="Trebuchet MS"/>
              </a:rPr>
              <a:t> </a:t>
            </a:r>
            <a:r>
              <a:rPr sz="2050" spc="155" dirty="0">
                <a:solidFill>
                  <a:srgbClr val="0F0301"/>
                </a:solidFill>
                <a:latin typeface="Trebuchet MS"/>
                <a:cs typeface="Trebuchet MS"/>
              </a:rPr>
              <a:t>Restaurant</a:t>
            </a:r>
            <a:r>
              <a:rPr sz="2050" spc="10" dirty="0">
                <a:solidFill>
                  <a:srgbClr val="0F0301"/>
                </a:solidFill>
                <a:latin typeface="Trebuchet MS"/>
                <a:cs typeface="Trebuchet MS"/>
              </a:rPr>
              <a:t> </a:t>
            </a:r>
            <a:r>
              <a:rPr sz="2050" spc="140" dirty="0">
                <a:solidFill>
                  <a:srgbClr val="0F0301"/>
                </a:solidFill>
                <a:latin typeface="Trebuchet MS"/>
                <a:cs typeface="Trebuchet MS"/>
              </a:rPr>
              <a:t>Analytics</a:t>
            </a:r>
            <a:r>
              <a:rPr sz="2050" spc="15" dirty="0">
                <a:solidFill>
                  <a:srgbClr val="0F0301"/>
                </a:solidFill>
                <a:latin typeface="Trebuchet MS"/>
                <a:cs typeface="Trebuchet MS"/>
              </a:rPr>
              <a:t> </a:t>
            </a:r>
            <a:r>
              <a:rPr sz="2050" spc="240" dirty="0">
                <a:solidFill>
                  <a:srgbClr val="0F0301"/>
                </a:solidFill>
                <a:latin typeface="Trebuchet MS"/>
                <a:cs typeface="Trebuchet MS"/>
              </a:rPr>
              <a:t>Dashboard</a:t>
            </a:r>
            <a:r>
              <a:rPr sz="2050" spc="10" dirty="0">
                <a:solidFill>
                  <a:srgbClr val="0F0301"/>
                </a:solidFill>
                <a:latin typeface="Trebuchet MS"/>
                <a:cs typeface="Trebuchet MS"/>
              </a:rPr>
              <a:t> </a:t>
            </a:r>
            <a:r>
              <a:rPr sz="2050" spc="270" dirty="0">
                <a:solidFill>
                  <a:srgbClr val="0F0301"/>
                </a:solidFill>
                <a:latin typeface="Trebuchet MS"/>
                <a:cs typeface="Trebuchet MS"/>
              </a:rPr>
              <a:t>has</a:t>
            </a:r>
            <a:r>
              <a:rPr sz="2050" spc="10" dirty="0">
                <a:solidFill>
                  <a:srgbClr val="0F0301"/>
                </a:solidFill>
                <a:latin typeface="Trebuchet MS"/>
                <a:cs typeface="Trebuchet MS"/>
              </a:rPr>
              <a:t> </a:t>
            </a:r>
            <a:r>
              <a:rPr sz="2050" spc="130" dirty="0">
                <a:solidFill>
                  <a:srgbClr val="0F0301"/>
                </a:solidFill>
                <a:latin typeface="Trebuchet MS"/>
                <a:cs typeface="Trebuchet MS"/>
              </a:rPr>
              <a:t>significant</a:t>
            </a:r>
            <a:r>
              <a:rPr sz="2050" spc="15" dirty="0">
                <a:solidFill>
                  <a:srgbClr val="0F0301"/>
                </a:solidFill>
                <a:latin typeface="Trebuchet MS"/>
                <a:cs typeface="Trebuchet MS"/>
              </a:rPr>
              <a:t> </a:t>
            </a:r>
            <a:r>
              <a:rPr sz="2050" spc="114" dirty="0">
                <a:solidFill>
                  <a:srgbClr val="0F0301"/>
                </a:solidFill>
                <a:latin typeface="Trebuchet MS"/>
                <a:cs typeface="Trebuchet MS"/>
              </a:rPr>
              <a:t>potential</a:t>
            </a:r>
            <a:r>
              <a:rPr sz="2050" spc="10" dirty="0">
                <a:solidFill>
                  <a:srgbClr val="0F0301"/>
                </a:solidFill>
                <a:latin typeface="Trebuchet MS"/>
                <a:cs typeface="Trebuchet MS"/>
              </a:rPr>
              <a:t> </a:t>
            </a:r>
            <a:r>
              <a:rPr sz="2050" spc="50" dirty="0">
                <a:solidFill>
                  <a:srgbClr val="0F0301"/>
                </a:solidFill>
                <a:latin typeface="Trebuchet MS"/>
                <a:cs typeface="Trebuchet MS"/>
              </a:rPr>
              <a:t>for</a:t>
            </a:r>
            <a:r>
              <a:rPr sz="2050" spc="10" dirty="0">
                <a:solidFill>
                  <a:srgbClr val="0F0301"/>
                </a:solidFill>
                <a:latin typeface="Trebuchet MS"/>
                <a:cs typeface="Trebuchet MS"/>
              </a:rPr>
              <a:t> </a:t>
            </a:r>
            <a:r>
              <a:rPr sz="2050" spc="165" dirty="0">
                <a:solidFill>
                  <a:srgbClr val="0F0301"/>
                </a:solidFill>
                <a:latin typeface="Trebuchet MS"/>
                <a:cs typeface="Trebuchet MS"/>
              </a:rPr>
              <a:t>growth</a:t>
            </a:r>
            <a:r>
              <a:rPr sz="2050" spc="15" dirty="0">
                <a:solidFill>
                  <a:srgbClr val="0F0301"/>
                </a:solidFill>
                <a:latin typeface="Trebuchet MS"/>
                <a:cs typeface="Trebuchet MS"/>
              </a:rPr>
              <a:t> </a:t>
            </a:r>
            <a:r>
              <a:rPr sz="2050" spc="270" dirty="0">
                <a:solidFill>
                  <a:srgbClr val="0F0301"/>
                </a:solidFill>
                <a:latin typeface="Trebuchet MS"/>
                <a:cs typeface="Trebuchet MS"/>
              </a:rPr>
              <a:t>and</a:t>
            </a:r>
            <a:r>
              <a:rPr sz="2050" spc="10" dirty="0">
                <a:solidFill>
                  <a:srgbClr val="0F0301"/>
                </a:solidFill>
                <a:latin typeface="Trebuchet MS"/>
                <a:cs typeface="Trebuchet MS"/>
              </a:rPr>
              <a:t> </a:t>
            </a:r>
            <a:r>
              <a:rPr sz="2050" spc="140" dirty="0">
                <a:solidFill>
                  <a:srgbClr val="0F0301"/>
                </a:solidFill>
                <a:latin typeface="Trebuchet MS"/>
                <a:cs typeface="Trebuchet MS"/>
              </a:rPr>
              <a:t>expansion.</a:t>
            </a:r>
            <a:r>
              <a:rPr sz="2050" spc="10" dirty="0">
                <a:solidFill>
                  <a:srgbClr val="0F0301"/>
                </a:solidFill>
                <a:latin typeface="Trebuchet MS"/>
                <a:cs typeface="Trebuchet MS"/>
              </a:rPr>
              <a:t> </a:t>
            </a:r>
            <a:r>
              <a:rPr sz="2050" spc="90" dirty="0">
                <a:solidFill>
                  <a:srgbClr val="0F0301"/>
                </a:solidFill>
                <a:latin typeface="Trebuchet MS"/>
                <a:cs typeface="Trebuchet MS"/>
              </a:rPr>
              <a:t>The </a:t>
            </a:r>
            <a:r>
              <a:rPr sz="2050" spc="114" dirty="0">
                <a:solidFill>
                  <a:srgbClr val="0F0301"/>
                </a:solidFill>
                <a:latin typeface="Trebuchet MS"/>
                <a:cs typeface="Trebuchet MS"/>
              </a:rPr>
              <a:t>following</a:t>
            </a:r>
            <a:r>
              <a:rPr sz="2050" spc="5" dirty="0">
                <a:solidFill>
                  <a:srgbClr val="0F0301"/>
                </a:solidFill>
                <a:latin typeface="Trebuchet MS"/>
                <a:cs typeface="Trebuchet MS"/>
              </a:rPr>
              <a:t> </a:t>
            </a:r>
            <a:r>
              <a:rPr sz="2050" spc="225" dirty="0">
                <a:solidFill>
                  <a:srgbClr val="0F0301"/>
                </a:solidFill>
                <a:latin typeface="Trebuchet MS"/>
                <a:cs typeface="Trebuchet MS"/>
              </a:rPr>
              <a:t>enhancements</a:t>
            </a:r>
            <a:r>
              <a:rPr sz="2050" spc="5" dirty="0">
                <a:solidFill>
                  <a:srgbClr val="0F0301"/>
                </a:solidFill>
                <a:latin typeface="Trebuchet MS"/>
                <a:cs typeface="Trebuchet MS"/>
              </a:rPr>
              <a:t> </a:t>
            </a:r>
            <a:r>
              <a:rPr sz="2050" spc="165" dirty="0">
                <a:solidFill>
                  <a:srgbClr val="0F0301"/>
                </a:solidFill>
                <a:latin typeface="Trebuchet MS"/>
                <a:cs typeface="Trebuchet MS"/>
              </a:rPr>
              <a:t>are</a:t>
            </a:r>
            <a:r>
              <a:rPr sz="2050" spc="5" dirty="0">
                <a:solidFill>
                  <a:srgbClr val="0F0301"/>
                </a:solidFill>
                <a:latin typeface="Trebuchet MS"/>
                <a:cs typeface="Trebuchet MS"/>
              </a:rPr>
              <a:t> </a:t>
            </a:r>
            <a:r>
              <a:rPr sz="2050" spc="204" dirty="0">
                <a:solidFill>
                  <a:srgbClr val="0F0301"/>
                </a:solidFill>
                <a:latin typeface="Trebuchet MS"/>
                <a:cs typeface="Trebuchet MS"/>
              </a:rPr>
              <a:t>planned</a:t>
            </a:r>
            <a:r>
              <a:rPr sz="2050" spc="10" dirty="0">
                <a:solidFill>
                  <a:srgbClr val="0F0301"/>
                </a:solidFill>
                <a:latin typeface="Trebuchet MS"/>
                <a:cs typeface="Trebuchet MS"/>
              </a:rPr>
              <a:t> </a:t>
            </a:r>
            <a:r>
              <a:rPr sz="2050" spc="90" dirty="0">
                <a:solidFill>
                  <a:srgbClr val="0F0301"/>
                </a:solidFill>
                <a:latin typeface="Trebuchet MS"/>
                <a:cs typeface="Trebuchet MS"/>
              </a:rPr>
              <a:t>to</a:t>
            </a:r>
            <a:r>
              <a:rPr sz="2050" spc="5" dirty="0">
                <a:solidFill>
                  <a:srgbClr val="0F0301"/>
                </a:solidFill>
                <a:latin typeface="Trebuchet MS"/>
                <a:cs typeface="Trebuchet MS"/>
              </a:rPr>
              <a:t> </a:t>
            </a:r>
            <a:r>
              <a:rPr sz="2050" spc="140" dirty="0">
                <a:solidFill>
                  <a:srgbClr val="0F0301"/>
                </a:solidFill>
                <a:latin typeface="Trebuchet MS"/>
                <a:cs typeface="Trebuchet MS"/>
              </a:rPr>
              <a:t>elevate</a:t>
            </a:r>
            <a:r>
              <a:rPr sz="2050" spc="5" dirty="0">
                <a:solidFill>
                  <a:srgbClr val="0F0301"/>
                </a:solidFill>
                <a:latin typeface="Trebuchet MS"/>
                <a:cs typeface="Trebuchet MS"/>
              </a:rPr>
              <a:t> </a:t>
            </a:r>
            <a:r>
              <a:rPr sz="2050" spc="114" dirty="0">
                <a:solidFill>
                  <a:srgbClr val="0F0301"/>
                </a:solidFill>
                <a:latin typeface="Trebuchet MS"/>
                <a:cs typeface="Trebuchet MS"/>
              </a:rPr>
              <a:t>the</a:t>
            </a:r>
            <a:r>
              <a:rPr sz="2050" spc="10" dirty="0">
                <a:solidFill>
                  <a:srgbClr val="0F0301"/>
                </a:solidFill>
                <a:latin typeface="Trebuchet MS"/>
                <a:cs typeface="Trebuchet MS"/>
              </a:rPr>
              <a:t> </a:t>
            </a:r>
            <a:r>
              <a:rPr sz="2050" spc="145" dirty="0">
                <a:solidFill>
                  <a:srgbClr val="0F0301"/>
                </a:solidFill>
                <a:latin typeface="Trebuchet MS"/>
                <a:cs typeface="Trebuchet MS"/>
              </a:rPr>
              <a:t>platform's</a:t>
            </a:r>
            <a:r>
              <a:rPr sz="2050" spc="5" dirty="0">
                <a:solidFill>
                  <a:srgbClr val="0F0301"/>
                </a:solidFill>
                <a:latin typeface="Trebuchet MS"/>
                <a:cs typeface="Trebuchet MS"/>
              </a:rPr>
              <a:t> </a:t>
            </a:r>
            <a:r>
              <a:rPr sz="2050" spc="105" dirty="0">
                <a:solidFill>
                  <a:srgbClr val="0F0301"/>
                </a:solidFill>
                <a:latin typeface="Trebuchet MS"/>
                <a:cs typeface="Trebuchet MS"/>
              </a:rPr>
              <a:t>capabilities,</a:t>
            </a:r>
            <a:r>
              <a:rPr sz="2050" spc="5" dirty="0">
                <a:solidFill>
                  <a:srgbClr val="0F0301"/>
                </a:solidFill>
                <a:latin typeface="Trebuchet MS"/>
                <a:cs typeface="Trebuchet MS"/>
              </a:rPr>
              <a:t> </a:t>
            </a:r>
            <a:r>
              <a:rPr sz="2050" spc="100" dirty="0">
                <a:solidFill>
                  <a:srgbClr val="0F0301"/>
                </a:solidFill>
                <a:latin typeface="Trebuchet MS"/>
                <a:cs typeface="Trebuchet MS"/>
              </a:rPr>
              <a:t>deliver</a:t>
            </a:r>
            <a:r>
              <a:rPr sz="2050" spc="10" dirty="0">
                <a:solidFill>
                  <a:srgbClr val="0F0301"/>
                </a:solidFill>
                <a:latin typeface="Trebuchet MS"/>
                <a:cs typeface="Trebuchet MS"/>
              </a:rPr>
              <a:t> </a:t>
            </a:r>
            <a:r>
              <a:rPr sz="2050" spc="185" dirty="0">
                <a:solidFill>
                  <a:srgbClr val="0F0301"/>
                </a:solidFill>
                <a:latin typeface="Trebuchet MS"/>
                <a:cs typeface="Trebuchet MS"/>
              </a:rPr>
              <a:t>deeper</a:t>
            </a:r>
            <a:r>
              <a:rPr sz="2050" spc="5" dirty="0">
                <a:solidFill>
                  <a:srgbClr val="0F0301"/>
                </a:solidFill>
                <a:latin typeface="Trebuchet MS"/>
                <a:cs typeface="Trebuchet MS"/>
              </a:rPr>
              <a:t> </a:t>
            </a:r>
            <a:r>
              <a:rPr sz="2050" spc="100" dirty="0">
                <a:solidFill>
                  <a:srgbClr val="0F0301"/>
                </a:solidFill>
                <a:latin typeface="Trebuchet MS"/>
                <a:cs typeface="Trebuchet MS"/>
              </a:rPr>
              <a:t>insights,</a:t>
            </a:r>
            <a:r>
              <a:rPr sz="2050" spc="5" dirty="0">
                <a:solidFill>
                  <a:srgbClr val="0F0301"/>
                </a:solidFill>
                <a:latin typeface="Trebuchet MS"/>
                <a:cs typeface="Trebuchet MS"/>
              </a:rPr>
              <a:t> </a:t>
            </a:r>
            <a:r>
              <a:rPr sz="2050" spc="245" dirty="0">
                <a:solidFill>
                  <a:srgbClr val="0F0301"/>
                </a:solidFill>
                <a:latin typeface="Trebuchet MS"/>
                <a:cs typeface="Trebuchet MS"/>
              </a:rPr>
              <a:t>and </a:t>
            </a:r>
            <a:r>
              <a:rPr sz="2050" spc="155" dirty="0">
                <a:solidFill>
                  <a:srgbClr val="0F0301"/>
                </a:solidFill>
                <a:latin typeface="Trebuchet MS"/>
                <a:cs typeface="Trebuchet MS"/>
              </a:rPr>
              <a:t>provide</a:t>
            </a:r>
            <a:r>
              <a:rPr sz="2050" spc="10" dirty="0">
                <a:solidFill>
                  <a:srgbClr val="0F0301"/>
                </a:solidFill>
                <a:latin typeface="Trebuchet MS"/>
                <a:cs typeface="Trebuchet MS"/>
              </a:rPr>
              <a:t> </a:t>
            </a:r>
            <a:r>
              <a:rPr sz="2050" spc="310" dirty="0">
                <a:solidFill>
                  <a:srgbClr val="0F0301"/>
                </a:solidFill>
                <a:latin typeface="Trebuchet MS"/>
                <a:cs typeface="Trebuchet MS"/>
              </a:rPr>
              <a:t>a</a:t>
            </a:r>
            <a:r>
              <a:rPr sz="2050" spc="15" dirty="0">
                <a:solidFill>
                  <a:srgbClr val="0F0301"/>
                </a:solidFill>
                <a:latin typeface="Trebuchet MS"/>
                <a:cs typeface="Trebuchet MS"/>
              </a:rPr>
              <a:t> </a:t>
            </a:r>
            <a:r>
              <a:rPr sz="2050" spc="215" dirty="0">
                <a:solidFill>
                  <a:srgbClr val="0F0301"/>
                </a:solidFill>
                <a:latin typeface="Trebuchet MS"/>
                <a:cs typeface="Trebuchet MS"/>
              </a:rPr>
              <a:t>more</a:t>
            </a:r>
            <a:r>
              <a:rPr sz="2050" spc="15" dirty="0">
                <a:solidFill>
                  <a:srgbClr val="0F0301"/>
                </a:solidFill>
                <a:latin typeface="Trebuchet MS"/>
                <a:cs typeface="Trebuchet MS"/>
              </a:rPr>
              <a:t> </a:t>
            </a:r>
            <a:r>
              <a:rPr sz="2050" spc="175" dirty="0">
                <a:solidFill>
                  <a:srgbClr val="0F0301"/>
                </a:solidFill>
                <a:latin typeface="Trebuchet MS"/>
                <a:cs typeface="Trebuchet MS"/>
              </a:rPr>
              <a:t>seamless,</a:t>
            </a:r>
            <a:r>
              <a:rPr sz="2050" spc="15" dirty="0">
                <a:solidFill>
                  <a:srgbClr val="0F0301"/>
                </a:solidFill>
                <a:latin typeface="Trebuchet MS"/>
                <a:cs typeface="Trebuchet MS"/>
              </a:rPr>
              <a:t> </a:t>
            </a:r>
            <a:r>
              <a:rPr sz="2050" spc="45" dirty="0">
                <a:solidFill>
                  <a:srgbClr val="0F0301"/>
                </a:solidFill>
                <a:latin typeface="Trebuchet MS"/>
                <a:cs typeface="Trebuchet MS"/>
              </a:rPr>
              <a:t>intelligent,</a:t>
            </a:r>
            <a:r>
              <a:rPr sz="2050" spc="15" dirty="0">
                <a:solidFill>
                  <a:srgbClr val="0F0301"/>
                </a:solidFill>
                <a:latin typeface="Trebuchet MS"/>
                <a:cs typeface="Trebuchet MS"/>
              </a:rPr>
              <a:t> </a:t>
            </a:r>
            <a:r>
              <a:rPr sz="2050" spc="270" dirty="0">
                <a:solidFill>
                  <a:srgbClr val="0F0301"/>
                </a:solidFill>
                <a:latin typeface="Trebuchet MS"/>
                <a:cs typeface="Trebuchet MS"/>
              </a:rPr>
              <a:t>and</a:t>
            </a:r>
            <a:r>
              <a:rPr sz="2050" spc="15" dirty="0">
                <a:solidFill>
                  <a:srgbClr val="0F0301"/>
                </a:solidFill>
                <a:latin typeface="Trebuchet MS"/>
                <a:cs typeface="Trebuchet MS"/>
              </a:rPr>
              <a:t> </a:t>
            </a:r>
            <a:r>
              <a:rPr sz="2050" spc="190" dirty="0">
                <a:solidFill>
                  <a:srgbClr val="0F0301"/>
                </a:solidFill>
                <a:latin typeface="Trebuchet MS"/>
                <a:cs typeface="Trebuchet MS"/>
              </a:rPr>
              <a:t>scalable</a:t>
            </a:r>
            <a:r>
              <a:rPr sz="2050" spc="15" dirty="0">
                <a:solidFill>
                  <a:srgbClr val="0F0301"/>
                </a:solidFill>
                <a:latin typeface="Trebuchet MS"/>
                <a:cs typeface="Trebuchet MS"/>
              </a:rPr>
              <a:t> </a:t>
            </a:r>
            <a:r>
              <a:rPr sz="2050" spc="155" dirty="0">
                <a:solidFill>
                  <a:srgbClr val="0F0301"/>
                </a:solidFill>
                <a:latin typeface="Trebuchet MS"/>
                <a:cs typeface="Trebuchet MS"/>
              </a:rPr>
              <a:t>analytics</a:t>
            </a:r>
            <a:r>
              <a:rPr sz="2050" spc="15" dirty="0">
                <a:solidFill>
                  <a:srgbClr val="0F0301"/>
                </a:solidFill>
                <a:latin typeface="Trebuchet MS"/>
                <a:cs typeface="Trebuchet MS"/>
              </a:rPr>
              <a:t> </a:t>
            </a:r>
            <a:r>
              <a:rPr sz="2050" spc="145" dirty="0">
                <a:solidFill>
                  <a:srgbClr val="0F0301"/>
                </a:solidFill>
                <a:latin typeface="Trebuchet MS"/>
                <a:cs typeface="Trebuchet MS"/>
              </a:rPr>
              <a:t>experience</a:t>
            </a:r>
            <a:r>
              <a:rPr sz="2050" spc="15" dirty="0">
                <a:solidFill>
                  <a:srgbClr val="0F0301"/>
                </a:solidFill>
                <a:latin typeface="Trebuchet MS"/>
                <a:cs typeface="Trebuchet MS"/>
              </a:rPr>
              <a:t> </a:t>
            </a:r>
            <a:r>
              <a:rPr sz="2050" spc="50" dirty="0">
                <a:solidFill>
                  <a:srgbClr val="0F0301"/>
                </a:solidFill>
                <a:latin typeface="Trebuchet MS"/>
                <a:cs typeface="Trebuchet MS"/>
              </a:rPr>
              <a:t>for</a:t>
            </a:r>
            <a:r>
              <a:rPr sz="2050" spc="15" dirty="0">
                <a:solidFill>
                  <a:srgbClr val="0F0301"/>
                </a:solidFill>
                <a:latin typeface="Trebuchet MS"/>
                <a:cs typeface="Trebuchet MS"/>
              </a:rPr>
              <a:t> </a:t>
            </a:r>
            <a:r>
              <a:rPr sz="2050" spc="160" dirty="0">
                <a:solidFill>
                  <a:srgbClr val="0F0301"/>
                </a:solidFill>
                <a:latin typeface="Trebuchet MS"/>
                <a:cs typeface="Trebuchet MS"/>
              </a:rPr>
              <a:t>stakeholders</a:t>
            </a:r>
            <a:r>
              <a:rPr sz="2050" spc="15" dirty="0">
                <a:solidFill>
                  <a:srgbClr val="0F0301"/>
                </a:solidFill>
                <a:latin typeface="Trebuchet MS"/>
                <a:cs typeface="Trebuchet MS"/>
              </a:rPr>
              <a:t> </a:t>
            </a:r>
            <a:r>
              <a:rPr sz="2050" spc="270" dirty="0">
                <a:solidFill>
                  <a:srgbClr val="0F0301"/>
                </a:solidFill>
                <a:latin typeface="Trebuchet MS"/>
                <a:cs typeface="Trebuchet MS"/>
              </a:rPr>
              <a:t>and</a:t>
            </a:r>
            <a:r>
              <a:rPr sz="2050" spc="15" dirty="0">
                <a:solidFill>
                  <a:srgbClr val="0F0301"/>
                </a:solidFill>
                <a:latin typeface="Trebuchet MS"/>
                <a:cs typeface="Trebuchet MS"/>
              </a:rPr>
              <a:t> </a:t>
            </a:r>
            <a:r>
              <a:rPr sz="2050" spc="135" dirty="0">
                <a:solidFill>
                  <a:srgbClr val="0F0301"/>
                </a:solidFill>
                <a:latin typeface="Trebuchet MS"/>
                <a:cs typeface="Trebuchet MS"/>
              </a:rPr>
              <a:t>restaurant </a:t>
            </a:r>
            <a:r>
              <a:rPr sz="2050" spc="95" dirty="0">
                <a:solidFill>
                  <a:srgbClr val="0F0301"/>
                </a:solidFill>
                <a:latin typeface="Trebuchet MS"/>
                <a:cs typeface="Trebuchet MS"/>
              </a:rPr>
              <a:t>partners.</a:t>
            </a:r>
            <a:endParaRPr sz="2050">
              <a:latin typeface="Trebuchet MS"/>
              <a:cs typeface="Trebuchet MS"/>
            </a:endParaRPr>
          </a:p>
        </p:txBody>
      </p:sp>
      <p:sp>
        <p:nvSpPr>
          <p:cNvPr id="70" name="object 70"/>
          <p:cNvSpPr txBox="1"/>
          <p:nvPr/>
        </p:nvSpPr>
        <p:spPr>
          <a:xfrm>
            <a:off x="1541055" y="7396692"/>
            <a:ext cx="2404110" cy="768350"/>
          </a:xfrm>
          <a:prstGeom prst="rect">
            <a:avLst/>
          </a:prstGeom>
        </p:spPr>
        <p:txBody>
          <a:bodyPr vert="horz" wrap="square" lIns="0" tIns="12700" rIns="0" bIns="0" rtlCol="0">
            <a:spAutoFit/>
          </a:bodyPr>
          <a:lstStyle/>
          <a:p>
            <a:pPr marL="412750" marR="5080" indent="-400685">
              <a:lnSpc>
                <a:spcPct val="106000"/>
              </a:lnSpc>
              <a:spcBef>
                <a:spcPts val="100"/>
              </a:spcBef>
            </a:pPr>
            <a:r>
              <a:rPr sz="2300" spc="100" dirty="0">
                <a:solidFill>
                  <a:srgbClr val="0F0301"/>
                </a:solidFill>
                <a:latin typeface="Lucida Sans Unicode"/>
                <a:cs typeface="Lucida Sans Unicode"/>
              </a:rPr>
              <a:t>Real-</a:t>
            </a:r>
            <a:r>
              <a:rPr sz="2300" spc="55" dirty="0">
                <a:solidFill>
                  <a:srgbClr val="0F0301"/>
                </a:solidFill>
                <a:latin typeface="Lucida Sans Unicode"/>
                <a:cs typeface="Lucida Sans Unicode"/>
              </a:rPr>
              <a:t>Time</a:t>
            </a:r>
            <a:r>
              <a:rPr sz="2300" spc="-40" dirty="0">
                <a:solidFill>
                  <a:srgbClr val="0F0301"/>
                </a:solidFill>
                <a:latin typeface="Lucida Sans Unicode"/>
                <a:cs typeface="Lucida Sans Unicode"/>
              </a:rPr>
              <a:t> </a:t>
            </a:r>
            <a:r>
              <a:rPr sz="2300" spc="110" dirty="0">
                <a:solidFill>
                  <a:srgbClr val="0F0301"/>
                </a:solidFill>
                <a:latin typeface="Lucida Sans Unicode"/>
                <a:cs typeface="Lucida Sans Unicode"/>
              </a:rPr>
              <a:t>Data Streaming</a:t>
            </a:r>
            <a:endParaRPr sz="2300">
              <a:latin typeface="Lucida Sans Unicode"/>
              <a:cs typeface="Lucida Sans Unicode"/>
            </a:endParaRPr>
          </a:p>
        </p:txBody>
      </p:sp>
      <p:sp>
        <p:nvSpPr>
          <p:cNvPr id="71" name="object 71"/>
          <p:cNvSpPr txBox="1"/>
          <p:nvPr/>
        </p:nvSpPr>
        <p:spPr>
          <a:xfrm>
            <a:off x="4948499" y="7396692"/>
            <a:ext cx="1990089" cy="768350"/>
          </a:xfrm>
          <a:prstGeom prst="rect">
            <a:avLst/>
          </a:prstGeom>
        </p:spPr>
        <p:txBody>
          <a:bodyPr vert="horz" wrap="square" lIns="0" tIns="12700" rIns="0" bIns="0" rtlCol="0">
            <a:spAutoFit/>
          </a:bodyPr>
          <a:lstStyle/>
          <a:p>
            <a:pPr marL="300355" marR="5080" indent="-288290">
              <a:lnSpc>
                <a:spcPct val="106000"/>
              </a:lnSpc>
              <a:spcBef>
                <a:spcPts val="100"/>
              </a:spcBef>
            </a:pPr>
            <a:r>
              <a:rPr sz="2300" spc="-30" dirty="0">
                <a:solidFill>
                  <a:srgbClr val="0F0301"/>
                </a:solidFill>
                <a:latin typeface="Lucida Sans Unicode"/>
                <a:cs typeface="Lucida Sans Unicode"/>
              </a:rPr>
              <a:t>ML</a:t>
            </a:r>
            <a:r>
              <a:rPr sz="2300" spc="-145" dirty="0">
                <a:solidFill>
                  <a:srgbClr val="0F0301"/>
                </a:solidFill>
                <a:latin typeface="Lucida Sans Unicode"/>
                <a:cs typeface="Lucida Sans Unicode"/>
              </a:rPr>
              <a:t> </a:t>
            </a:r>
            <a:r>
              <a:rPr sz="2300" spc="75" dirty="0">
                <a:solidFill>
                  <a:srgbClr val="0F0301"/>
                </a:solidFill>
                <a:latin typeface="Lucida Sans Unicode"/>
                <a:cs typeface="Lucida Sans Unicode"/>
              </a:rPr>
              <a:t>Predictive </a:t>
            </a:r>
            <a:r>
              <a:rPr sz="2300" spc="80" dirty="0">
                <a:solidFill>
                  <a:srgbClr val="0F0301"/>
                </a:solidFill>
                <a:latin typeface="Lucida Sans Unicode"/>
                <a:cs typeface="Lucida Sans Unicode"/>
              </a:rPr>
              <a:t>Analytics</a:t>
            </a:r>
            <a:endParaRPr sz="2300">
              <a:latin typeface="Lucida Sans Unicode"/>
              <a:cs typeface="Lucida Sans Unicode"/>
            </a:endParaRPr>
          </a:p>
        </p:txBody>
      </p:sp>
      <p:sp>
        <p:nvSpPr>
          <p:cNvPr id="72" name="object 72"/>
          <p:cNvSpPr txBox="1"/>
          <p:nvPr/>
        </p:nvSpPr>
        <p:spPr>
          <a:xfrm>
            <a:off x="8286590" y="7396692"/>
            <a:ext cx="1715135" cy="768350"/>
          </a:xfrm>
          <a:prstGeom prst="rect">
            <a:avLst/>
          </a:prstGeom>
        </p:spPr>
        <p:txBody>
          <a:bodyPr vert="horz" wrap="square" lIns="0" tIns="12700" rIns="0" bIns="0" rtlCol="0">
            <a:spAutoFit/>
          </a:bodyPr>
          <a:lstStyle/>
          <a:p>
            <a:pPr marL="23495" marR="5080" indent="-11430">
              <a:lnSpc>
                <a:spcPct val="106000"/>
              </a:lnSpc>
              <a:spcBef>
                <a:spcPts val="100"/>
              </a:spcBef>
            </a:pPr>
            <a:r>
              <a:rPr sz="2300" spc="55" dirty="0">
                <a:solidFill>
                  <a:srgbClr val="0F0301"/>
                </a:solidFill>
                <a:latin typeface="Lucida Sans Unicode"/>
                <a:cs typeface="Lucida Sans Unicode"/>
              </a:rPr>
              <a:t>Mobile</a:t>
            </a:r>
            <a:r>
              <a:rPr sz="2300" spc="-55" dirty="0">
                <a:solidFill>
                  <a:srgbClr val="0F0301"/>
                </a:solidFill>
                <a:latin typeface="Lucida Sans Unicode"/>
                <a:cs typeface="Lucida Sans Unicode"/>
              </a:rPr>
              <a:t> </a:t>
            </a:r>
            <a:r>
              <a:rPr sz="2300" spc="60" dirty="0">
                <a:solidFill>
                  <a:srgbClr val="0F0301"/>
                </a:solidFill>
                <a:latin typeface="Lucida Sans Unicode"/>
                <a:cs typeface="Lucida Sans Unicode"/>
              </a:rPr>
              <a:t>App Integration</a:t>
            </a:r>
            <a:endParaRPr sz="2300">
              <a:latin typeface="Lucida Sans Unicode"/>
              <a:cs typeface="Lucida Sans Unicode"/>
            </a:endParaRPr>
          </a:p>
        </p:txBody>
      </p:sp>
      <p:sp>
        <p:nvSpPr>
          <p:cNvPr id="73" name="object 73"/>
          <p:cNvSpPr txBox="1"/>
          <p:nvPr/>
        </p:nvSpPr>
        <p:spPr>
          <a:xfrm>
            <a:off x="11074623" y="7396692"/>
            <a:ext cx="2044064" cy="768350"/>
          </a:xfrm>
          <a:prstGeom prst="rect">
            <a:avLst/>
          </a:prstGeom>
        </p:spPr>
        <p:txBody>
          <a:bodyPr vert="horz" wrap="square" lIns="0" tIns="12700" rIns="0" bIns="0" rtlCol="0">
            <a:spAutoFit/>
          </a:bodyPr>
          <a:lstStyle/>
          <a:p>
            <a:pPr marL="475615" marR="5080" indent="-463550">
              <a:lnSpc>
                <a:spcPct val="106000"/>
              </a:lnSpc>
              <a:spcBef>
                <a:spcPts val="100"/>
              </a:spcBef>
            </a:pPr>
            <a:r>
              <a:rPr sz="2300" spc="80" dirty="0">
                <a:solidFill>
                  <a:srgbClr val="0F0301"/>
                </a:solidFill>
                <a:latin typeface="Lucida Sans Unicode"/>
                <a:cs typeface="Lucida Sans Unicode"/>
              </a:rPr>
              <a:t>Expanded</a:t>
            </a:r>
            <a:r>
              <a:rPr sz="2300" spc="-45" dirty="0">
                <a:solidFill>
                  <a:srgbClr val="0F0301"/>
                </a:solidFill>
                <a:latin typeface="Lucida Sans Unicode"/>
                <a:cs typeface="Lucida Sans Unicode"/>
              </a:rPr>
              <a:t> </a:t>
            </a:r>
            <a:r>
              <a:rPr sz="2300" spc="-25" dirty="0">
                <a:solidFill>
                  <a:srgbClr val="0F0301"/>
                </a:solidFill>
                <a:latin typeface="Lucida Sans Unicode"/>
                <a:cs typeface="Lucida Sans Unicode"/>
              </a:rPr>
              <a:t>KPI </a:t>
            </a:r>
            <a:r>
              <a:rPr sz="2300" spc="55" dirty="0">
                <a:solidFill>
                  <a:srgbClr val="0F0301"/>
                </a:solidFill>
                <a:latin typeface="Lucida Sans Unicode"/>
                <a:cs typeface="Lucida Sans Unicode"/>
              </a:rPr>
              <a:t>Metrics</a:t>
            </a:r>
            <a:endParaRPr sz="2300">
              <a:latin typeface="Lucida Sans Unicode"/>
              <a:cs typeface="Lucida Sans Unicode"/>
            </a:endParaRPr>
          </a:p>
        </p:txBody>
      </p:sp>
      <p:sp>
        <p:nvSpPr>
          <p:cNvPr id="74" name="object 74"/>
          <p:cNvSpPr txBox="1"/>
          <p:nvPr/>
        </p:nvSpPr>
        <p:spPr>
          <a:xfrm>
            <a:off x="14331303" y="7396692"/>
            <a:ext cx="1931670" cy="768350"/>
          </a:xfrm>
          <a:prstGeom prst="rect">
            <a:avLst/>
          </a:prstGeom>
        </p:spPr>
        <p:txBody>
          <a:bodyPr vert="horz" wrap="square" lIns="0" tIns="12700" rIns="0" bIns="0" rtlCol="0">
            <a:spAutoFit/>
          </a:bodyPr>
          <a:lstStyle/>
          <a:p>
            <a:pPr marL="12700" marR="5080" indent="394970">
              <a:lnSpc>
                <a:spcPct val="106000"/>
              </a:lnSpc>
              <a:spcBef>
                <a:spcPts val="100"/>
              </a:spcBef>
            </a:pPr>
            <a:r>
              <a:rPr sz="2300" dirty="0">
                <a:solidFill>
                  <a:srgbClr val="0F0301"/>
                </a:solidFill>
                <a:latin typeface="Lucida Sans Unicode"/>
                <a:cs typeface="Lucida Sans Unicode"/>
              </a:rPr>
              <a:t>Live</a:t>
            </a:r>
            <a:r>
              <a:rPr sz="2300" spc="15" dirty="0">
                <a:solidFill>
                  <a:srgbClr val="0F0301"/>
                </a:solidFill>
                <a:latin typeface="Lucida Sans Unicode"/>
                <a:cs typeface="Lucida Sans Unicode"/>
              </a:rPr>
              <a:t> </a:t>
            </a:r>
            <a:r>
              <a:rPr sz="2300" spc="-25" dirty="0">
                <a:solidFill>
                  <a:srgbClr val="0F0301"/>
                </a:solidFill>
                <a:latin typeface="Lucida Sans Unicode"/>
                <a:cs typeface="Lucida Sans Unicode"/>
              </a:rPr>
              <a:t>API </a:t>
            </a:r>
            <a:r>
              <a:rPr sz="2300" spc="80" dirty="0">
                <a:solidFill>
                  <a:srgbClr val="0F0301"/>
                </a:solidFill>
                <a:latin typeface="Lucida Sans Unicode"/>
                <a:cs typeface="Lucida Sans Unicode"/>
              </a:rPr>
              <a:t>Connections</a:t>
            </a:r>
            <a:endParaRPr sz="2300">
              <a:latin typeface="Lucida Sans Unicode"/>
              <a:cs typeface="Lucida Sans Unicode"/>
            </a:endParaRPr>
          </a:p>
        </p:txBody>
      </p:sp>
      <p:sp>
        <p:nvSpPr>
          <p:cNvPr id="75" name="AutoShape 5">
            <a:extLst>
              <a:ext uri="{FF2B5EF4-FFF2-40B4-BE49-F238E27FC236}">
                <a16:creationId xmlns:a16="http://schemas.microsoft.com/office/drawing/2014/main" id="{A9F8ED29-7FC4-C98B-C411-D26BB75458E1}"/>
              </a:ext>
            </a:extLst>
          </p:cNvPr>
          <p:cNvSpPr/>
          <p:nvPr/>
        </p:nvSpPr>
        <p:spPr>
          <a:xfrm flipV="1">
            <a:off x="4751108" y="2516467"/>
            <a:ext cx="10162159" cy="14573"/>
          </a:xfrm>
          <a:prstGeom prst="line">
            <a:avLst/>
          </a:prstGeom>
          <a:ln w="38100" cap="flat">
            <a:solidFill>
              <a:srgbClr val="C02519"/>
            </a:solidFill>
            <a:prstDash val="solid"/>
            <a:headEnd type="none" w="sm" len="sm"/>
            <a:tailEnd type="none" w="sm" len="sm"/>
          </a:ln>
        </p:spPr>
        <p:txBody>
          <a:bodyPr/>
          <a:lstStyle/>
          <a:p>
            <a:endParaRPr lang="en-I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flipH="1">
            <a:off x="10132584" y="27801"/>
            <a:ext cx="10259199" cy="10259199"/>
          </a:xfrm>
          <a:custGeom>
            <a:avLst/>
            <a:gdLst/>
            <a:ahLst/>
            <a:cxnLst/>
            <a:rect l="l" t="t" r="r" b="b"/>
            <a:pathLst>
              <a:path w="10259199" h="10259199">
                <a:moveTo>
                  <a:pt x="10259199" y="0"/>
                </a:moveTo>
                <a:lnTo>
                  <a:pt x="0" y="0"/>
                </a:lnTo>
                <a:lnTo>
                  <a:pt x="0" y="10259199"/>
                </a:lnTo>
                <a:lnTo>
                  <a:pt x="10259199" y="10259199"/>
                </a:lnTo>
                <a:lnTo>
                  <a:pt x="10259199"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flipV="1">
            <a:off x="-2024523" y="0"/>
            <a:ext cx="4854522" cy="4854522"/>
          </a:xfrm>
          <a:custGeom>
            <a:avLst/>
            <a:gdLst/>
            <a:ahLst/>
            <a:cxnLst/>
            <a:rect l="l" t="t" r="r" b="b"/>
            <a:pathLst>
              <a:path w="4854522" h="4854522">
                <a:moveTo>
                  <a:pt x="0" y="4854522"/>
                </a:moveTo>
                <a:lnTo>
                  <a:pt x="4854522" y="4854522"/>
                </a:lnTo>
                <a:lnTo>
                  <a:pt x="4854522" y="0"/>
                </a:lnTo>
                <a:lnTo>
                  <a:pt x="0" y="0"/>
                </a:lnTo>
                <a:lnTo>
                  <a:pt x="0" y="4854522"/>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4" name="Group 4"/>
          <p:cNvGrpSpPr/>
          <p:nvPr/>
        </p:nvGrpSpPr>
        <p:grpSpPr>
          <a:xfrm>
            <a:off x="10167626" y="1690137"/>
            <a:ext cx="8036918" cy="6906726"/>
            <a:chOff x="0" y="0"/>
            <a:chExt cx="812800" cy="698500"/>
          </a:xfrm>
        </p:grpSpPr>
        <p:sp>
          <p:nvSpPr>
            <p:cNvPr id="5" name="Freeform 5"/>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100302"/>
            </a:solidFill>
          </p:spPr>
          <p:txBody>
            <a:bodyPr/>
            <a:lstStyle/>
            <a:p>
              <a:endParaRPr lang="en-IN"/>
            </a:p>
          </p:txBody>
        </p:sp>
        <p:sp>
          <p:nvSpPr>
            <p:cNvPr id="6" name="TextBox 6"/>
            <p:cNvSpPr txBox="1"/>
            <p:nvPr/>
          </p:nvSpPr>
          <p:spPr>
            <a:xfrm>
              <a:off x="114300" y="-66675"/>
              <a:ext cx="584200" cy="765175"/>
            </a:xfrm>
            <a:prstGeom prst="rect">
              <a:avLst/>
            </a:prstGeom>
          </p:spPr>
          <p:txBody>
            <a:bodyPr lIns="50800" tIns="50800" rIns="50800" bIns="50800" rtlCol="0" anchor="ctr"/>
            <a:lstStyle/>
            <a:p>
              <a:pPr marL="0" lvl="0" indent="0" algn="ctr">
                <a:lnSpc>
                  <a:spcPts val="2800"/>
                </a:lnSpc>
              </a:pPr>
              <a:endParaRPr/>
            </a:p>
          </p:txBody>
        </p:sp>
      </p:grpSp>
      <p:sp>
        <p:nvSpPr>
          <p:cNvPr id="11" name="Freeform 11"/>
          <p:cNvSpPr/>
          <p:nvPr/>
        </p:nvSpPr>
        <p:spPr>
          <a:xfrm flipH="1" flipV="1">
            <a:off x="12436502" y="-2046699"/>
            <a:ext cx="5928391" cy="6605567"/>
          </a:xfrm>
          <a:custGeom>
            <a:avLst/>
            <a:gdLst/>
            <a:ahLst/>
            <a:cxnLst/>
            <a:rect l="l" t="t" r="r" b="b"/>
            <a:pathLst>
              <a:path w="5928391" h="6605567">
                <a:moveTo>
                  <a:pt x="5928390" y="6605566"/>
                </a:moveTo>
                <a:lnTo>
                  <a:pt x="0" y="6605566"/>
                </a:lnTo>
                <a:lnTo>
                  <a:pt x="0" y="0"/>
                </a:lnTo>
                <a:lnTo>
                  <a:pt x="5928390" y="0"/>
                </a:lnTo>
                <a:lnTo>
                  <a:pt x="5928390" y="6605566"/>
                </a:lnTo>
                <a:close/>
              </a:path>
            </a:pathLst>
          </a:custGeom>
          <a:blipFill>
            <a:blip>
              <a:extLst>
                <a:ext uri="{96DAC541-7B7A-43D3-8B79-37D633B846F1}">
                  <asvg:svgBlip xmlns:asvg="http://schemas.microsoft.com/office/drawing/2016/SVG/main" r:embed="rId2"/>
                </a:ext>
              </a:extLst>
            </a:blip>
            <a:stretch>
              <a:fillRect t="-55311" r="-73052"/>
            </a:stretch>
          </a:blipFill>
        </p:spPr>
        <p:txBody>
          <a:bodyPr/>
          <a:lstStyle/>
          <a:p>
            <a:endParaRPr lang="en-IN"/>
          </a:p>
        </p:txBody>
      </p:sp>
      <p:sp>
        <p:nvSpPr>
          <p:cNvPr id="12" name="Freeform 12"/>
          <p:cNvSpPr/>
          <p:nvPr/>
        </p:nvSpPr>
        <p:spPr>
          <a:xfrm>
            <a:off x="1557173" y="1066982"/>
            <a:ext cx="622416" cy="734611"/>
          </a:xfrm>
          <a:custGeom>
            <a:avLst/>
            <a:gdLst/>
            <a:ahLst/>
            <a:cxnLst/>
            <a:rect l="l" t="t" r="r" b="b"/>
            <a:pathLst>
              <a:path w="622416" h="734611">
                <a:moveTo>
                  <a:pt x="0" y="0"/>
                </a:moveTo>
                <a:lnTo>
                  <a:pt x="622416" y="0"/>
                </a:lnTo>
                <a:lnTo>
                  <a:pt x="622416" y="734611"/>
                </a:lnTo>
                <a:lnTo>
                  <a:pt x="0" y="73461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3" name="Freeform 13"/>
          <p:cNvSpPr/>
          <p:nvPr/>
        </p:nvSpPr>
        <p:spPr>
          <a:xfrm>
            <a:off x="9663660" y="1028700"/>
            <a:ext cx="1977168" cy="1545786"/>
          </a:xfrm>
          <a:custGeom>
            <a:avLst/>
            <a:gdLst/>
            <a:ahLst/>
            <a:cxnLst/>
            <a:rect l="l" t="t" r="r" b="b"/>
            <a:pathLst>
              <a:path w="1977168" h="1545786">
                <a:moveTo>
                  <a:pt x="0" y="0"/>
                </a:moveTo>
                <a:lnTo>
                  <a:pt x="1977168" y="0"/>
                </a:lnTo>
                <a:lnTo>
                  <a:pt x="1977168" y="1545786"/>
                </a:lnTo>
                <a:lnTo>
                  <a:pt x="0" y="154578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4" name="Freeform 14"/>
          <p:cNvSpPr/>
          <p:nvPr/>
        </p:nvSpPr>
        <p:spPr>
          <a:xfrm>
            <a:off x="556229" y="9698415"/>
            <a:ext cx="2001886" cy="243866"/>
          </a:xfrm>
          <a:custGeom>
            <a:avLst/>
            <a:gdLst/>
            <a:ahLst/>
            <a:cxnLst/>
            <a:rect l="l" t="t" r="r" b="b"/>
            <a:pathLst>
              <a:path w="2001886" h="243866">
                <a:moveTo>
                  <a:pt x="0" y="0"/>
                </a:moveTo>
                <a:lnTo>
                  <a:pt x="2001887" y="0"/>
                </a:lnTo>
                <a:lnTo>
                  <a:pt x="2001887" y="243866"/>
                </a:lnTo>
                <a:lnTo>
                  <a:pt x="0" y="24386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20" name="TextBox 20"/>
          <p:cNvSpPr txBox="1"/>
          <p:nvPr/>
        </p:nvSpPr>
        <p:spPr>
          <a:xfrm>
            <a:off x="1557729" y="3108963"/>
            <a:ext cx="7754548" cy="3190491"/>
          </a:xfrm>
          <a:prstGeom prst="rect">
            <a:avLst/>
          </a:prstGeom>
        </p:spPr>
        <p:txBody>
          <a:bodyPr lIns="0" tIns="0" rIns="0" bIns="0" rtlCol="0" anchor="t">
            <a:spAutoFit/>
          </a:bodyPr>
          <a:lstStyle/>
          <a:p>
            <a:pPr marL="0" lvl="0" indent="0" algn="l">
              <a:lnSpc>
                <a:spcPts val="11690"/>
              </a:lnSpc>
            </a:pPr>
            <a:r>
              <a:rPr lang="en-US" sz="12989" b="1">
                <a:solidFill>
                  <a:srgbClr val="FFFFFF"/>
                </a:solidFill>
                <a:latin typeface="Poppins Semi-Bold"/>
                <a:ea typeface="Poppins Semi-Bold"/>
                <a:cs typeface="Poppins Semi-Bold"/>
                <a:sym typeface="Poppins Semi-Bold"/>
              </a:rPr>
              <a:t>THANK YOU</a:t>
            </a:r>
          </a:p>
        </p:txBody>
      </p:sp>
      <p:grpSp>
        <p:nvGrpSpPr>
          <p:cNvPr id="15" name="object 43">
            <a:extLst>
              <a:ext uri="{FF2B5EF4-FFF2-40B4-BE49-F238E27FC236}">
                <a16:creationId xmlns:a16="http://schemas.microsoft.com/office/drawing/2014/main" id="{BEEFBB8B-0836-4D7F-4117-D173499849A5}"/>
              </a:ext>
            </a:extLst>
          </p:cNvPr>
          <p:cNvGrpSpPr/>
          <p:nvPr/>
        </p:nvGrpSpPr>
        <p:grpSpPr>
          <a:xfrm>
            <a:off x="9009411" y="2042934"/>
            <a:ext cx="8750935" cy="8216265"/>
            <a:chOff x="9454109" y="1690136"/>
            <a:chExt cx="8750935" cy="8216265"/>
          </a:xfrm>
        </p:grpSpPr>
        <p:sp>
          <p:nvSpPr>
            <p:cNvPr id="16" name="object 44">
              <a:extLst>
                <a:ext uri="{FF2B5EF4-FFF2-40B4-BE49-F238E27FC236}">
                  <a16:creationId xmlns:a16="http://schemas.microsoft.com/office/drawing/2014/main" id="{9833A971-FD61-B696-6B41-0DCD6DC76652}"/>
                </a:ext>
              </a:extLst>
            </p:cNvPr>
            <p:cNvSpPr/>
            <p:nvPr/>
          </p:nvSpPr>
          <p:spPr>
            <a:xfrm>
              <a:off x="10167625" y="1690136"/>
              <a:ext cx="8037195" cy="6906895"/>
            </a:xfrm>
            <a:custGeom>
              <a:avLst/>
              <a:gdLst/>
              <a:ahLst/>
              <a:cxnLst/>
              <a:rect l="l" t="t" r="r" b="b"/>
              <a:pathLst>
                <a:path w="8037194" h="6906895">
                  <a:moveTo>
                    <a:pt x="6027688" y="6906726"/>
                  </a:moveTo>
                  <a:lnTo>
                    <a:pt x="2009229" y="6906726"/>
                  </a:lnTo>
                  <a:lnTo>
                    <a:pt x="0" y="3453363"/>
                  </a:lnTo>
                  <a:lnTo>
                    <a:pt x="2009229" y="0"/>
                  </a:lnTo>
                  <a:lnTo>
                    <a:pt x="6027688" y="0"/>
                  </a:lnTo>
                  <a:lnTo>
                    <a:pt x="8036917" y="3453363"/>
                  </a:lnTo>
                  <a:lnTo>
                    <a:pt x="6027688" y="6906726"/>
                  </a:lnTo>
                  <a:close/>
                </a:path>
              </a:pathLst>
            </a:custGeom>
            <a:solidFill>
              <a:srgbClr val="0F0301"/>
            </a:solidFill>
          </p:spPr>
          <p:txBody>
            <a:bodyPr wrap="square" lIns="0" tIns="0" rIns="0" bIns="0" rtlCol="0"/>
            <a:lstStyle/>
            <a:p>
              <a:endParaRPr/>
            </a:p>
          </p:txBody>
        </p:sp>
        <p:pic>
          <p:nvPicPr>
            <p:cNvPr id="17" name="object 45">
              <a:extLst>
                <a:ext uri="{FF2B5EF4-FFF2-40B4-BE49-F238E27FC236}">
                  <a16:creationId xmlns:a16="http://schemas.microsoft.com/office/drawing/2014/main" id="{D5AEA313-E842-B397-1675-EBF9D6689872}"/>
                </a:ext>
              </a:extLst>
            </p:cNvPr>
            <p:cNvPicPr/>
            <p:nvPr/>
          </p:nvPicPr>
          <p:blipFill>
            <a:blip r:embed="rId6" cstate="print"/>
            <a:stretch>
              <a:fillRect/>
            </a:stretch>
          </p:blipFill>
          <p:spPr>
            <a:xfrm>
              <a:off x="10556000" y="2023896"/>
              <a:ext cx="7260166" cy="6239206"/>
            </a:xfrm>
            <a:prstGeom prst="rect">
              <a:avLst/>
            </a:prstGeom>
          </p:spPr>
        </p:pic>
        <p:sp>
          <p:nvSpPr>
            <p:cNvPr id="18" name="object 46">
              <a:extLst>
                <a:ext uri="{FF2B5EF4-FFF2-40B4-BE49-F238E27FC236}">
                  <a16:creationId xmlns:a16="http://schemas.microsoft.com/office/drawing/2014/main" id="{9A864AFB-2529-467A-A0C9-E03819E378B9}"/>
                </a:ext>
              </a:extLst>
            </p:cNvPr>
            <p:cNvSpPr/>
            <p:nvPr/>
          </p:nvSpPr>
          <p:spPr>
            <a:xfrm>
              <a:off x="10556008" y="2023884"/>
              <a:ext cx="7258050" cy="6238875"/>
            </a:xfrm>
            <a:custGeom>
              <a:avLst/>
              <a:gdLst/>
              <a:ahLst/>
              <a:cxnLst/>
              <a:rect l="l" t="t" r="r" b="b"/>
              <a:pathLst>
                <a:path w="7258050" h="6238875">
                  <a:moveTo>
                    <a:pt x="7258007" y="3123232"/>
                  </a:moveTo>
                  <a:lnTo>
                    <a:pt x="5445274" y="6238865"/>
                  </a:lnTo>
                </a:path>
                <a:path w="7258050" h="6238875">
                  <a:moveTo>
                    <a:pt x="1814850" y="6238880"/>
                  </a:moveTo>
                  <a:lnTo>
                    <a:pt x="0" y="3119600"/>
                  </a:lnTo>
                  <a:lnTo>
                    <a:pt x="1815026" y="11"/>
                  </a:lnTo>
                  <a:lnTo>
                    <a:pt x="5445110" y="0"/>
                  </a:lnTo>
                  <a:lnTo>
                    <a:pt x="7258022" y="3115988"/>
                  </a:lnTo>
                </a:path>
              </a:pathLst>
            </a:custGeom>
            <a:ln w="419099">
              <a:solidFill>
                <a:srgbClr val="BF2518"/>
              </a:solidFill>
            </a:ln>
          </p:spPr>
          <p:txBody>
            <a:bodyPr wrap="square" lIns="0" tIns="0" rIns="0" bIns="0" rtlCol="0"/>
            <a:lstStyle/>
            <a:p>
              <a:endParaRPr/>
            </a:p>
          </p:txBody>
        </p:sp>
        <p:pic>
          <p:nvPicPr>
            <p:cNvPr id="19" name="object 47">
              <a:extLst>
                <a:ext uri="{FF2B5EF4-FFF2-40B4-BE49-F238E27FC236}">
                  <a16:creationId xmlns:a16="http://schemas.microsoft.com/office/drawing/2014/main" id="{1F0E96A7-2AF3-5B8F-910F-CC2AB9F51086}"/>
                </a:ext>
              </a:extLst>
            </p:cNvPr>
            <p:cNvPicPr/>
            <p:nvPr/>
          </p:nvPicPr>
          <p:blipFill>
            <a:blip r:embed="rId7" cstate="print"/>
            <a:stretch>
              <a:fillRect/>
            </a:stretch>
          </p:blipFill>
          <p:spPr>
            <a:xfrm>
              <a:off x="9663659" y="5639163"/>
              <a:ext cx="4723491" cy="4059250"/>
            </a:xfrm>
            <a:prstGeom prst="rect">
              <a:avLst/>
            </a:prstGeom>
          </p:spPr>
        </p:pic>
        <p:sp>
          <p:nvSpPr>
            <p:cNvPr id="21" name="object 48">
              <a:extLst>
                <a:ext uri="{FF2B5EF4-FFF2-40B4-BE49-F238E27FC236}">
                  <a16:creationId xmlns:a16="http://schemas.microsoft.com/office/drawing/2014/main" id="{34055847-F999-CE8E-043F-F4228886A7C8}"/>
                </a:ext>
              </a:extLst>
            </p:cNvPr>
            <p:cNvSpPr/>
            <p:nvPr/>
          </p:nvSpPr>
          <p:spPr>
            <a:xfrm>
              <a:off x="9663659" y="5639164"/>
              <a:ext cx="4723765" cy="4057650"/>
            </a:xfrm>
            <a:custGeom>
              <a:avLst/>
              <a:gdLst/>
              <a:ahLst/>
              <a:cxnLst/>
              <a:rect l="l" t="t" r="r" b="b"/>
              <a:pathLst>
                <a:path w="4723765" h="4057650">
                  <a:moveTo>
                    <a:pt x="1179974" y="4057649"/>
                  </a:moveTo>
                  <a:lnTo>
                    <a:pt x="0" y="2029568"/>
                  </a:lnTo>
                  <a:lnTo>
                    <a:pt x="1180839" y="0"/>
                  </a:lnTo>
                  <a:lnTo>
                    <a:pt x="3542518" y="0"/>
                  </a:lnTo>
                  <a:lnTo>
                    <a:pt x="4723357" y="2029568"/>
                  </a:lnTo>
                  <a:lnTo>
                    <a:pt x="3543383" y="4057649"/>
                  </a:lnTo>
                </a:path>
              </a:pathLst>
            </a:custGeom>
            <a:ln w="419099">
              <a:solidFill>
                <a:srgbClr val="000000"/>
              </a:solidFill>
            </a:ln>
          </p:spPr>
          <p:txBody>
            <a:bodyPr wrap="square" lIns="0" tIns="0" rIns="0" bIns="0" rtlCol="0"/>
            <a:lstStyle/>
            <a:p>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116</TotalTime>
  <Words>974</Words>
  <Application>Microsoft Office PowerPoint</Application>
  <PresentationFormat>Custom</PresentationFormat>
  <Paragraphs>112</Paragraphs>
  <Slides>20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Wingdings</vt:lpstr>
      <vt:lpstr>Calibri</vt:lpstr>
      <vt:lpstr>Poppins</vt:lpstr>
      <vt:lpstr>Lucida Sans Unicode</vt:lpstr>
      <vt:lpstr>Poppins Semi-Bold</vt:lpstr>
      <vt:lpstr>Poppins Medium</vt:lpstr>
      <vt:lpstr>Arial</vt:lpstr>
      <vt:lpstr>Arial Black</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Future Enhancements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Rushi Mote</cp:lastModifiedBy>
  <cp:revision>5</cp:revision>
  <dcterms:created xsi:type="dcterms:W3CDTF">2006-08-16T00:00:00Z</dcterms:created>
  <dcterms:modified xsi:type="dcterms:W3CDTF">2026-07-01T18:09:18Z</dcterms:modified>
  <dc:identifier>DAHOJt3C3ts</dc:identifier>
</cp:coreProperties>
</file>